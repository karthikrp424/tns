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SESSION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Neural Networks &amp; LSTM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Sequence Models — Memory, Time, and Why Order Matters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4663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THAT REMEMBER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 |  ~2 hour session — theory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" y="1636776"/>
            <a:ext cx="566928" cy="56692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6" name="Text 4"/>
          <p:cNvSpPr/>
          <p:nvPr/>
        </p:nvSpPr>
        <p:spPr>
          <a:xfrm>
            <a:off x="905256" y="1636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60020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Why Sequences Are Different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1640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order matters, and why a plain ANN or CNN can't handle it well.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" y="2569464"/>
            <a:ext cx="566928" cy="56692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1" name="Text 9"/>
          <p:cNvSpPr/>
          <p:nvPr/>
        </p:nvSpPr>
        <p:spPr>
          <a:xfrm>
            <a:off x="905256" y="2569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53288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Recurrent Neural Networks (RNN)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91640" y="28620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network can carry a "memory" forward as it reads through a sequence.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3502152"/>
            <a:ext cx="566928" cy="56692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3465576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 — The Problem With Plain RNNs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91640" y="3794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RNNs struggle to remember things from far back in a long sequence.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0682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" y="4434840"/>
            <a:ext cx="566928" cy="56692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439826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4 — LSTM (Long Short-Term Memory)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91640" y="47274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memory system with gates that decide what to keep, add, and share.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3951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" y="5367528"/>
            <a:ext cx="566928" cy="566928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6" name="Text 24"/>
          <p:cNvSpPr/>
          <p:nvPr/>
        </p:nvSpPr>
        <p:spPr>
          <a:xfrm>
            <a:off x="905256" y="5367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91640" y="533095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5 — Applications &amp; Wrap-Up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691640" y="56601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RNNs and LSTMs show up in the real world, plus a full recap.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theory-only session, designed to fit ~2 hours with time for discussion at each Quick Check.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words. Completely different meaning.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dog bit the man."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148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man bit the dog."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same 6 words. Just reordered. The meaning flips entirely.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DF1E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434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network we've built so far ignores this.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 or CNN looks at a fixed bundle of inputs all at once — it has no built-in sense of "what came before" or "what comes next." Sentences, speech, stock prices, and video all depend heavily on order and time. We need a different kind of network for that.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Sequential Data?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where the ORDER of the items carries meaning — shuffle it, and you lose information.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4144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&amp; Sentences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 changes meaning completely.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24528" y="224028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4453128" y="244144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&amp; Audio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53128" y="297180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only makes sense as a stream over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00416" y="224028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8129016" y="244144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Prices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9016" y="297180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price depends on yesterday's trend.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1596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84632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only makes sense next to the frames around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24528" y="411480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4453128" y="431596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 Sequences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53128" y="484632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bases determines what gene does what.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00416" y="411480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8129016" y="431596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Readings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9016" y="484632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heart rate — all measured moment to moment.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ANNs and CNNs Fall Short 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5875">
            <a:solidFill>
              <a:srgbClr val="C24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394960" cy="91440"/>
          </a:xfrm>
          <a:prstGeom prst="rect">
            <a:avLst/>
          </a:prstGeom>
          <a:solidFill>
            <a:srgbClr val="C24B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Memory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or Conv layer processes whatever you hand it right now. It has no concept of "what I saw a few steps ago" carrying forward.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5875">
            <a:solidFill>
              <a:srgbClr val="C24B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91640"/>
            <a:ext cx="5394960" cy="91440"/>
          </a:xfrm>
          <a:prstGeom prst="rect">
            <a:avLst/>
          </a:prstGeom>
          <a:solidFill>
            <a:srgbClr val="C24B4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Fixed-Size Input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51460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ANNs and CNNs expect a fixed input size. But sentences, audio clips, and time series come in all sorts of lengths.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6325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177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need: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that processes a sequence one step at a time, and carries a running "memory" forward from each step to the next — remembering context, and handling any length of input. That's exactly what a Recurrent Neural Network (RNN) is built to do.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E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394960" y="2011680"/>
            <a:ext cx="54864" cy="19202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0" y="19659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Neural Networks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715000" y="3063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network learns to carry a memory forward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With Memory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reading a book.  </a:t>
            </a:r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understand each sentence in total isolation — you carry a running mental summary of everything you've read so far, and use it to understand what comes next.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Recurrent Neural Network (RNN) does exactly this. It processes a sequence one piece at a time, and at every step it keeps a running "memory" — called the hidden state — that gets updated and carried forward to the next step.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DF1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02336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"Recurrent" simply means: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loops back on itself — the same cell is reused at every single time step, each time taking in a new input PLUS its own memory from the step before.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brain, reused at every step — just fed new information each time.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RNN Cell Looks Like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988820" y="3177540"/>
            <a:ext cx="777240" cy="77724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5" name="Text 3"/>
          <p:cNvSpPr/>
          <p:nvPr/>
        </p:nvSpPr>
        <p:spPr>
          <a:xfrm>
            <a:off x="1988820" y="31775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0328" y="29718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306998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2971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flipV="1">
            <a:off x="2766060" y="3566160"/>
            <a:ext cx="2144268" cy="91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395460" y="3177540"/>
            <a:ext cx="777240" cy="77724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9395460" y="31775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flipV="1">
            <a:off x="7287768" y="3566160"/>
            <a:ext cx="2107692" cy="91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10428" y="14859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710428" y="14859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⟲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 flipV="1">
            <a:off x="6099048" y="2263140"/>
            <a:ext cx="914" cy="70866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601968" y="1554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feeds back in as memory for the next step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6304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input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step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+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forward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3F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3492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cell (the same weights) is reused at every time step. It just receives a different input xₜ each time, plus whatever memory it carried over from the previous step.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SEEING IT ACROSS 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Unrolling an RNN Through 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from the last slide is hard to picture in action. "Unrolling" just means drawing one copy of the cell per time step, side by side.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65376" y="26746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306998"/>
          </a:solidFill>
          <a:ln/>
        </p:spPr>
      </p:sp>
      <p:sp>
        <p:nvSpPr>
          <p:cNvPr id="6" name="Text 4"/>
          <p:cNvSpPr/>
          <p:nvPr/>
        </p:nvSpPr>
        <p:spPr>
          <a:xfrm>
            <a:off x="1956816" y="26746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(t=1)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59736" y="4343400"/>
            <a:ext cx="548640" cy="54864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8" name="Text 6"/>
          <p:cNvSpPr/>
          <p:nvPr/>
        </p:nvSpPr>
        <p:spPr>
          <a:xfrm>
            <a:off x="2459736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34056" y="3726180"/>
            <a:ext cx="914" cy="6172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3602736" y="3200400"/>
            <a:ext cx="502920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05656" y="26746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306998"/>
          </a:solidFill>
          <a:ln/>
        </p:spPr>
      </p:sp>
      <p:sp>
        <p:nvSpPr>
          <p:cNvPr id="12" name="Text 10"/>
          <p:cNvSpPr/>
          <p:nvPr/>
        </p:nvSpPr>
        <p:spPr>
          <a:xfrm>
            <a:off x="4197096" y="26746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(t=2)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0016" y="4343400"/>
            <a:ext cx="548640" cy="54864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4" name="Text 12"/>
          <p:cNvSpPr/>
          <p:nvPr/>
        </p:nvSpPr>
        <p:spPr>
          <a:xfrm>
            <a:off x="4700016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74336" y="3726180"/>
            <a:ext cx="914" cy="6172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5843016" y="3200400"/>
            <a:ext cx="502920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45936" y="26746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306998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26746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(t=3)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0296" y="4343400"/>
            <a:ext cx="548640" cy="54864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20" name="Text 18"/>
          <p:cNvSpPr/>
          <p:nvPr/>
        </p:nvSpPr>
        <p:spPr>
          <a:xfrm>
            <a:off x="6940296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14616" y="3726180"/>
            <a:ext cx="914" cy="6172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8083296" y="3200400"/>
            <a:ext cx="502920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86216" y="26746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306998"/>
          </a:solidFill>
          <a:ln/>
        </p:spPr>
      </p:sp>
      <p:sp>
        <p:nvSpPr>
          <p:cNvPr id="24" name="Text 22"/>
          <p:cNvSpPr/>
          <p:nvPr/>
        </p:nvSpPr>
        <p:spPr>
          <a:xfrm>
            <a:off x="8677656" y="26746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(t=4)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80576" y="4343400"/>
            <a:ext cx="548640" cy="54864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26" name="Text 24"/>
          <p:cNvSpPr/>
          <p:nvPr/>
        </p:nvSpPr>
        <p:spPr>
          <a:xfrm>
            <a:off x="9180576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54896" y="3726180"/>
            <a:ext cx="914" cy="6172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10323576" y="3200400"/>
            <a:ext cx="502920" cy="914"/>
          </a:xfrm>
          <a:prstGeom prst="line">
            <a:avLst/>
          </a:prstGeom>
          <a:noFill/>
          <a:ln w="28575">
            <a:solidFill>
              <a:srgbClr val="3E8E5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826496" y="2880360"/>
            <a:ext cx="640080" cy="64008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30" name="Text 28"/>
          <p:cNvSpPr/>
          <p:nvPr/>
        </p:nvSpPr>
        <p:spPr>
          <a:xfrm>
            <a:off x="10826496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passed forward as memory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1E8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257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four different cells with four different sets of weights — it's the exact same cell, drawn four times to show it running across four time steps. Each copy just passes its memory (the hidden state) forward to the next.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HOW IT ACTUALLY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by Step, Through a Sequence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Hidden State  =  a function of  ( Old Memory  +  New Input 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971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92608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new input: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word, price, or sensor reading at this time step.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3657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361188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old memory: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carried over from the previous time step.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4343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429768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through the cell's weights and an activation function to produce a new hidden state.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5029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98348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it on: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new hidden state becomes this step's output, AND next step's memory.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repeats for every single item in the sequence, one at a time, left to right.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Basics Check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418320" y="5029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6325C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502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CLASS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7406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9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8745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building a model to predict the next word in a sentence.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asks what makes an RNN "recurrent."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feed the RNN the 5th word in a sentence.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asks what a hidden state actually is.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16325C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19456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RNN — word order and context matter, and sentences vary in length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cell (same weights) is reused at every single time step, looping on itself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receives the hidden state carried over from processing the first 4 words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network's running "memory" — a summary of everything it has processed so far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E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394960" y="2011680"/>
            <a:ext cx="54864" cy="19202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0" y="19659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Plain RNNs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715000" y="3063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memory fades out over long sequences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of Telephone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DF1E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played telephone.  </a:t>
            </a:r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gets whispered from person to person down a long line. By the time it reaches the end, it's often unrecognizable — a little bit of distortion at each step adds up into total garbage after enough hops.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RNN has the exact same problem with LONG sequences.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632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52044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the vanishing gradient problem.  </a:t>
            </a:r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from early in a long sequence has to pass through the SAME cell over and over to reach the end — and just like the telephone game, it gets a little more diluted at every hop, until it's essentially forgotten by the time the network reaches the important part.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"The clouds, which had been building all afternoon over the mountains, finally... rained." — a plain RNN may lose track of "clouds" by the time it reaches the end.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IN PLAIN TERMS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Actually Happens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the network learns by asking: "how much did each earlier step contribute to my final mistake?"  </a:t>
            </a:r>
            <a:pPr indent="0" marL="0">
              <a:lnSpc>
                <a:spcPct val="132000"/>
              </a:lnSpc>
              <a:buNone/>
            </a:pP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that for a step far in the past, that signal has to travel backward through EVERY step in between — and the same small adjustment gets applied again, and again, and again.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EAF3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0690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intuition:  </a:t>
            </a:r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 number smaller than 1 by itself over and over, and it shrinks toward zero. Multiply a number bigger than 1 by itself over and over, and it explodes toward infinity. That's essentially what's happening to the learning signal across a long sequence — it either vanishes or explodes long before it reaches the early steps.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plain RNNs are fine for SHORT sequences, but struggle badly to learn long-range dependencies.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Vanishing Gradient Check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418320" y="5029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6325C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502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CLASS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7406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9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8745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using a plain RNN on a 3-word sentence.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using a plain RNN on a 500-word paragraph, and it needs to remember word #2 at word #498.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asks what "vanishing gradient" means in one sentence.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asks what generally happens if you repeatedly multiply a number smaller than 1 by itself.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16325C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19456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fine — plain RNNs handle short sequences reasonably well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struggles — that's a very long-range dependency for a plain RNN to preserve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signal shrinks toward nothing as it travels back through many time steps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shrinks toward zero — the same idea that causes information to fade out over a long RNN sequence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E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394960" y="2011680"/>
            <a:ext cx="54864" cy="19202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0" y="19659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LSTM: Long Short-Term Memory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715000" y="3063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memory system, built with deliberate gates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the Network a Notebook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RNN's memory is like a whiteboard that gets erased and rewritten a little at every single step  </a:t>
            </a:r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nothing is protected, so important details from long ago get overwritten and lost.</a:t>
            </a: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 instead gives the network something closer to a notebook: it can deliberately CHOOSE what to erase, what new information to write down, and what to actually share right now — instead of blindly overwriting everything every step.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DF1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02336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= Long Short-Term Memory.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deliberate, selective control over what gets kept is exactly what lets it remember important information over MUCH longer sequences than a plain RNN can.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 as an RNN — process a sequence step by step — just with far more deliberate memory control.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TWO KINDS OF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State vs. Hidden State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 keeps track of memory in TWO separate places, working together.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F4F6F9"/>
          </a:solidFill>
          <a:ln w="15875">
            <a:solidFill>
              <a:srgbClr val="6C4F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5394960" cy="91440"/>
          </a:xfrm>
          <a:prstGeom prst="rect">
            <a:avLst/>
          </a:prstGeom>
          <a:solidFill>
            <a:srgbClr val="6C4F9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State — the Conveyor Belt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long-term memory highway that runs straight through the entire sequence. At each step it only gets lightly edited (a little removed, a little added) — never fully overwritten. This is what carries important facts a long way.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F4F6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148840"/>
            <a:ext cx="539496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468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State — the Notepad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46520" y="324612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short-term "what I'm thinking right now" output at this specific step — based on the cell state, but filtered down to just what's relevant right now.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325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257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cell state as the main highway running the length of the whole trip, and the hidden state as the GPS's spoken direction at this one exact moment — built from the highway, but not the whole highway itself.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HOW THE NOTEBOOK IS CONTROLLED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Gates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DF1E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asks the same kind of question: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of this should get through?" — and answers with a number between 0 (block it completely) and 1 (let it all through).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0358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 Gate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the new input and last step's output, and decides what to ERASE from the cell state — old information that's no longer relevant.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83464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0358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Gate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NEW information from this step is actually worth writing onto the cell state.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83464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30358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Gate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356616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part of the (now updated) cell state to actually SHARE right now, as this step's hidden state.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THE FULL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an LSTM Cell Together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 flipV="1">
            <a:off x="914400" y="1965960"/>
            <a:ext cx="10332720" cy="914"/>
          </a:xfrm>
          <a:prstGeom prst="line">
            <a:avLst/>
          </a:prstGeom>
          <a:noFill/>
          <a:ln w="44450">
            <a:solidFill>
              <a:srgbClr val="6C4F9E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914400" y="158191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6C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(Long-Term Memory) — runs straight through, lightly edited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749040" y="1746504"/>
            <a:ext cx="438912" cy="438912"/>
          </a:xfrm>
          <a:prstGeom prst="ellipse">
            <a:avLst/>
          </a:prstGeom>
          <a:solidFill>
            <a:srgbClr val="C24B4B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1746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6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 erases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old memory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0" y="1746504"/>
            <a:ext cx="438912" cy="438912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746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350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 writes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new memory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731520" cy="73152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40280" y="3657600"/>
            <a:ext cx="7680960" cy="155448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365760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CELL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4206240"/>
            <a:ext cx="685800" cy="22860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86100" y="39090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C24B4B"/>
          </a:solidFill>
          <a:ln/>
        </p:spPr>
      </p:sp>
      <p:sp>
        <p:nvSpPr>
          <p:cNvPr id="19" name="Text 17"/>
          <p:cNvSpPr/>
          <p:nvPr/>
        </p:nvSpPr>
        <p:spPr>
          <a:xfrm>
            <a:off x="3177540" y="39090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(σ)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34940" y="39090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3E8E5A"/>
          </a:solidFill>
          <a:ln/>
        </p:spPr>
      </p:sp>
      <p:sp>
        <p:nvSpPr>
          <p:cNvPr id="21" name="Text 19"/>
          <p:cNvSpPr/>
          <p:nvPr/>
        </p:nvSpPr>
        <p:spPr>
          <a:xfrm>
            <a:off x="5326380" y="39090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(σ)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83780" y="39090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475220" y="39090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(σ)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V="1">
            <a:off x="9921240" y="4434840"/>
            <a:ext cx="105156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972800" y="4069080"/>
            <a:ext cx="731520" cy="7315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0" y="4069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0" y="2057400"/>
            <a:ext cx="914" cy="1851660"/>
          </a:xfrm>
          <a:prstGeom prst="line">
            <a:avLst/>
          </a:prstGeom>
          <a:noFill/>
          <a:ln w="22225">
            <a:solidFill>
              <a:srgbClr val="1C7293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56235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AF3FB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62356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gates look at the same two things — this step's input xₜ and last step's output — and each decides its own "how much gets through" answer, together shaping the memory and the output.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Check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418320" y="5029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6325C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502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CLASS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7406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9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8745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model to remember a key detail from the very start of a long paragraph.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asks what the cell state is, in one sentence.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outputs a value very close to 0 for a piece of information.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asks what the Input Gate's job is.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16325C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19456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LSTM — its gated memory handles long-range dependencies far better than a plain RNN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long-term memory highway that runs through the whole sequence, lightly edited at each step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information is essentially being blocked / not let through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new information from the current step is worth writing into the cell state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A QUICK BONUS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 — A Lighter Alternative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(Gated Recurrent Unit) is LSTM's simpler cousin.  </a:t>
            </a:r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merges the Forget and Input gates into a single "Update Gate," and drops the separate cell state entirely — keeping just one memory line instead of two.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32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20440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19600" y="3520440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07680" y="3520440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87368"/>
            <a:ext cx="1106424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87368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19600" y="4087368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(Forget, Input, Output)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07680" y="4087368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(Update, Reset)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54296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lines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19600" y="4654296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(cell state + hidden state)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07680" y="4654296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(just hidden state)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221224"/>
            <a:ext cx="11064240" cy="56692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21224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/ size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19600" y="5221224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parameters, slower to train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07680" y="5221224"/>
            <a:ext cx="336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parameters, faster to train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DF1E8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89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GRU often performs close to LSTM, so it's a common, cheaper default worth trying first.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CHOOSING THE RIGHT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vs. LSTM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19600" y="169164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RNN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07680" y="169164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10515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long sequences?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19600" y="274320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— vanishing gradient loses old information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07680" y="274320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gates deliberately protect important memory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9476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control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19600" y="379476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blurry hidden state, overwritten every step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07680" y="379476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+ 3 gates deciding what to keep, add, share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0515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19600" y="484632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and faster, but less capable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07680" y="484632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parameters, slower, but far more capable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325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57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short sequences, a plain RNN can be enough. For anything with meaningful long-range context — most real text, speech, and time series — reach for an LSTM (or GRU) instead.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WHERE THIS SHOWS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9280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Generation &amp; Chatbots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next word based on everything written so far.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24528" y="169164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4453128" y="189280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53128" y="246888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full review or tweet to judge overall tone.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00416" y="169164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8129016" y="189280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Translation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9016" y="246888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full sentence in one language to another.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6732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Recognition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stream of audio into text, moment by moment.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24528" y="35661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4453128" y="376732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Forecasting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53128" y="43434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stock prices, weather, or demand from past trends.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00416" y="35661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8129016" y="376732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Generation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9016" y="43434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Composing new notes based on the notes that came before.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Cheat Sheet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89204"/>
          </a:xfrm>
          <a:prstGeom prst="roundRect">
            <a:avLst>
              <a:gd name="adj" fmla="val 11215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63640" y="1554480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43684"/>
            <a:ext cx="11064240" cy="48920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43684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2043684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where order carries meaning — text, audio, time series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11064240" cy="489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32888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63640" y="2532888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that reuses the same cell at every time step, carrying memory forward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22092"/>
            <a:ext cx="11064240" cy="48920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22092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3022092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network's running memory, updated and passed forward each step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11064240" cy="489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11296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3511296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information fading out over long sequences in a plain RNN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00500"/>
            <a:ext cx="11064240" cy="48920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00500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4000500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RNN variant with gates that deliberately control what memory to keep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489704"/>
            <a:ext cx="11064240" cy="489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489704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4489704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LSTM's long-term memory highway, lightly edited at each step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78908"/>
            <a:ext cx="11064240" cy="48920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978908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/ Input / Output Gate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4978908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erase, what to add, and what to share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468112"/>
            <a:ext cx="11064240" cy="489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468112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5468112"/>
            <a:ext cx="52120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simpler, faster cousin of LSTM with fewer gates and one memory line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64240" cy="365760"/>
          </a:xfrm>
          <a:prstGeom prst="roundRect">
            <a:avLst>
              <a:gd name="adj" fmla="val 15000"/>
            </a:avLst>
          </a:prstGeom>
          <a:solidFill>
            <a:srgbClr val="16325C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6035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short sequences → plain RNN is fine. Anything with long-range context → LSTM or GRU.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Key 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43684" y="1508760"/>
            <a:ext cx="548640" cy="54864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/>
          <p:nvPr/>
        </p:nvSpPr>
        <p:spPr>
          <a:xfrm>
            <a:off x="204368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where order carries meaning — shuffle it, and you lose information.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24528" y="137160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9572" y="1508760"/>
            <a:ext cx="548640" cy="54864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571957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07408" y="214884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&amp; Hidden State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53128" y="254203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cell is reused every step, carrying a running memory forward.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00416" y="137160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95460" y="1508760"/>
            <a:ext cx="548640" cy="54864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6" name="Text 14"/>
          <p:cNvSpPr/>
          <p:nvPr/>
        </p:nvSpPr>
        <p:spPr>
          <a:xfrm>
            <a:off x="93954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83296" y="214884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Vanishing Gradient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29016" y="254203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RNNs lose track of old information over long sequences.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43684" y="3977640"/>
            <a:ext cx="548640" cy="54864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1" name="Text 19"/>
          <p:cNvSpPr/>
          <p:nvPr/>
        </p:nvSpPr>
        <p:spPr>
          <a:xfrm>
            <a:off x="2043684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LSTM's Big Idea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01091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notebook-like memory the network can deliberately write to and read from.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24528" y="384048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9572" y="3977640"/>
            <a:ext cx="548640" cy="54864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6" name="Text 24"/>
          <p:cNvSpPr/>
          <p:nvPr/>
        </p:nvSpPr>
        <p:spPr>
          <a:xfrm>
            <a:off x="5719572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407408" y="461772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Gates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53128" y="501091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Forget, Input, and Output gates each decide how much information gets through.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00416" y="384048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95460" y="3977640"/>
            <a:ext cx="548640" cy="54864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1" name="Text 29"/>
          <p:cNvSpPr/>
          <p:nvPr/>
        </p:nvSpPr>
        <p:spPr>
          <a:xfrm>
            <a:off x="93954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083296" y="461772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vs. LSTM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29016" y="501091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sequences → plain RNN is fine. Long-range context → reach for LSTM.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&amp; LSTM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91440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641848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984248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84248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joining the session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420624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 plain RNN has memory, but no control over it. LSTM gives that memory deliberate gates — that's the entire upgrade.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2026-07-27T15:47:37Z</dcterms:created>
  <dcterms:modified xsi:type="dcterms:W3CDTF">2026-07-27T15:47:37Z</dcterms:modified>
</cp:coreProperties>
</file>