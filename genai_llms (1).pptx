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5C"/>
        </a:solidFill>
      </p:bgPr>
    </p:bg>
    <p:spTree>
      <p:nvGrpSpPr>
        <p:cNvPr id="1" name=""/>
        <p:cNvGrpSpPr/>
        <p:nvPr/>
      </p:nvGrpSpPr>
      <p:grpSpPr>
        <a:xfrm>
          <a:off x="0" y="0"/>
          <a:ext cx="0" cy="0"/>
          <a:chOff x="0" y="0"/>
          <a:chExt cx="0" cy="0"/>
        </a:xfrm>
      </p:grpSpPr>
      <p:sp>
        <p:nvSpPr>
          <p:cNvPr id="2" name="Text 0"/>
          <p:cNvSpPr/>
          <p:nvPr/>
        </p:nvSpPr>
        <p:spPr>
          <a:xfrm>
            <a:off x="822960" y="777240"/>
            <a:ext cx="8229600" cy="365760"/>
          </a:xfrm>
          <a:prstGeom prst="rect">
            <a:avLst/>
          </a:prstGeom>
          <a:noFill/>
          <a:ln/>
        </p:spPr>
        <p:txBody>
          <a:bodyPr wrap="square" lIns="0" tIns="0" rIns="0" bIns="0" rtlCol="0" anchor="ctr"/>
          <a:lstStyle/>
          <a:p>
            <a:pPr indent="0" marL="0">
              <a:buNone/>
            </a:pPr>
            <a:r>
              <a:rPr lang="en-US" sz="1400" b="1" spc="300" kern="0" dirty="0">
                <a:solidFill>
                  <a:srgbClr val="FFD43B"/>
                </a:solidFill>
                <a:latin typeface="Calibri" pitchFamily="34" charset="0"/>
                <a:ea typeface="Calibri" pitchFamily="34" charset="-122"/>
                <a:cs typeface="Calibri" pitchFamily="34" charset="-120"/>
              </a:rPr>
              <a:t>AI &amp; MACHINE LEARNING SESSION</a:t>
            </a:r>
            <a:endParaRPr lang="en-US" sz="1400" dirty="0"/>
          </a:p>
        </p:txBody>
      </p:sp>
      <p:sp>
        <p:nvSpPr>
          <p:cNvPr id="3" name="Text 1"/>
          <p:cNvSpPr/>
          <p:nvPr/>
        </p:nvSpPr>
        <p:spPr>
          <a:xfrm>
            <a:off x="777240" y="1280160"/>
            <a:ext cx="10607040" cy="1371600"/>
          </a:xfrm>
          <a:prstGeom prst="rect">
            <a:avLst/>
          </a:prstGeom>
          <a:noFill/>
          <a:ln/>
        </p:spPr>
        <p:txBody>
          <a:bodyPr wrap="square" lIns="0" tIns="0" rIns="0" bIns="0" rtlCol="0" anchor="ctr"/>
          <a:lstStyle/>
          <a:p>
            <a:pPr indent="0" marL="0">
              <a:lnSpc>
                <a:spcPct val="108000"/>
              </a:lnSpc>
              <a:buNone/>
            </a:pPr>
            <a:r>
              <a:rPr lang="en-US" sz="3800" b="1" dirty="0">
                <a:solidFill>
                  <a:srgbClr val="FFFFFF"/>
                </a:solidFill>
                <a:latin typeface="Cambria" pitchFamily="34" charset="0"/>
                <a:ea typeface="Cambria" pitchFamily="34" charset="-122"/>
                <a:cs typeface="Cambria" pitchFamily="34" charset="-120"/>
              </a:rPr>
              <a:t>Generative AI &amp; Large Language Models</a:t>
            </a:r>
            <a:endParaRPr lang="en-US" sz="3800" dirty="0"/>
          </a:p>
        </p:txBody>
      </p:sp>
      <p:sp>
        <p:nvSpPr>
          <p:cNvPr id="4" name="Text 2"/>
          <p:cNvSpPr/>
          <p:nvPr/>
        </p:nvSpPr>
        <p:spPr>
          <a:xfrm>
            <a:off x="822960" y="2606040"/>
            <a:ext cx="10058400" cy="548640"/>
          </a:xfrm>
          <a:prstGeom prst="rect">
            <a:avLst/>
          </a:prstGeom>
          <a:noFill/>
          <a:ln/>
        </p:spPr>
        <p:txBody>
          <a:bodyPr wrap="square" lIns="0" tIns="0" rIns="0" bIns="0" rtlCol="0" anchor="ctr"/>
          <a:lstStyle/>
          <a:p>
            <a:pPr indent="0" marL="0">
              <a:buNone/>
            </a:pPr>
            <a:r>
              <a:rPr lang="en-US" sz="1600" i="1" dirty="0">
                <a:solidFill>
                  <a:srgbClr val="CFE0F2"/>
                </a:solidFill>
                <a:latin typeface="Calibri" pitchFamily="34" charset="0"/>
                <a:ea typeface="Calibri" pitchFamily="34" charset="-122"/>
                <a:cs typeface="Calibri" pitchFamily="34" charset="-120"/>
              </a:rPr>
              <a:t>How Machines Learned to Write, Reason, and Talk Back</a:t>
            </a:r>
            <a:endParaRPr lang="en-US" sz="1600" dirty="0"/>
          </a:p>
        </p:txBody>
      </p:sp>
      <p:sp>
        <p:nvSpPr>
          <p:cNvPr id="5" name="Shape 3"/>
          <p:cNvSpPr/>
          <p:nvPr/>
        </p:nvSpPr>
        <p:spPr>
          <a:xfrm>
            <a:off x="822960" y="3703320"/>
            <a:ext cx="914400" cy="914400"/>
          </a:xfrm>
          <a:prstGeom prst="ellipse">
            <a:avLst/>
          </a:prstGeom>
          <a:solidFill>
            <a:srgbClr val="FFD43B"/>
          </a:solidFill>
          <a:ln/>
        </p:spPr>
      </p:sp>
      <p:sp>
        <p:nvSpPr>
          <p:cNvPr id="6" name="Text 4"/>
          <p:cNvSpPr/>
          <p:nvPr/>
        </p:nvSpPr>
        <p:spPr>
          <a:xfrm>
            <a:off x="822960" y="3703320"/>
            <a:ext cx="914400" cy="914400"/>
          </a:xfrm>
          <a:prstGeom prst="rect">
            <a:avLst/>
          </a:prstGeom>
          <a:noFill/>
          <a:ln/>
        </p:spPr>
        <p:txBody>
          <a:bodyPr wrap="square" lIns="0" tIns="0" rIns="0" bIns="0" rtlCol="0" anchor="ctr"/>
          <a:lstStyle/>
          <a:p>
            <a:pPr algn="ctr" indent="0" marL="0">
              <a:buNone/>
            </a:pPr>
            <a:r>
              <a:rPr lang="en-US" sz="2600" b="1" dirty="0">
                <a:solidFill>
                  <a:srgbClr val="16325C"/>
                </a:solidFill>
                <a:latin typeface="Cambria" pitchFamily="34" charset="0"/>
                <a:ea typeface="Cambria" pitchFamily="34" charset="-122"/>
                <a:cs typeface="Cambria" pitchFamily="34" charset="-120"/>
              </a:rPr>
              <a:t>G</a:t>
            </a:r>
            <a:endParaRPr lang="en-US" sz="2600" dirty="0"/>
          </a:p>
        </p:txBody>
      </p:sp>
      <p:sp>
        <p:nvSpPr>
          <p:cNvPr id="7" name="Text 5"/>
          <p:cNvSpPr/>
          <p:nvPr/>
        </p:nvSpPr>
        <p:spPr>
          <a:xfrm>
            <a:off x="274320" y="4709160"/>
            <a:ext cx="2011680" cy="548640"/>
          </a:xfrm>
          <a:prstGeom prst="rect">
            <a:avLst/>
          </a:prstGeom>
          <a:noFill/>
          <a:ln/>
        </p:spPr>
        <p:txBody>
          <a:bodyPr wrap="square" lIns="0" tIns="0" rIns="0" bIns="0" rtlCol="0" anchor="ctr"/>
          <a:lstStyle/>
          <a:p>
            <a:pPr algn="ctr" indent="0" marL="0">
              <a:lnSpc>
                <a:spcPct val="110000"/>
              </a:lnSpc>
              <a:buNone/>
            </a:pPr>
            <a:r>
              <a:rPr lang="en-US" sz="1050" b="1" spc="30" kern="0" dirty="0">
                <a:solidFill>
                  <a:srgbClr val="FFFFFF"/>
                </a:solidFill>
                <a:latin typeface="Calibri" pitchFamily="34" charset="0"/>
                <a:ea typeface="Calibri" pitchFamily="34" charset="-122"/>
                <a:cs typeface="Calibri" pitchFamily="34" charset="-120"/>
              </a:rPr>
              <a:t>MACHINES THAT CREATE</a:t>
            </a:r>
            <a:endParaRPr lang="en-US" sz="1050" dirty="0"/>
          </a:p>
        </p:txBody>
      </p:sp>
      <p:sp>
        <p:nvSpPr>
          <p:cNvPr id="8" name="Text 6"/>
          <p:cNvSpPr/>
          <p:nvPr/>
        </p:nvSpPr>
        <p:spPr>
          <a:xfrm>
            <a:off x="822960" y="6309360"/>
            <a:ext cx="10058400" cy="320040"/>
          </a:xfrm>
          <a:prstGeom prst="rect">
            <a:avLst/>
          </a:prstGeom>
          <a:noFill/>
          <a:ln/>
        </p:spPr>
        <p:txBody>
          <a:bodyPr wrap="square" lIns="0" tIns="0" rIns="0" bIns="0" rtlCol="0" anchor="ctr"/>
          <a:lstStyle/>
          <a:p>
            <a:pPr indent="0" marL="0">
              <a:buNone/>
            </a:pPr>
            <a:r>
              <a:rPr lang="en-US" sz="1100" dirty="0">
                <a:solidFill>
                  <a:srgbClr val="8FA3C2"/>
                </a:solidFill>
                <a:latin typeface="Calibri" pitchFamily="34" charset="0"/>
                <a:ea typeface="Calibri" pitchFamily="34" charset="-122"/>
                <a:cs typeface="Calibri" pitchFamily="34" charset="-120"/>
              </a:rPr>
              <a:t>Aaron  |  A deep, visual dive into how ChatGPT-style models actually work — theory only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SESSION ROADMAP</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What We'll Cover Today</a:t>
            </a:r>
            <a:endParaRPr lang="en-US" sz="2700" dirty="0"/>
          </a:p>
        </p:txBody>
      </p:sp>
      <p:sp>
        <p:nvSpPr>
          <p:cNvPr id="4" name="Shape 2"/>
          <p:cNvSpPr/>
          <p:nvPr/>
        </p:nvSpPr>
        <p:spPr>
          <a:xfrm>
            <a:off x="548640" y="1481328"/>
            <a:ext cx="11064240" cy="749808"/>
          </a:xfrm>
          <a:prstGeom prst="roundRect">
            <a:avLst>
              <a:gd name="adj" fmla="val 9756"/>
            </a:avLst>
          </a:prstGeom>
          <a:solidFill>
            <a:srgbClr val="F4F6F9"/>
          </a:solidFill>
          <a:ln/>
        </p:spPr>
      </p:sp>
      <p:sp>
        <p:nvSpPr>
          <p:cNvPr id="5" name="Shape 3"/>
          <p:cNvSpPr/>
          <p:nvPr/>
        </p:nvSpPr>
        <p:spPr>
          <a:xfrm>
            <a:off x="905256" y="1591056"/>
            <a:ext cx="530352" cy="530352"/>
          </a:xfrm>
          <a:prstGeom prst="ellipse">
            <a:avLst/>
          </a:prstGeom>
          <a:solidFill>
            <a:srgbClr val="306998"/>
          </a:solidFill>
          <a:ln/>
        </p:spPr>
      </p:sp>
      <p:sp>
        <p:nvSpPr>
          <p:cNvPr id="6" name="Text 4"/>
          <p:cNvSpPr/>
          <p:nvPr/>
        </p:nvSpPr>
        <p:spPr>
          <a:xfrm>
            <a:off x="905256" y="1591056"/>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7" name="Text 5"/>
          <p:cNvSpPr/>
          <p:nvPr/>
        </p:nvSpPr>
        <p:spPr>
          <a:xfrm>
            <a:off x="1645920" y="1554480"/>
            <a:ext cx="9784080" cy="329184"/>
          </a:xfrm>
          <a:prstGeom prst="rect">
            <a:avLst/>
          </a:prstGeom>
          <a:noFill/>
          <a:ln/>
        </p:spPr>
        <p:txBody>
          <a:bodyPr wrap="square" lIns="0" tIns="0" rIns="0" bIns="0" rtlCol="0" anchor="ctr"/>
          <a:lstStyle/>
          <a:p>
            <a:pPr indent="0" marL="0">
              <a:buNone/>
            </a:pPr>
            <a:r>
              <a:rPr lang="en-US" sz="1400" b="1" dirty="0">
                <a:solidFill>
                  <a:srgbClr val="23282E"/>
                </a:solidFill>
                <a:latin typeface="Cambria" pitchFamily="34" charset="0"/>
                <a:ea typeface="Cambria" pitchFamily="34" charset="-122"/>
                <a:cs typeface="Cambria" pitchFamily="34" charset="-120"/>
              </a:rPr>
              <a:t>Part 1 — What Is Generative AI?</a:t>
            </a:r>
            <a:endParaRPr lang="en-US" sz="1400" dirty="0"/>
          </a:p>
        </p:txBody>
      </p:sp>
      <p:sp>
        <p:nvSpPr>
          <p:cNvPr id="8" name="Text 6"/>
          <p:cNvSpPr/>
          <p:nvPr/>
        </p:nvSpPr>
        <p:spPr>
          <a:xfrm>
            <a:off x="1645920" y="1865376"/>
            <a:ext cx="9784080" cy="329184"/>
          </a:xfrm>
          <a:prstGeom prst="rect">
            <a:avLst/>
          </a:prstGeom>
          <a:noFill/>
          <a:ln/>
        </p:spPr>
        <p:txBody>
          <a:bodyPr wrap="square" lIns="0" tIns="0" rIns="0" bIns="0" rtlCol="0" anchor="t"/>
          <a:lstStyle/>
          <a:p>
            <a:pPr indent="0" marL="0">
              <a:lnSpc>
                <a:spcPct val="112000"/>
              </a:lnSpc>
              <a:buNone/>
            </a:pPr>
            <a:r>
              <a:rPr lang="en-US" sz="1050" dirty="0">
                <a:solidFill>
                  <a:srgbClr val="6B7280"/>
                </a:solidFill>
                <a:latin typeface="Calibri" pitchFamily="34" charset="0"/>
                <a:ea typeface="Calibri" pitchFamily="34" charset="-122"/>
                <a:cs typeface="Calibri" pitchFamily="34" charset="-120"/>
              </a:rPr>
              <a:t>The big idea, and how it's different from AI you've already used.</a:t>
            </a:r>
            <a:endParaRPr lang="en-US" sz="1050" dirty="0"/>
          </a:p>
        </p:txBody>
      </p:sp>
      <p:sp>
        <p:nvSpPr>
          <p:cNvPr id="9" name="Shape 7"/>
          <p:cNvSpPr/>
          <p:nvPr/>
        </p:nvSpPr>
        <p:spPr>
          <a:xfrm>
            <a:off x="548640" y="2322576"/>
            <a:ext cx="11064240" cy="749808"/>
          </a:xfrm>
          <a:prstGeom prst="roundRect">
            <a:avLst>
              <a:gd name="adj" fmla="val 9756"/>
            </a:avLst>
          </a:prstGeom>
          <a:solidFill>
            <a:srgbClr val="F4F6F9"/>
          </a:solidFill>
          <a:ln/>
        </p:spPr>
      </p:sp>
      <p:sp>
        <p:nvSpPr>
          <p:cNvPr id="10" name="Shape 8"/>
          <p:cNvSpPr/>
          <p:nvPr/>
        </p:nvSpPr>
        <p:spPr>
          <a:xfrm>
            <a:off x="905256" y="2432304"/>
            <a:ext cx="530352" cy="530352"/>
          </a:xfrm>
          <a:prstGeom prst="ellipse">
            <a:avLst/>
          </a:prstGeom>
          <a:solidFill>
            <a:srgbClr val="306998"/>
          </a:solidFill>
          <a:ln/>
        </p:spPr>
      </p:sp>
      <p:sp>
        <p:nvSpPr>
          <p:cNvPr id="11" name="Text 9"/>
          <p:cNvSpPr/>
          <p:nvPr/>
        </p:nvSpPr>
        <p:spPr>
          <a:xfrm>
            <a:off x="905256" y="2432304"/>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1645920" y="2395728"/>
            <a:ext cx="9784080" cy="329184"/>
          </a:xfrm>
          <a:prstGeom prst="rect">
            <a:avLst/>
          </a:prstGeom>
          <a:noFill/>
          <a:ln/>
        </p:spPr>
        <p:txBody>
          <a:bodyPr wrap="square" lIns="0" tIns="0" rIns="0" bIns="0" rtlCol="0" anchor="ctr"/>
          <a:lstStyle/>
          <a:p>
            <a:pPr indent="0" marL="0">
              <a:buNone/>
            </a:pPr>
            <a:r>
              <a:rPr lang="en-US" sz="1400" b="1" dirty="0">
                <a:solidFill>
                  <a:srgbClr val="23282E"/>
                </a:solidFill>
                <a:latin typeface="Cambria" pitchFamily="34" charset="0"/>
                <a:ea typeface="Cambria" pitchFamily="34" charset="-122"/>
                <a:cs typeface="Cambria" pitchFamily="34" charset="-120"/>
              </a:rPr>
              <a:t>Part 2 — Language, Tokens &amp; Embeddings</a:t>
            </a:r>
            <a:endParaRPr lang="en-US" sz="1400" dirty="0"/>
          </a:p>
        </p:txBody>
      </p:sp>
      <p:sp>
        <p:nvSpPr>
          <p:cNvPr id="13" name="Text 11"/>
          <p:cNvSpPr/>
          <p:nvPr/>
        </p:nvSpPr>
        <p:spPr>
          <a:xfrm>
            <a:off x="1645920" y="2706624"/>
            <a:ext cx="9784080" cy="329184"/>
          </a:xfrm>
          <a:prstGeom prst="rect">
            <a:avLst/>
          </a:prstGeom>
          <a:noFill/>
          <a:ln/>
        </p:spPr>
        <p:txBody>
          <a:bodyPr wrap="square" lIns="0" tIns="0" rIns="0" bIns="0" rtlCol="0" anchor="t"/>
          <a:lstStyle/>
          <a:p>
            <a:pPr indent="0" marL="0">
              <a:lnSpc>
                <a:spcPct val="112000"/>
              </a:lnSpc>
              <a:buNone/>
            </a:pPr>
            <a:r>
              <a:rPr lang="en-US" sz="1050" dirty="0">
                <a:solidFill>
                  <a:srgbClr val="6B7280"/>
                </a:solidFill>
                <a:latin typeface="Calibri" pitchFamily="34" charset="0"/>
                <a:ea typeface="Calibri" pitchFamily="34" charset="-122"/>
                <a:cs typeface="Calibri" pitchFamily="34" charset="-120"/>
              </a:rPr>
              <a:t>How raw text gets turned into something a model can actually process.</a:t>
            </a:r>
            <a:endParaRPr lang="en-US" sz="1050" dirty="0"/>
          </a:p>
        </p:txBody>
      </p:sp>
      <p:sp>
        <p:nvSpPr>
          <p:cNvPr id="14" name="Shape 12"/>
          <p:cNvSpPr/>
          <p:nvPr/>
        </p:nvSpPr>
        <p:spPr>
          <a:xfrm>
            <a:off x="548640" y="3163824"/>
            <a:ext cx="11064240" cy="749808"/>
          </a:xfrm>
          <a:prstGeom prst="roundRect">
            <a:avLst>
              <a:gd name="adj" fmla="val 9756"/>
            </a:avLst>
          </a:prstGeom>
          <a:solidFill>
            <a:srgbClr val="F4F6F9"/>
          </a:solidFill>
          <a:ln/>
        </p:spPr>
      </p:sp>
      <p:sp>
        <p:nvSpPr>
          <p:cNvPr id="15" name="Shape 13"/>
          <p:cNvSpPr/>
          <p:nvPr/>
        </p:nvSpPr>
        <p:spPr>
          <a:xfrm>
            <a:off x="905256" y="3273552"/>
            <a:ext cx="530352" cy="530352"/>
          </a:xfrm>
          <a:prstGeom prst="ellipse">
            <a:avLst/>
          </a:prstGeom>
          <a:solidFill>
            <a:srgbClr val="306998"/>
          </a:solidFill>
          <a:ln/>
        </p:spPr>
      </p:sp>
      <p:sp>
        <p:nvSpPr>
          <p:cNvPr id="16" name="Text 14"/>
          <p:cNvSpPr/>
          <p:nvPr/>
        </p:nvSpPr>
        <p:spPr>
          <a:xfrm>
            <a:off x="905256" y="3273552"/>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7" name="Text 15"/>
          <p:cNvSpPr/>
          <p:nvPr/>
        </p:nvSpPr>
        <p:spPr>
          <a:xfrm>
            <a:off x="1645920" y="3236976"/>
            <a:ext cx="9784080" cy="329184"/>
          </a:xfrm>
          <a:prstGeom prst="rect">
            <a:avLst/>
          </a:prstGeom>
          <a:noFill/>
          <a:ln/>
        </p:spPr>
        <p:txBody>
          <a:bodyPr wrap="square" lIns="0" tIns="0" rIns="0" bIns="0" rtlCol="0" anchor="ctr"/>
          <a:lstStyle/>
          <a:p>
            <a:pPr indent="0" marL="0">
              <a:buNone/>
            </a:pPr>
            <a:r>
              <a:rPr lang="en-US" sz="1400" b="1" dirty="0">
                <a:solidFill>
                  <a:srgbClr val="23282E"/>
                </a:solidFill>
                <a:latin typeface="Cambria" pitchFamily="34" charset="0"/>
                <a:ea typeface="Cambria" pitchFamily="34" charset="-122"/>
                <a:cs typeface="Cambria" pitchFamily="34" charset="-120"/>
              </a:rPr>
              <a:t>Part 3 — Inside the Transformer</a:t>
            </a:r>
            <a:endParaRPr lang="en-US" sz="1400" dirty="0"/>
          </a:p>
        </p:txBody>
      </p:sp>
      <p:sp>
        <p:nvSpPr>
          <p:cNvPr id="18" name="Text 16"/>
          <p:cNvSpPr/>
          <p:nvPr/>
        </p:nvSpPr>
        <p:spPr>
          <a:xfrm>
            <a:off x="1645920" y="3547872"/>
            <a:ext cx="9784080" cy="329184"/>
          </a:xfrm>
          <a:prstGeom prst="rect">
            <a:avLst/>
          </a:prstGeom>
          <a:noFill/>
          <a:ln/>
        </p:spPr>
        <p:txBody>
          <a:bodyPr wrap="square" lIns="0" tIns="0" rIns="0" bIns="0" rtlCol="0" anchor="t"/>
          <a:lstStyle/>
          <a:p>
            <a:pPr indent="0" marL="0">
              <a:lnSpc>
                <a:spcPct val="112000"/>
              </a:lnSpc>
              <a:buNone/>
            </a:pPr>
            <a:r>
              <a:rPr lang="en-US" sz="1050" dirty="0">
                <a:solidFill>
                  <a:srgbClr val="6B7280"/>
                </a:solidFill>
                <a:latin typeface="Calibri" pitchFamily="34" charset="0"/>
                <a:ea typeface="Calibri" pitchFamily="34" charset="-122"/>
                <a:cs typeface="Calibri" pitchFamily="34" charset="-120"/>
              </a:rPr>
              <a:t>The architecture behind every modern LLM, and the attention trick that powers it.</a:t>
            </a:r>
            <a:endParaRPr lang="en-US" sz="1050" dirty="0"/>
          </a:p>
        </p:txBody>
      </p:sp>
      <p:sp>
        <p:nvSpPr>
          <p:cNvPr id="19" name="Shape 17"/>
          <p:cNvSpPr/>
          <p:nvPr/>
        </p:nvSpPr>
        <p:spPr>
          <a:xfrm>
            <a:off x="548640" y="4005072"/>
            <a:ext cx="11064240" cy="749808"/>
          </a:xfrm>
          <a:prstGeom prst="roundRect">
            <a:avLst>
              <a:gd name="adj" fmla="val 9756"/>
            </a:avLst>
          </a:prstGeom>
          <a:solidFill>
            <a:srgbClr val="F4F6F9"/>
          </a:solidFill>
          <a:ln/>
        </p:spPr>
      </p:sp>
      <p:sp>
        <p:nvSpPr>
          <p:cNvPr id="20" name="Shape 18"/>
          <p:cNvSpPr/>
          <p:nvPr/>
        </p:nvSpPr>
        <p:spPr>
          <a:xfrm>
            <a:off x="905256" y="4114800"/>
            <a:ext cx="530352" cy="530352"/>
          </a:xfrm>
          <a:prstGeom prst="ellipse">
            <a:avLst/>
          </a:prstGeom>
          <a:solidFill>
            <a:srgbClr val="306998"/>
          </a:solidFill>
          <a:ln/>
        </p:spPr>
      </p:sp>
      <p:sp>
        <p:nvSpPr>
          <p:cNvPr id="21" name="Text 19"/>
          <p:cNvSpPr/>
          <p:nvPr/>
        </p:nvSpPr>
        <p:spPr>
          <a:xfrm>
            <a:off x="905256" y="4114800"/>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2" name="Text 20"/>
          <p:cNvSpPr/>
          <p:nvPr/>
        </p:nvSpPr>
        <p:spPr>
          <a:xfrm>
            <a:off x="1645920" y="4078224"/>
            <a:ext cx="9784080" cy="329184"/>
          </a:xfrm>
          <a:prstGeom prst="rect">
            <a:avLst/>
          </a:prstGeom>
          <a:noFill/>
          <a:ln/>
        </p:spPr>
        <p:txBody>
          <a:bodyPr wrap="square" lIns="0" tIns="0" rIns="0" bIns="0" rtlCol="0" anchor="ctr"/>
          <a:lstStyle/>
          <a:p>
            <a:pPr indent="0" marL="0">
              <a:buNone/>
            </a:pPr>
            <a:r>
              <a:rPr lang="en-US" sz="1400" b="1" dirty="0">
                <a:solidFill>
                  <a:srgbClr val="23282E"/>
                </a:solidFill>
                <a:latin typeface="Cambria" pitchFamily="34" charset="0"/>
                <a:ea typeface="Cambria" pitchFamily="34" charset="-122"/>
                <a:cs typeface="Cambria" pitchFamily="34" charset="-120"/>
              </a:rPr>
              <a:t>Part 4 — How LLMs Learn</a:t>
            </a:r>
            <a:endParaRPr lang="en-US" sz="1400" dirty="0"/>
          </a:p>
        </p:txBody>
      </p:sp>
      <p:sp>
        <p:nvSpPr>
          <p:cNvPr id="23" name="Text 21"/>
          <p:cNvSpPr/>
          <p:nvPr/>
        </p:nvSpPr>
        <p:spPr>
          <a:xfrm>
            <a:off x="1645920" y="4389120"/>
            <a:ext cx="9784080" cy="329184"/>
          </a:xfrm>
          <a:prstGeom prst="rect">
            <a:avLst/>
          </a:prstGeom>
          <a:noFill/>
          <a:ln/>
        </p:spPr>
        <p:txBody>
          <a:bodyPr wrap="square" lIns="0" tIns="0" rIns="0" bIns="0" rtlCol="0" anchor="t"/>
          <a:lstStyle/>
          <a:p>
            <a:pPr indent="0" marL="0">
              <a:lnSpc>
                <a:spcPct val="112000"/>
              </a:lnSpc>
              <a:buNone/>
            </a:pPr>
            <a:r>
              <a:rPr lang="en-US" sz="1050" dirty="0">
                <a:solidFill>
                  <a:srgbClr val="6B7280"/>
                </a:solidFill>
                <a:latin typeface="Calibri" pitchFamily="34" charset="0"/>
                <a:ea typeface="Calibri" pitchFamily="34" charset="-122"/>
                <a:cs typeface="Calibri" pitchFamily="34" charset="-120"/>
              </a:rPr>
              <a:t>From reading the entire internet to becoming a helpful, well-behaved assistant.</a:t>
            </a:r>
            <a:endParaRPr lang="en-US" sz="1050" dirty="0"/>
          </a:p>
        </p:txBody>
      </p:sp>
      <p:sp>
        <p:nvSpPr>
          <p:cNvPr id="24" name="Shape 22"/>
          <p:cNvSpPr/>
          <p:nvPr/>
        </p:nvSpPr>
        <p:spPr>
          <a:xfrm>
            <a:off x="548640" y="4846320"/>
            <a:ext cx="11064240" cy="749808"/>
          </a:xfrm>
          <a:prstGeom prst="roundRect">
            <a:avLst>
              <a:gd name="adj" fmla="val 9756"/>
            </a:avLst>
          </a:prstGeom>
          <a:solidFill>
            <a:srgbClr val="F4F6F9"/>
          </a:solidFill>
          <a:ln/>
        </p:spPr>
      </p:sp>
      <p:sp>
        <p:nvSpPr>
          <p:cNvPr id="25" name="Shape 23"/>
          <p:cNvSpPr/>
          <p:nvPr/>
        </p:nvSpPr>
        <p:spPr>
          <a:xfrm>
            <a:off x="905256" y="4956048"/>
            <a:ext cx="530352" cy="530352"/>
          </a:xfrm>
          <a:prstGeom prst="ellipse">
            <a:avLst/>
          </a:prstGeom>
          <a:solidFill>
            <a:srgbClr val="306998"/>
          </a:solidFill>
          <a:ln/>
        </p:spPr>
      </p:sp>
      <p:sp>
        <p:nvSpPr>
          <p:cNvPr id="26" name="Text 24"/>
          <p:cNvSpPr/>
          <p:nvPr/>
        </p:nvSpPr>
        <p:spPr>
          <a:xfrm>
            <a:off x="905256" y="4956048"/>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7" name="Text 25"/>
          <p:cNvSpPr/>
          <p:nvPr/>
        </p:nvSpPr>
        <p:spPr>
          <a:xfrm>
            <a:off x="1645920" y="4919472"/>
            <a:ext cx="9784080" cy="329184"/>
          </a:xfrm>
          <a:prstGeom prst="rect">
            <a:avLst/>
          </a:prstGeom>
          <a:noFill/>
          <a:ln/>
        </p:spPr>
        <p:txBody>
          <a:bodyPr wrap="square" lIns="0" tIns="0" rIns="0" bIns="0" rtlCol="0" anchor="ctr"/>
          <a:lstStyle/>
          <a:p>
            <a:pPr indent="0" marL="0">
              <a:buNone/>
            </a:pPr>
            <a:r>
              <a:rPr lang="en-US" sz="1400" b="1" dirty="0">
                <a:solidFill>
                  <a:srgbClr val="23282E"/>
                </a:solidFill>
                <a:latin typeface="Cambria" pitchFamily="34" charset="0"/>
                <a:ea typeface="Cambria" pitchFamily="34" charset="-122"/>
                <a:cs typeface="Cambria" pitchFamily="34" charset="-120"/>
              </a:rPr>
              <a:t>Part 5 — How LLMs Generate Text</a:t>
            </a:r>
            <a:endParaRPr lang="en-US" sz="1400" dirty="0"/>
          </a:p>
        </p:txBody>
      </p:sp>
      <p:sp>
        <p:nvSpPr>
          <p:cNvPr id="28" name="Text 26"/>
          <p:cNvSpPr/>
          <p:nvPr/>
        </p:nvSpPr>
        <p:spPr>
          <a:xfrm>
            <a:off x="1645920" y="5230368"/>
            <a:ext cx="9784080" cy="329184"/>
          </a:xfrm>
          <a:prstGeom prst="rect">
            <a:avLst/>
          </a:prstGeom>
          <a:noFill/>
          <a:ln/>
        </p:spPr>
        <p:txBody>
          <a:bodyPr wrap="square" lIns="0" tIns="0" rIns="0" bIns="0" rtlCol="0" anchor="t"/>
          <a:lstStyle/>
          <a:p>
            <a:pPr indent="0" marL="0">
              <a:lnSpc>
                <a:spcPct val="112000"/>
              </a:lnSpc>
              <a:buNone/>
            </a:pPr>
            <a:r>
              <a:rPr lang="en-US" sz="1050" dirty="0">
                <a:solidFill>
                  <a:srgbClr val="6B7280"/>
                </a:solidFill>
                <a:latin typeface="Calibri" pitchFamily="34" charset="0"/>
                <a:ea typeface="Calibri" pitchFamily="34" charset="-122"/>
                <a:cs typeface="Calibri" pitchFamily="34" charset="-120"/>
              </a:rPr>
              <a:t>What's really happening, word by word, when a model writes a reply.</a:t>
            </a:r>
            <a:endParaRPr lang="en-US" sz="1050" dirty="0"/>
          </a:p>
        </p:txBody>
      </p:sp>
      <p:sp>
        <p:nvSpPr>
          <p:cNvPr id="29" name="Shape 27"/>
          <p:cNvSpPr/>
          <p:nvPr/>
        </p:nvSpPr>
        <p:spPr>
          <a:xfrm>
            <a:off x="548640" y="5687568"/>
            <a:ext cx="11064240" cy="749808"/>
          </a:xfrm>
          <a:prstGeom prst="roundRect">
            <a:avLst>
              <a:gd name="adj" fmla="val 9756"/>
            </a:avLst>
          </a:prstGeom>
          <a:solidFill>
            <a:srgbClr val="F4F6F9"/>
          </a:solidFill>
          <a:ln/>
        </p:spPr>
      </p:sp>
      <p:sp>
        <p:nvSpPr>
          <p:cNvPr id="30" name="Shape 28"/>
          <p:cNvSpPr/>
          <p:nvPr/>
        </p:nvSpPr>
        <p:spPr>
          <a:xfrm>
            <a:off x="905256" y="5797296"/>
            <a:ext cx="530352" cy="530352"/>
          </a:xfrm>
          <a:prstGeom prst="ellipse">
            <a:avLst/>
          </a:prstGeom>
          <a:solidFill>
            <a:srgbClr val="306998"/>
          </a:solidFill>
          <a:ln/>
        </p:spPr>
      </p:sp>
      <p:sp>
        <p:nvSpPr>
          <p:cNvPr id="31" name="Text 29"/>
          <p:cNvSpPr/>
          <p:nvPr/>
        </p:nvSpPr>
        <p:spPr>
          <a:xfrm>
            <a:off x="905256" y="5797296"/>
            <a:ext cx="530352"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2" name="Text 30"/>
          <p:cNvSpPr/>
          <p:nvPr/>
        </p:nvSpPr>
        <p:spPr>
          <a:xfrm>
            <a:off x="1645920" y="5760720"/>
            <a:ext cx="9784080" cy="329184"/>
          </a:xfrm>
          <a:prstGeom prst="rect">
            <a:avLst/>
          </a:prstGeom>
          <a:noFill/>
          <a:ln/>
        </p:spPr>
        <p:txBody>
          <a:bodyPr wrap="square" lIns="0" tIns="0" rIns="0" bIns="0" rtlCol="0" anchor="ctr"/>
          <a:lstStyle/>
          <a:p>
            <a:pPr indent="0" marL="0">
              <a:buNone/>
            </a:pPr>
            <a:r>
              <a:rPr lang="en-US" sz="1400" b="1" dirty="0">
                <a:solidFill>
                  <a:srgbClr val="23282E"/>
                </a:solidFill>
                <a:latin typeface="Cambria" pitchFamily="34" charset="0"/>
                <a:ea typeface="Cambria" pitchFamily="34" charset="-122"/>
                <a:cs typeface="Cambria" pitchFamily="34" charset="-120"/>
              </a:rPr>
              <a:t>Part 6 — Prompting, Limits &amp; Real-World Use</a:t>
            </a:r>
            <a:endParaRPr lang="en-US" sz="1400" dirty="0"/>
          </a:p>
        </p:txBody>
      </p:sp>
      <p:sp>
        <p:nvSpPr>
          <p:cNvPr id="33" name="Text 31"/>
          <p:cNvSpPr/>
          <p:nvPr/>
        </p:nvSpPr>
        <p:spPr>
          <a:xfrm>
            <a:off x="1645920" y="6071616"/>
            <a:ext cx="9784080" cy="329184"/>
          </a:xfrm>
          <a:prstGeom prst="rect">
            <a:avLst/>
          </a:prstGeom>
          <a:noFill/>
          <a:ln/>
        </p:spPr>
        <p:txBody>
          <a:bodyPr wrap="square" lIns="0" tIns="0" rIns="0" bIns="0" rtlCol="0" anchor="t"/>
          <a:lstStyle/>
          <a:p>
            <a:pPr indent="0" marL="0">
              <a:lnSpc>
                <a:spcPct val="112000"/>
              </a:lnSpc>
              <a:buNone/>
            </a:pPr>
            <a:r>
              <a:rPr lang="en-US" sz="1050" dirty="0">
                <a:solidFill>
                  <a:srgbClr val="6B7280"/>
                </a:solidFill>
                <a:latin typeface="Calibri" pitchFamily="34" charset="0"/>
                <a:ea typeface="Calibri" pitchFamily="34" charset="-122"/>
                <a:cs typeface="Calibri" pitchFamily="34" charset="-120"/>
              </a:rPr>
              <a:t>Getting better answers, understanding hallucinations, and where this shows up.</a:t>
            </a:r>
            <a:endParaRPr lang="en-US" sz="1050" dirty="0"/>
          </a:p>
        </p:txBody>
      </p:sp>
      <p:sp>
        <p:nvSpPr>
          <p:cNvPr id="34" name="Text 32"/>
          <p:cNvSpPr/>
          <p:nvPr/>
        </p:nvSpPr>
        <p:spPr>
          <a:xfrm>
            <a:off x="548640" y="6108192"/>
            <a:ext cx="11064240" cy="365760"/>
          </a:xfrm>
          <a:prstGeom prst="rect">
            <a:avLst/>
          </a:prstGeom>
          <a:noFill/>
          <a:ln/>
        </p:spPr>
        <p:txBody>
          <a:bodyPr wrap="square" lIns="0" tIns="0" rIns="0" bIns="0" rtlCol="0" anchor="ctr"/>
          <a:lstStyle/>
          <a:p>
            <a:pPr algn="ctr" indent="0" marL="0">
              <a:buNone/>
            </a:pPr>
            <a:r>
              <a:rPr lang="en-US" sz="1150" i="1" dirty="0">
                <a:solidFill>
                  <a:srgbClr val="6B7280"/>
                </a:solidFill>
                <a:latin typeface="Calibri" pitchFamily="34" charset="0"/>
                <a:ea typeface="Calibri" pitchFamily="34" charset="-122"/>
                <a:cs typeface="Calibri" pitchFamily="34" charset="-120"/>
              </a:rPr>
              <a:t>Theory-only, built for deep understanding with visuals at every step — expect a rich ~2.5-3 hour session.</a:t>
            </a:r>
            <a:endParaRPr lang="en-US" sz="1150" dirty="0"/>
          </a:p>
        </p:txBody>
      </p:sp>
      <p:sp>
        <p:nvSpPr>
          <p:cNvPr id="35" name="Text 33"/>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36" name="Text 34"/>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BEFORE WE BEGIN</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A Machine That Talks Back</a:t>
            </a:r>
            <a:endParaRPr lang="en-US" sz="2700" dirty="0"/>
          </a:p>
        </p:txBody>
      </p:sp>
      <p:sp>
        <p:nvSpPr>
          <p:cNvPr id="4" name="Shape 2"/>
          <p:cNvSpPr/>
          <p:nvPr/>
        </p:nvSpPr>
        <p:spPr>
          <a:xfrm>
            <a:off x="548640" y="1600200"/>
            <a:ext cx="11064240" cy="2148840"/>
          </a:xfrm>
          <a:prstGeom prst="roundRect">
            <a:avLst>
              <a:gd name="adj" fmla="val 3404"/>
            </a:avLst>
          </a:prstGeom>
          <a:solidFill>
            <a:srgbClr val="F4F6F9"/>
          </a:solidFill>
          <a:ln/>
        </p:spPr>
      </p:sp>
      <p:sp>
        <p:nvSpPr>
          <p:cNvPr id="5" name="Text 3"/>
          <p:cNvSpPr/>
          <p:nvPr/>
        </p:nvSpPr>
        <p:spPr>
          <a:xfrm>
            <a:off x="868680" y="1783080"/>
            <a:ext cx="10424160" cy="1874520"/>
          </a:xfrm>
          <a:prstGeom prst="rect">
            <a:avLst/>
          </a:prstGeom>
          <a:noFill/>
          <a:ln/>
        </p:spPr>
        <p:txBody>
          <a:bodyPr wrap="square" lIns="0" tIns="0" rIns="0" bIns="0" rtlCol="0" anchor="t"/>
          <a:lstStyle/>
          <a:p>
            <a:pPr indent="0" marL="0">
              <a:lnSpc>
                <a:spcPct val="132000"/>
              </a:lnSpc>
              <a:buNone/>
            </a:pPr>
            <a:r>
              <a:rPr lang="en-US" sz="1450" dirty="0">
                <a:solidFill>
                  <a:srgbClr val="23282E"/>
                </a:solidFill>
                <a:latin typeface="Calibri" pitchFamily="34" charset="0"/>
                <a:ea typeface="Calibri" pitchFamily="34" charset="-122"/>
                <a:cs typeface="Calibri" pitchFamily="34" charset="-120"/>
              </a:rPr>
              <a:t>In the 1960s, a program called ELIZA "talked" to people by matching keywords and echoing them back as questions.  </a:t>
            </a:r>
            <a:pPr indent="0" marL="0">
              <a:lnSpc>
                <a:spcPct val="132000"/>
              </a:lnSpc>
              <a:buNone/>
            </a:pPr>
            <a:r>
              <a:rPr lang="en-US" sz="1450" dirty="0">
                <a:solidFill>
                  <a:srgbClr val="23282E"/>
                </a:solidFill>
                <a:latin typeface="Calibri" pitchFamily="34" charset="0"/>
                <a:ea typeface="Calibri" pitchFamily="34" charset="-122"/>
                <a:cs typeface="Calibri" pitchFamily="34" charset="-120"/>
              </a:rPr>
              <a:t>It had zero understanding — just clever pattern matching.</a:t>
            </a:r>
            <a:endParaRPr lang="en-US" sz="1450" dirty="0"/>
          </a:p>
          <a:p>
            <a:pPr indent="0" marL="0">
              <a:lnSpc>
                <a:spcPct val="132000"/>
              </a:lnSpc>
              <a:buNone/>
            </a:pPr>
            <a:endParaRPr lang="en-US" sz="1450" dirty="0"/>
          </a:p>
          <a:p>
            <a:pPr indent="0" marL="0">
              <a:lnSpc>
                <a:spcPct val="132000"/>
              </a:lnSpc>
              <a:buNone/>
            </a:pPr>
            <a:r>
              <a:rPr lang="en-US" sz="1450" dirty="0">
                <a:solidFill>
                  <a:srgbClr val="23282E"/>
                </a:solidFill>
                <a:latin typeface="Calibri" pitchFamily="34" charset="0"/>
                <a:ea typeface="Calibri" pitchFamily="34" charset="-122"/>
                <a:cs typeface="Calibri" pitchFamily="34" charset="-120"/>
              </a:rPr>
              <a:t>Today's models can write essays, debug code, explain jokes, and hold a genuine conversation. Same broad goal as ELIZA. Completely different machine underneath.</a:t>
            </a:r>
            <a:endParaRPr lang="en-US" sz="1450" dirty="0"/>
          </a:p>
        </p:txBody>
      </p:sp>
      <p:sp>
        <p:nvSpPr>
          <p:cNvPr id="6" name="Shape 4"/>
          <p:cNvSpPr/>
          <p:nvPr/>
        </p:nvSpPr>
        <p:spPr>
          <a:xfrm>
            <a:off x="548640" y="4023360"/>
            <a:ext cx="11064240" cy="1417320"/>
          </a:xfrm>
          <a:prstGeom prst="roundRect">
            <a:avLst>
              <a:gd name="adj" fmla="val 5161"/>
            </a:avLst>
          </a:prstGeom>
          <a:solidFill>
            <a:srgbClr val="FDF1E8"/>
          </a:solidFill>
          <a:ln/>
        </p:spPr>
      </p:sp>
      <p:sp>
        <p:nvSpPr>
          <p:cNvPr id="7" name="Text 5"/>
          <p:cNvSpPr/>
          <p:nvPr/>
        </p:nvSpPr>
        <p:spPr>
          <a:xfrm>
            <a:off x="868680" y="4023360"/>
            <a:ext cx="10424160" cy="1417320"/>
          </a:xfrm>
          <a:prstGeom prst="rect">
            <a:avLst/>
          </a:prstGeom>
          <a:noFill/>
          <a:ln/>
        </p:spPr>
        <p:txBody>
          <a:bodyPr wrap="square" lIns="0" tIns="0" rIns="0" bIns="0" rtlCol="0" anchor="ctr"/>
          <a:lstStyle/>
          <a:p>
            <a:pPr indent="0" marL="0">
              <a:lnSpc>
                <a:spcPct val="132000"/>
              </a:lnSpc>
              <a:buNone/>
            </a:pPr>
            <a:r>
              <a:rPr lang="en-US" sz="1500" b="1" dirty="0">
                <a:solidFill>
                  <a:srgbClr val="C24B4B"/>
                </a:solidFill>
                <a:latin typeface="Calibri" pitchFamily="34" charset="0"/>
                <a:ea typeface="Calibri" pitchFamily="34" charset="-122"/>
                <a:cs typeface="Calibri" pitchFamily="34" charset="-120"/>
              </a:rPr>
              <a:t>By the end of today, that "magic" disappears.  </a:t>
            </a:r>
            <a:pPr indent="0" marL="0">
              <a:lnSpc>
                <a:spcPct val="132000"/>
              </a:lnSpc>
              <a:buNone/>
            </a:pPr>
            <a:r>
              <a:rPr lang="en-US" sz="1450" dirty="0">
                <a:solidFill>
                  <a:srgbClr val="23282E"/>
                </a:solidFill>
                <a:latin typeface="Calibri" pitchFamily="34" charset="0"/>
                <a:ea typeface="Calibri" pitchFamily="34" charset="-122"/>
                <a:cs typeface="Calibri" pitchFamily="34" charset="-120"/>
              </a:rPr>
              <a:t>You'll be able to explain — in plain terms, with diagrams — exactly what's happening under the hood every time you send a message to an LLM.</a:t>
            </a:r>
            <a:endParaRPr lang="en-US" sz="1500" dirty="0"/>
          </a:p>
        </p:txBody>
      </p:sp>
      <p:sp>
        <p:nvSpPr>
          <p:cNvPr id="8" name="Text 6"/>
          <p:cNvSpPr/>
          <p:nvPr/>
        </p:nvSpPr>
        <p:spPr>
          <a:xfrm>
            <a:off x="548640" y="5669280"/>
            <a:ext cx="11064240"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No black boxes left by the end of this session.</a:t>
            </a:r>
            <a:endParaRPr lang="en-US" sz="1300" dirty="0"/>
          </a:p>
        </p:txBody>
      </p:sp>
      <p:sp>
        <p:nvSpPr>
          <p:cNvPr id="9" name="Text 7"/>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10" name="Text 8"/>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325C"/>
        </a:solidFill>
      </p:bgPr>
    </p:bg>
    <p:spTree>
      <p:nvGrpSpPr>
        <p:cNvPr id="1" name=""/>
        <p:cNvGrpSpPr/>
        <p:nvPr/>
      </p:nvGrpSpPr>
      <p:grpSpPr>
        <a:xfrm>
          <a:off x="0" y="0"/>
          <a:ext cx="0" cy="0"/>
          <a:chOff x="0" y="0"/>
          <a:chExt cx="0" cy="0"/>
        </a:xfrm>
      </p:grpSpPr>
      <p:sp>
        <p:nvSpPr>
          <p:cNvPr id="2" name="Text 0"/>
          <p:cNvSpPr/>
          <p:nvPr/>
        </p:nvSpPr>
        <p:spPr>
          <a:xfrm>
            <a:off x="640080" y="1371600"/>
            <a:ext cx="4572000" cy="2926080"/>
          </a:xfrm>
          <a:prstGeom prst="rect">
            <a:avLst/>
          </a:prstGeom>
          <a:noFill/>
          <a:ln/>
        </p:spPr>
        <p:txBody>
          <a:bodyPr wrap="square" lIns="0" tIns="0" rIns="0" bIns="0" rtlCol="0" anchor="ctr"/>
          <a:lstStyle/>
          <a:p>
            <a:pPr algn="l" indent="0" marL="0">
              <a:buNone/>
            </a:pPr>
            <a:r>
              <a:rPr lang="en-US" sz="22000" b="1" dirty="0">
                <a:solidFill>
                  <a:srgbClr val="1E3A66"/>
                </a:solidFill>
                <a:latin typeface="Cambria" pitchFamily="34" charset="0"/>
                <a:ea typeface="Cambria" pitchFamily="34" charset="-122"/>
                <a:cs typeface="Cambria" pitchFamily="34" charset="-120"/>
              </a:rPr>
              <a:t>01</a:t>
            </a:r>
            <a:endParaRPr lang="en-US" sz="22000" dirty="0"/>
          </a:p>
        </p:txBody>
      </p:sp>
      <p:sp>
        <p:nvSpPr>
          <p:cNvPr id="3" name="Shape 1"/>
          <p:cNvSpPr/>
          <p:nvPr/>
        </p:nvSpPr>
        <p:spPr>
          <a:xfrm>
            <a:off x="5394960" y="2011680"/>
            <a:ext cx="54864" cy="1920240"/>
          </a:xfrm>
          <a:prstGeom prst="rect">
            <a:avLst/>
          </a:prstGeom>
          <a:solidFill>
            <a:srgbClr val="FFD43B"/>
          </a:solidFill>
          <a:ln/>
        </p:spPr>
      </p:sp>
      <p:sp>
        <p:nvSpPr>
          <p:cNvPr id="4" name="Text 2"/>
          <p:cNvSpPr/>
          <p:nvPr/>
        </p:nvSpPr>
        <p:spPr>
          <a:xfrm>
            <a:off x="5715000" y="1965960"/>
            <a:ext cx="6035040" cy="11887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What Is Generative AI?</a:t>
            </a:r>
            <a:endParaRPr lang="en-US" sz="3200" dirty="0"/>
          </a:p>
        </p:txBody>
      </p:sp>
      <p:sp>
        <p:nvSpPr>
          <p:cNvPr id="5" name="Text 3"/>
          <p:cNvSpPr/>
          <p:nvPr/>
        </p:nvSpPr>
        <p:spPr>
          <a:xfrm>
            <a:off x="5715000" y="3063240"/>
            <a:ext cx="6035040" cy="822960"/>
          </a:xfrm>
          <a:prstGeom prst="rect">
            <a:avLst/>
          </a:prstGeom>
          <a:noFill/>
          <a:ln/>
        </p:spPr>
        <p:txBody>
          <a:bodyPr wrap="square" lIns="0" tIns="0" rIns="0" bIns="0" rtlCol="0" anchor="t"/>
          <a:lstStyle/>
          <a:p>
            <a:pPr algn="l" indent="0" marL="0">
              <a:buNone/>
            </a:pPr>
            <a:r>
              <a:rPr lang="en-US" sz="1700" i="1" dirty="0">
                <a:solidFill>
                  <a:srgbClr val="FFD43B"/>
                </a:solidFill>
                <a:latin typeface="Calibri" pitchFamily="34" charset="0"/>
                <a:ea typeface="Calibri" pitchFamily="34" charset="-122"/>
                <a:cs typeface="Calibri" pitchFamily="34" charset="-120"/>
              </a:rPr>
              <a:t>The big idea, in one clear picture</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1 · THE CORE DISTINCTION</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Generative vs. Everything Else</a:t>
            </a:r>
            <a:endParaRPr lang="en-US" sz="2700" dirty="0"/>
          </a:p>
        </p:txBody>
      </p:sp>
      <p:sp>
        <p:nvSpPr>
          <p:cNvPr id="4" name="Text 2"/>
          <p:cNvSpPr/>
          <p:nvPr/>
        </p:nvSpPr>
        <p:spPr>
          <a:xfrm>
            <a:off x="548640" y="1536192"/>
            <a:ext cx="11064240" cy="594360"/>
          </a:xfrm>
          <a:prstGeom prst="rect">
            <a:avLst/>
          </a:prstGeom>
          <a:noFill/>
          <a:ln/>
        </p:spPr>
        <p:txBody>
          <a:bodyPr wrap="square" lIns="0" tIns="0" rIns="0" bIns="0" rtlCol="0" anchor="ctr"/>
          <a:lstStyle/>
          <a:p>
            <a:pPr indent="0" marL="0">
              <a:lnSpc>
                <a:spcPct val="128000"/>
              </a:lnSpc>
              <a:buNone/>
            </a:pPr>
            <a:r>
              <a:rPr lang="en-US" sz="1350" i="1" dirty="0">
                <a:solidFill>
                  <a:srgbClr val="6B7280"/>
                </a:solidFill>
                <a:latin typeface="Calibri" pitchFamily="34" charset="0"/>
                <a:ea typeface="Calibri" pitchFamily="34" charset="-122"/>
                <a:cs typeface="Calibri" pitchFamily="34" charset="-120"/>
              </a:rPr>
              <a:t>Almost every AI model you've built this course so far answers a QUESTION about existing data. Generative AI does something different: it CREATES new data.</a:t>
            </a:r>
            <a:endParaRPr lang="en-US" sz="1350" dirty="0"/>
          </a:p>
        </p:txBody>
      </p:sp>
      <p:sp>
        <p:nvSpPr>
          <p:cNvPr id="5" name="Shape 3"/>
          <p:cNvSpPr/>
          <p:nvPr/>
        </p:nvSpPr>
        <p:spPr>
          <a:xfrm>
            <a:off x="548640" y="2331720"/>
            <a:ext cx="5394960" cy="3383280"/>
          </a:xfrm>
          <a:prstGeom prst="roundRect">
            <a:avLst>
              <a:gd name="adj" fmla="val 2162"/>
            </a:avLst>
          </a:prstGeom>
          <a:solidFill>
            <a:srgbClr val="F4F6F9"/>
          </a:solidFill>
          <a:ln w="15875">
            <a:solidFill>
              <a:srgbClr val="306998"/>
            </a:solidFill>
            <a:prstDash val="solid"/>
          </a:ln>
        </p:spPr>
      </p:sp>
      <p:sp>
        <p:nvSpPr>
          <p:cNvPr id="6" name="Shape 4"/>
          <p:cNvSpPr/>
          <p:nvPr/>
        </p:nvSpPr>
        <p:spPr>
          <a:xfrm>
            <a:off x="548640" y="2331720"/>
            <a:ext cx="5394960" cy="91440"/>
          </a:xfrm>
          <a:prstGeom prst="rect">
            <a:avLst/>
          </a:prstGeom>
          <a:solidFill>
            <a:srgbClr val="306998"/>
          </a:solidFill>
          <a:ln/>
        </p:spPr>
      </p:sp>
      <p:sp>
        <p:nvSpPr>
          <p:cNvPr id="7" name="Text 5"/>
          <p:cNvSpPr/>
          <p:nvPr/>
        </p:nvSpPr>
        <p:spPr>
          <a:xfrm>
            <a:off x="822960" y="2606040"/>
            <a:ext cx="4846320" cy="457200"/>
          </a:xfrm>
          <a:prstGeom prst="rect">
            <a:avLst/>
          </a:prstGeom>
          <a:noFill/>
          <a:ln/>
        </p:spPr>
        <p:txBody>
          <a:bodyPr wrap="square" lIns="0" tIns="0" rIns="0" bIns="0" rtlCol="0" anchor="ctr"/>
          <a:lstStyle/>
          <a:p>
            <a:pPr indent="0" marL="0">
              <a:buNone/>
            </a:pPr>
            <a:r>
              <a:rPr lang="en-US" sz="1700" b="1" dirty="0">
                <a:solidFill>
                  <a:srgbClr val="23282E"/>
                </a:solidFill>
                <a:latin typeface="Cambria" pitchFamily="34" charset="0"/>
                <a:ea typeface="Cambria" pitchFamily="34" charset="-122"/>
                <a:cs typeface="Cambria" pitchFamily="34" charset="-120"/>
              </a:rPr>
              <a:t>Discriminative AI</a:t>
            </a:r>
            <a:endParaRPr lang="en-US" sz="1700" dirty="0"/>
          </a:p>
        </p:txBody>
      </p:sp>
      <p:sp>
        <p:nvSpPr>
          <p:cNvPr id="8" name="Text 6"/>
          <p:cNvSpPr/>
          <p:nvPr/>
        </p:nvSpPr>
        <p:spPr>
          <a:xfrm>
            <a:off x="822960" y="3063240"/>
            <a:ext cx="4846320" cy="411480"/>
          </a:xfrm>
          <a:prstGeom prst="rect">
            <a:avLst/>
          </a:prstGeom>
          <a:noFill/>
          <a:ln/>
        </p:spPr>
        <p:txBody>
          <a:bodyPr wrap="square" lIns="0" tIns="0" rIns="0" bIns="0" rtlCol="0" anchor="ctr"/>
          <a:lstStyle/>
          <a:p>
            <a:pPr indent="0" marL="0">
              <a:buNone/>
            </a:pPr>
            <a:r>
              <a:rPr lang="en-US" sz="1300" b="1" i="1" dirty="0">
                <a:solidFill>
                  <a:srgbClr val="306998"/>
                </a:solidFill>
                <a:latin typeface="Calibri" pitchFamily="34" charset="0"/>
                <a:ea typeface="Calibri" pitchFamily="34" charset="-122"/>
                <a:cs typeface="Calibri" pitchFamily="34" charset="-120"/>
              </a:rPr>
              <a:t>"What is this?"</a:t>
            </a:r>
            <a:endParaRPr lang="en-US" sz="1300" dirty="0"/>
          </a:p>
        </p:txBody>
      </p:sp>
      <p:sp>
        <p:nvSpPr>
          <p:cNvPr id="9" name="Text 7"/>
          <p:cNvSpPr/>
          <p:nvPr/>
        </p:nvSpPr>
        <p:spPr>
          <a:xfrm>
            <a:off x="822960" y="3566160"/>
            <a:ext cx="4846320" cy="2011680"/>
          </a:xfrm>
          <a:prstGeom prst="rect">
            <a:avLst/>
          </a:prstGeom>
          <a:noFill/>
          <a:ln/>
        </p:spPr>
        <p:txBody>
          <a:bodyPr wrap="square" lIns="0" tIns="0" rIns="0" bIns="0" rtlCol="0" anchor="t"/>
          <a:lstStyle/>
          <a:p>
            <a:pPr indent="0" marL="0">
              <a:lnSpc>
                <a:spcPct val="130000"/>
              </a:lnSpc>
              <a:buNone/>
            </a:pPr>
            <a:r>
              <a:rPr lang="en-US" sz="1250" dirty="0">
                <a:solidFill>
                  <a:srgbClr val="6B7280"/>
                </a:solidFill>
                <a:latin typeface="Calibri" pitchFamily="34" charset="0"/>
                <a:ea typeface="Calibri" pitchFamily="34" charset="-122"/>
                <a:cs typeface="Calibri" pitchFamily="34" charset="-120"/>
              </a:rPr>
              <a:t>Decision trees, classifiers, our digit CNN — all take an input and pick from a fixed set of existing answers (spam/not spam, digit 0-9, cat/dog).</a:t>
            </a:r>
            <a:endParaRPr lang="en-US" sz="1250" dirty="0"/>
          </a:p>
        </p:txBody>
      </p:sp>
      <p:sp>
        <p:nvSpPr>
          <p:cNvPr id="10" name="Shape 8"/>
          <p:cNvSpPr/>
          <p:nvPr/>
        </p:nvSpPr>
        <p:spPr>
          <a:xfrm>
            <a:off x="6172200" y="2331720"/>
            <a:ext cx="5394960" cy="3383280"/>
          </a:xfrm>
          <a:prstGeom prst="roundRect">
            <a:avLst>
              <a:gd name="adj" fmla="val 2162"/>
            </a:avLst>
          </a:prstGeom>
          <a:solidFill>
            <a:srgbClr val="F4F6F9"/>
          </a:solidFill>
          <a:ln w="15875">
            <a:solidFill>
              <a:srgbClr val="C97A3D"/>
            </a:solidFill>
            <a:prstDash val="solid"/>
          </a:ln>
        </p:spPr>
      </p:sp>
      <p:sp>
        <p:nvSpPr>
          <p:cNvPr id="11" name="Shape 9"/>
          <p:cNvSpPr/>
          <p:nvPr/>
        </p:nvSpPr>
        <p:spPr>
          <a:xfrm>
            <a:off x="6172200" y="2331720"/>
            <a:ext cx="5394960" cy="91440"/>
          </a:xfrm>
          <a:prstGeom prst="rect">
            <a:avLst/>
          </a:prstGeom>
          <a:solidFill>
            <a:srgbClr val="C97A3D"/>
          </a:solidFill>
          <a:ln/>
        </p:spPr>
      </p:sp>
      <p:sp>
        <p:nvSpPr>
          <p:cNvPr id="12" name="Text 10"/>
          <p:cNvSpPr/>
          <p:nvPr/>
        </p:nvSpPr>
        <p:spPr>
          <a:xfrm>
            <a:off x="6446520" y="2606040"/>
            <a:ext cx="4846320" cy="457200"/>
          </a:xfrm>
          <a:prstGeom prst="rect">
            <a:avLst/>
          </a:prstGeom>
          <a:noFill/>
          <a:ln/>
        </p:spPr>
        <p:txBody>
          <a:bodyPr wrap="square" lIns="0" tIns="0" rIns="0" bIns="0" rtlCol="0" anchor="ctr"/>
          <a:lstStyle/>
          <a:p>
            <a:pPr indent="0" marL="0">
              <a:buNone/>
            </a:pPr>
            <a:r>
              <a:rPr lang="en-US" sz="1700" b="1" dirty="0">
                <a:solidFill>
                  <a:srgbClr val="23282E"/>
                </a:solidFill>
                <a:latin typeface="Cambria" pitchFamily="34" charset="0"/>
                <a:ea typeface="Cambria" pitchFamily="34" charset="-122"/>
                <a:cs typeface="Cambria" pitchFamily="34" charset="-120"/>
              </a:rPr>
              <a:t>Generative AI</a:t>
            </a:r>
            <a:endParaRPr lang="en-US" sz="1700" dirty="0"/>
          </a:p>
        </p:txBody>
      </p:sp>
      <p:sp>
        <p:nvSpPr>
          <p:cNvPr id="13" name="Text 11"/>
          <p:cNvSpPr/>
          <p:nvPr/>
        </p:nvSpPr>
        <p:spPr>
          <a:xfrm>
            <a:off x="6446520" y="3063240"/>
            <a:ext cx="4846320" cy="411480"/>
          </a:xfrm>
          <a:prstGeom prst="rect">
            <a:avLst/>
          </a:prstGeom>
          <a:noFill/>
          <a:ln/>
        </p:spPr>
        <p:txBody>
          <a:bodyPr wrap="square" lIns="0" tIns="0" rIns="0" bIns="0" rtlCol="0" anchor="ctr"/>
          <a:lstStyle/>
          <a:p>
            <a:pPr indent="0" marL="0">
              <a:buNone/>
            </a:pPr>
            <a:r>
              <a:rPr lang="en-US" sz="1300" b="1" i="1" dirty="0">
                <a:solidFill>
                  <a:srgbClr val="C97A3D"/>
                </a:solidFill>
                <a:latin typeface="Calibri" pitchFamily="34" charset="0"/>
                <a:ea typeface="Calibri" pitchFamily="34" charset="-122"/>
                <a:cs typeface="Calibri" pitchFamily="34" charset="-120"/>
              </a:rPr>
              <a:t>"Create something new."</a:t>
            </a:r>
            <a:endParaRPr lang="en-US" sz="1300" dirty="0"/>
          </a:p>
        </p:txBody>
      </p:sp>
      <p:sp>
        <p:nvSpPr>
          <p:cNvPr id="14" name="Text 12"/>
          <p:cNvSpPr/>
          <p:nvPr/>
        </p:nvSpPr>
        <p:spPr>
          <a:xfrm>
            <a:off x="6446520" y="3566160"/>
            <a:ext cx="4846320" cy="2011680"/>
          </a:xfrm>
          <a:prstGeom prst="rect">
            <a:avLst/>
          </a:prstGeom>
          <a:noFill/>
          <a:ln/>
        </p:spPr>
        <p:txBody>
          <a:bodyPr wrap="square" lIns="0" tIns="0" rIns="0" bIns="0" rtlCol="0" anchor="t"/>
          <a:lstStyle/>
          <a:p>
            <a:pPr indent="0" marL="0">
              <a:lnSpc>
                <a:spcPct val="130000"/>
              </a:lnSpc>
              <a:buNone/>
            </a:pPr>
            <a:r>
              <a:rPr lang="en-US" sz="1250" dirty="0">
                <a:solidFill>
                  <a:srgbClr val="6B7280"/>
                </a:solidFill>
                <a:latin typeface="Calibri" pitchFamily="34" charset="0"/>
                <a:ea typeface="Calibri" pitchFamily="34" charset="-122"/>
                <a:cs typeface="Calibri" pitchFamily="34" charset="-120"/>
              </a:rPr>
              <a:t>Given a prompt, it produces brand-new content — text, images, audio, code — that never existed before, one piece at a time.</a:t>
            </a:r>
            <a:endParaRPr lang="en-US" sz="1250" dirty="0"/>
          </a:p>
        </p:txBody>
      </p:sp>
      <p:sp>
        <p:nvSpPr>
          <p:cNvPr id="15" name="Shape 13"/>
          <p:cNvSpPr/>
          <p:nvPr/>
        </p:nvSpPr>
        <p:spPr>
          <a:xfrm>
            <a:off x="548640" y="5897880"/>
            <a:ext cx="11064240" cy="502920"/>
          </a:xfrm>
          <a:prstGeom prst="roundRect">
            <a:avLst>
              <a:gd name="adj" fmla="val 14545"/>
            </a:avLst>
          </a:prstGeom>
          <a:solidFill>
            <a:srgbClr val="16325C"/>
          </a:solidFill>
          <a:ln/>
        </p:spPr>
      </p:sp>
      <p:sp>
        <p:nvSpPr>
          <p:cNvPr id="16" name="Text 14"/>
          <p:cNvSpPr/>
          <p:nvPr/>
        </p:nvSpPr>
        <p:spPr>
          <a:xfrm>
            <a:off x="868680" y="5897880"/>
            <a:ext cx="10424160" cy="50292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Same math foundations (neural networks) — a completely different job to do.</a:t>
            </a:r>
            <a:endParaRPr lang="en-US" sz="1200" dirty="0"/>
          </a:p>
        </p:txBody>
      </p:sp>
      <p:sp>
        <p:nvSpPr>
          <p:cNvPr id="17" name="Text 15"/>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18" name="Text 16"/>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1 · A QUICK TRIP THROUGH TIME</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How We Got Here</a:t>
            </a:r>
            <a:endParaRPr lang="en-US" sz="2700" dirty="0"/>
          </a:p>
        </p:txBody>
      </p:sp>
      <p:sp>
        <p:nvSpPr>
          <p:cNvPr id="4" name="Shape 2"/>
          <p:cNvSpPr/>
          <p:nvPr/>
        </p:nvSpPr>
        <p:spPr>
          <a:xfrm flipV="1">
            <a:off x="822960" y="3657600"/>
            <a:ext cx="10561320" cy="914"/>
          </a:xfrm>
          <a:prstGeom prst="line">
            <a:avLst/>
          </a:prstGeom>
          <a:noFill/>
          <a:ln w="31750">
            <a:solidFill>
              <a:srgbClr val="6B7280"/>
            </a:solidFill>
            <a:prstDash val="solid"/>
          </a:ln>
        </p:spPr>
      </p:sp>
      <p:sp>
        <p:nvSpPr>
          <p:cNvPr id="5" name="Shape 3"/>
          <p:cNvSpPr/>
          <p:nvPr/>
        </p:nvSpPr>
        <p:spPr>
          <a:xfrm>
            <a:off x="667512" y="3502152"/>
            <a:ext cx="310896" cy="310896"/>
          </a:xfrm>
          <a:prstGeom prst="ellipse">
            <a:avLst/>
          </a:prstGeom>
          <a:solidFill>
            <a:srgbClr val="306998"/>
          </a:solidFill>
          <a:ln/>
        </p:spPr>
      </p:sp>
      <p:sp>
        <p:nvSpPr>
          <p:cNvPr id="6" name="Text 4"/>
          <p:cNvSpPr/>
          <p:nvPr/>
        </p:nvSpPr>
        <p:spPr>
          <a:xfrm>
            <a:off x="667512" y="3502152"/>
            <a:ext cx="310896" cy="310896"/>
          </a:xfrm>
          <a:prstGeom prst="rect">
            <a:avLst/>
          </a:prstGeom>
          <a:noFill/>
          <a:ln/>
        </p:spPr>
        <p:txBody>
          <a:bodyPr wrap="square" lIns="0" tIns="0" rIns="0" bIns="0" rtlCol="0" anchor="ctr"/>
          <a:lstStyle/>
          <a:p>
            <a:pPr algn="ctr" indent="0" marL="0">
              <a:buNone/>
            </a:pPr>
            <a:endParaRPr lang="en-US" sz="1000" dirty="0"/>
          </a:p>
        </p:txBody>
      </p:sp>
      <p:sp>
        <p:nvSpPr>
          <p:cNvPr id="7" name="Text 5"/>
          <p:cNvSpPr/>
          <p:nvPr/>
        </p:nvSpPr>
        <p:spPr>
          <a:xfrm>
            <a:off x="45720" y="2423160"/>
            <a:ext cx="1554480" cy="292608"/>
          </a:xfrm>
          <a:prstGeom prst="rect">
            <a:avLst/>
          </a:prstGeom>
          <a:noFill/>
          <a:ln/>
        </p:spPr>
        <p:txBody>
          <a:bodyPr wrap="square" lIns="0" tIns="0" rIns="0" bIns="0" rtlCol="0" anchor="ctr"/>
          <a:lstStyle/>
          <a:p>
            <a:pPr algn="ctr" indent="0" marL="0">
              <a:buNone/>
            </a:pPr>
            <a:r>
              <a:rPr lang="en-US" sz="1300" b="1" dirty="0">
                <a:solidFill>
                  <a:srgbClr val="23282E"/>
                </a:solidFill>
                <a:latin typeface="Cambria" pitchFamily="34" charset="0"/>
                <a:ea typeface="Cambria" pitchFamily="34" charset="-122"/>
                <a:cs typeface="Cambria" pitchFamily="34" charset="-120"/>
              </a:rPr>
              <a:t>1960s</a:t>
            </a:r>
            <a:endParaRPr lang="en-US" sz="1300" dirty="0"/>
          </a:p>
        </p:txBody>
      </p:sp>
      <p:sp>
        <p:nvSpPr>
          <p:cNvPr id="8" name="Text 6"/>
          <p:cNvSpPr/>
          <p:nvPr/>
        </p:nvSpPr>
        <p:spPr>
          <a:xfrm>
            <a:off x="-45720" y="2743200"/>
            <a:ext cx="1737360" cy="68580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Rule-Based Chatbots</a:t>
            </a:r>
            <a:endParaRPr lang="en-US" sz="1050" dirty="0"/>
          </a:p>
        </p:txBody>
      </p:sp>
      <p:sp>
        <p:nvSpPr>
          <p:cNvPr id="9" name="Shape 7"/>
          <p:cNvSpPr/>
          <p:nvPr/>
        </p:nvSpPr>
        <p:spPr>
          <a:xfrm>
            <a:off x="822960" y="3337560"/>
            <a:ext cx="914" cy="164592"/>
          </a:xfrm>
          <a:prstGeom prst="line">
            <a:avLst/>
          </a:prstGeom>
          <a:noFill/>
          <a:ln w="15875">
            <a:solidFill>
              <a:srgbClr val="6B7280"/>
            </a:solidFill>
            <a:prstDash val="solid"/>
          </a:ln>
        </p:spPr>
      </p:sp>
      <p:sp>
        <p:nvSpPr>
          <p:cNvPr id="10" name="Shape 8"/>
          <p:cNvSpPr/>
          <p:nvPr/>
        </p:nvSpPr>
        <p:spPr>
          <a:xfrm>
            <a:off x="2779776" y="3502152"/>
            <a:ext cx="310896" cy="310896"/>
          </a:xfrm>
          <a:prstGeom prst="ellipse">
            <a:avLst/>
          </a:prstGeom>
          <a:solidFill>
            <a:srgbClr val="306998"/>
          </a:solidFill>
          <a:ln/>
        </p:spPr>
      </p:sp>
      <p:sp>
        <p:nvSpPr>
          <p:cNvPr id="11" name="Text 9"/>
          <p:cNvSpPr/>
          <p:nvPr/>
        </p:nvSpPr>
        <p:spPr>
          <a:xfrm>
            <a:off x="2779776" y="3502152"/>
            <a:ext cx="310896" cy="310896"/>
          </a:xfrm>
          <a:prstGeom prst="rect">
            <a:avLst/>
          </a:prstGeom>
          <a:noFill/>
          <a:ln/>
        </p:spPr>
        <p:txBody>
          <a:bodyPr wrap="square" lIns="0" tIns="0" rIns="0" bIns="0" rtlCol="0" anchor="ctr"/>
          <a:lstStyle/>
          <a:p>
            <a:pPr algn="ctr" indent="0" marL="0">
              <a:buNone/>
            </a:pPr>
            <a:endParaRPr lang="en-US" sz="1000" dirty="0"/>
          </a:p>
        </p:txBody>
      </p:sp>
      <p:sp>
        <p:nvSpPr>
          <p:cNvPr id="12" name="Text 10"/>
          <p:cNvSpPr/>
          <p:nvPr/>
        </p:nvSpPr>
        <p:spPr>
          <a:xfrm>
            <a:off x="2157984" y="3977640"/>
            <a:ext cx="1554480" cy="292608"/>
          </a:xfrm>
          <a:prstGeom prst="rect">
            <a:avLst/>
          </a:prstGeom>
          <a:noFill/>
          <a:ln/>
        </p:spPr>
        <p:txBody>
          <a:bodyPr wrap="square" lIns="0" tIns="0" rIns="0" bIns="0" rtlCol="0" anchor="ctr"/>
          <a:lstStyle/>
          <a:p>
            <a:pPr algn="ctr" indent="0" marL="0">
              <a:buNone/>
            </a:pPr>
            <a:r>
              <a:rPr lang="en-US" sz="1300" b="1" dirty="0">
                <a:solidFill>
                  <a:srgbClr val="23282E"/>
                </a:solidFill>
                <a:latin typeface="Cambria" pitchFamily="34" charset="0"/>
                <a:ea typeface="Cambria" pitchFamily="34" charset="-122"/>
                <a:cs typeface="Cambria" pitchFamily="34" charset="-120"/>
              </a:rPr>
              <a:t>2013</a:t>
            </a:r>
            <a:endParaRPr lang="en-US" sz="1300" dirty="0"/>
          </a:p>
        </p:txBody>
      </p:sp>
      <p:sp>
        <p:nvSpPr>
          <p:cNvPr id="13" name="Text 11"/>
          <p:cNvSpPr/>
          <p:nvPr/>
        </p:nvSpPr>
        <p:spPr>
          <a:xfrm>
            <a:off x="2066544" y="4279392"/>
            <a:ext cx="1737360" cy="68580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Word Embeddings</a:t>
            </a:r>
            <a:endParaRPr lang="en-US" sz="1050" dirty="0"/>
          </a:p>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(Word2Vec)</a:t>
            </a:r>
            <a:endParaRPr lang="en-US" sz="1050" dirty="0"/>
          </a:p>
        </p:txBody>
      </p:sp>
      <p:sp>
        <p:nvSpPr>
          <p:cNvPr id="14" name="Shape 12"/>
          <p:cNvSpPr/>
          <p:nvPr/>
        </p:nvSpPr>
        <p:spPr>
          <a:xfrm flipV="1">
            <a:off x="2935224" y="3813048"/>
            <a:ext cx="914" cy="164592"/>
          </a:xfrm>
          <a:prstGeom prst="line">
            <a:avLst/>
          </a:prstGeom>
          <a:noFill/>
          <a:ln w="15875">
            <a:solidFill>
              <a:srgbClr val="6B7280"/>
            </a:solidFill>
            <a:prstDash val="solid"/>
          </a:ln>
        </p:spPr>
      </p:sp>
      <p:sp>
        <p:nvSpPr>
          <p:cNvPr id="15" name="Shape 13"/>
          <p:cNvSpPr/>
          <p:nvPr/>
        </p:nvSpPr>
        <p:spPr>
          <a:xfrm>
            <a:off x="4892040" y="3502152"/>
            <a:ext cx="310896" cy="310896"/>
          </a:xfrm>
          <a:prstGeom prst="ellipse">
            <a:avLst/>
          </a:prstGeom>
          <a:solidFill>
            <a:srgbClr val="306998"/>
          </a:solidFill>
          <a:ln/>
        </p:spPr>
      </p:sp>
      <p:sp>
        <p:nvSpPr>
          <p:cNvPr id="16" name="Text 14"/>
          <p:cNvSpPr/>
          <p:nvPr/>
        </p:nvSpPr>
        <p:spPr>
          <a:xfrm>
            <a:off x="4892040" y="3502152"/>
            <a:ext cx="310896" cy="310896"/>
          </a:xfrm>
          <a:prstGeom prst="rect">
            <a:avLst/>
          </a:prstGeom>
          <a:noFill/>
          <a:ln/>
        </p:spPr>
        <p:txBody>
          <a:bodyPr wrap="square" lIns="0" tIns="0" rIns="0" bIns="0" rtlCol="0" anchor="ctr"/>
          <a:lstStyle/>
          <a:p>
            <a:pPr algn="ctr" indent="0" marL="0">
              <a:buNone/>
            </a:pPr>
            <a:endParaRPr lang="en-US" sz="1000" dirty="0"/>
          </a:p>
        </p:txBody>
      </p:sp>
      <p:sp>
        <p:nvSpPr>
          <p:cNvPr id="17" name="Text 15"/>
          <p:cNvSpPr/>
          <p:nvPr/>
        </p:nvSpPr>
        <p:spPr>
          <a:xfrm>
            <a:off x="4270248" y="2423160"/>
            <a:ext cx="1554480" cy="292608"/>
          </a:xfrm>
          <a:prstGeom prst="rect">
            <a:avLst/>
          </a:prstGeom>
          <a:noFill/>
          <a:ln/>
        </p:spPr>
        <p:txBody>
          <a:bodyPr wrap="square" lIns="0" tIns="0" rIns="0" bIns="0" rtlCol="0" anchor="ctr"/>
          <a:lstStyle/>
          <a:p>
            <a:pPr algn="ctr" indent="0" marL="0">
              <a:buNone/>
            </a:pPr>
            <a:r>
              <a:rPr lang="en-US" sz="1300" b="1" dirty="0">
                <a:solidFill>
                  <a:srgbClr val="23282E"/>
                </a:solidFill>
                <a:latin typeface="Cambria" pitchFamily="34" charset="0"/>
                <a:ea typeface="Cambria" pitchFamily="34" charset="-122"/>
                <a:cs typeface="Cambria" pitchFamily="34" charset="-120"/>
              </a:rPr>
              <a:t>2017</a:t>
            </a:r>
            <a:endParaRPr lang="en-US" sz="1300" dirty="0"/>
          </a:p>
        </p:txBody>
      </p:sp>
      <p:sp>
        <p:nvSpPr>
          <p:cNvPr id="18" name="Text 16"/>
          <p:cNvSpPr/>
          <p:nvPr/>
        </p:nvSpPr>
        <p:spPr>
          <a:xfrm>
            <a:off x="4178808" y="2743200"/>
            <a:ext cx="1737360" cy="68580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The Transformer</a:t>
            </a:r>
            <a:endParaRPr lang="en-US" sz="1050" dirty="0"/>
          </a:p>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Is Published</a:t>
            </a:r>
            <a:endParaRPr lang="en-US" sz="1050" dirty="0"/>
          </a:p>
        </p:txBody>
      </p:sp>
      <p:sp>
        <p:nvSpPr>
          <p:cNvPr id="19" name="Shape 17"/>
          <p:cNvSpPr/>
          <p:nvPr/>
        </p:nvSpPr>
        <p:spPr>
          <a:xfrm>
            <a:off x="5047488" y="3337560"/>
            <a:ext cx="914" cy="164592"/>
          </a:xfrm>
          <a:prstGeom prst="line">
            <a:avLst/>
          </a:prstGeom>
          <a:noFill/>
          <a:ln w="15875">
            <a:solidFill>
              <a:srgbClr val="6B7280"/>
            </a:solidFill>
            <a:prstDash val="solid"/>
          </a:ln>
        </p:spPr>
      </p:sp>
      <p:sp>
        <p:nvSpPr>
          <p:cNvPr id="20" name="Shape 18"/>
          <p:cNvSpPr/>
          <p:nvPr/>
        </p:nvSpPr>
        <p:spPr>
          <a:xfrm>
            <a:off x="7004304" y="3502152"/>
            <a:ext cx="310896" cy="310896"/>
          </a:xfrm>
          <a:prstGeom prst="ellipse">
            <a:avLst/>
          </a:prstGeom>
          <a:solidFill>
            <a:srgbClr val="306998"/>
          </a:solidFill>
          <a:ln/>
        </p:spPr>
      </p:sp>
      <p:sp>
        <p:nvSpPr>
          <p:cNvPr id="21" name="Text 19"/>
          <p:cNvSpPr/>
          <p:nvPr/>
        </p:nvSpPr>
        <p:spPr>
          <a:xfrm>
            <a:off x="7004304" y="3502152"/>
            <a:ext cx="310896" cy="310896"/>
          </a:xfrm>
          <a:prstGeom prst="rect">
            <a:avLst/>
          </a:prstGeom>
          <a:noFill/>
          <a:ln/>
        </p:spPr>
        <p:txBody>
          <a:bodyPr wrap="square" lIns="0" tIns="0" rIns="0" bIns="0" rtlCol="0" anchor="ctr"/>
          <a:lstStyle/>
          <a:p>
            <a:pPr algn="ctr" indent="0" marL="0">
              <a:buNone/>
            </a:pPr>
            <a:endParaRPr lang="en-US" sz="1000" dirty="0"/>
          </a:p>
        </p:txBody>
      </p:sp>
      <p:sp>
        <p:nvSpPr>
          <p:cNvPr id="22" name="Text 20"/>
          <p:cNvSpPr/>
          <p:nvPr/>
        </p:nvSpPr>
        <p:spPr>
          <a:xfrm>
            <a:off x="6382512" y="3977640"/>
            <a:ext cx="1554480" cy="292608"/>
          </a:xfrm>
          <a:prstGeom prst="rect">
            <a:avLst/>
          </a:prstGeom>
          <a:noFill/>
          <a:ln/>
        </p:spPr>
        <p:txBody>
          <a:bodyPr wrap="square" lIns="0" tIns="0" rIns="0" bIns="0" rtlCol="0" anchor="ctr"/>
          <a:lstStyle/>
          <a:p>
            <a:pPr algn="ctr" indent="0" marL="0">
              <a:buNone/>
            </a:pPr>
            <a:r>
              <a:rPr lang="en-US" sz="1300" b="1" dirty="0">
                <a:solidFill>
                  <a:srgbClr val="23282E"/>
                </a:solidFill>
                <a:latin typeface="Cambria" pitchFamily="34" charset="0"/>
                <a:ea typeface="Cambria" pitchFamily="34" charset="-122"/>
                <a:cs typeface="Cambria" pitchFamily="34" charset="-120"/>
              </a:rPr>
              <a:t>2018-20</a:t>
            </a:r>
            <a:endParaRPr lang="en-US" sz="1300" dirty="0"/>
          </a:p>
        </p:txBody>
      </p:sp>
      <p:sp>
        <p:nvSpPr>
          <p:cNvPr id="23" name="Text 21"/>
          <p:cNvSpPr/>
          <p:nvPr/>
        </p:nvSpPr>
        <p:spPr>
          <a:xfrm>
            <a:off x="6291072" y="4279392"/>
            <a:ext cx="1737360" cy="68580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GPT-1, 2, 3</a:t>
            </a:r>
            <a:endParaRPr lang="en-US" sz="1050" dirty="0"/>
          </a:p>
        </p:txBody>
      </p:sp>
      <p:sp>
        <p:nvSpPr>
          <p:cNvPr id="24" name="Shape 22"/>
          <p:cNvSpPr/>
          <p:nvPr/>
        </p:nvSpPr>
        <p:spPr>
          <a:xfrm flipV="1">
            <a:off x="7159752" y="3813048"/>
            <a:ext cx="914" cy="164592"/>
          </a:xfrm>
          <a:prstGeom prst="line">
            <a:avLst/>
          </a:prstGeom>
          <a:noFill/>
          <a:ln w="15875">
            <a:solidFill>
              <a:srgbClr val="6B7280"/>
            </a:solidFill>
            <a:prstDash val="solid"/>
          </a:ln>
        </p:spPr>
      </p:sp>
      <p:sp>
        <p:nvSpPr>
          <p:cNvPr id="25" name="Shape 23"/>
          <p:cNvSpPr/>
          <p:nvPr/>
        </p:nvSpPr>
        <p:spPr>
          <a:xfrm>
            <a:off x="9116568" y="3502152"/>
            <a:ext cx="310896" cy="310896"/>
          </a:xfrm>
          <a:prstGeom prst="ellipse">
            <a:avLst/>
          </a:prstGeom>
          <a:solidFill>
            <a:srgbClr val="306998"/>
          </a:solidFill>
          <a:ln/>
        </p:spPr>
      </p:sp>
      <p:sp>
        <p:nvSpPr>
          <p:cNvPr id="26" name="Text 24"/>
          <p:cNvSpPr/>
          <p:nvPr/>
        </p:nvSpPr>
        <p:spPr>
          <a:xfrm>
            <a:off x="9116568" y="3502152"/>
            <a:ext cx="310896" cy="310896"/>
          </a:xfrm>
          <a:prstGeom prst="rect">
            <a:avLst/>
          </a:prstGeom>
          <a:noFill/>
          <a:ln/>
        </p:spPr>
        <p:txBody>
          <a:bodyPr wrap="square" lIns="0" tIns="0" rIns="0" bIns="0" rtlCol="0" anchor="ctr"/>
          <a:lstStyle/>
          <a:p>
            <a:pPr algn="ctr" indent="0" marL="0">
              <a:buNone/>
            </a:pPr>
            <a:endParaRPr lang="en-US" sz="1000" dirty="0"/>
          </a:p>
        </p:txBody>
      </p:sp>
      <p:sp>
        <p:nvSpPr>
          <p:cNvPr id="27" name="Text 25"/>
          <p:cNvSpPr/>
          <p:nvPr/>
        </p:nvSpPr>
        <p:spPr>
          <a:xfrm>
            <a:off x="8494776" y="2423160"/>
            <a:ext cx="1554480" cy="292608"/>
          </a:xfrm>
          <a:prstGeom prst="rect">
            <a:avLst/>
          </a:prstGeom>
          <a:noFill/>
          <a:ln/>
        </p:spPr>
        <p:txBody>
          <a:bodyPr wrap="square" lIns="0" tIns="0" rIns="0" bIns="0" rtlCol="0" anchor="ctr"/>
          <a:lstStyle/>
          <a:p>
            <a:pPr algn="ctr" indent="0" marL="0">
              <a:buNone/>
            </a:pPr>
            <a:r>
              <a:rPr lang="en-US" sz="1300" b="1" dirty="0">
                <a:solidFill>
                  <a:srgbClr val="23282E"/>
                </a:solidFill>
                <a:latin typeface="Cambria" pitchFamily="34" charset="0"/>
                <a:ea typeface="Cambria" pitchFamily="34" charset="-122"/>
                <a:cs typeface="Cambria" pitchFamily="34" charset="-120"/>
              </a:rPr>
              <a:t>2022</a:t>
            </a:r>
            <a:endParaRPr lang="en-US" sz="1300" dirty="0"/>
          </a:p>
        </p:txBody>
      </p:sp>
      <p:sp>
        <p:nvSpPr>
          <p:cNvPr id="28" name="Text 26"/>
          <p:cNvSpPr/>
          <p:nvPr/>
        </p:nvSpPr>
        <p:spPr>
          <a:xfrm>
            <a:off x="8403336" y="2743200"/>
            <a:ext cx="1737360" cy="68580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ChatGPT Goes Public</a:t>
            </a:r>
            <a:endParaRPr lang="en-US" sz="1050" dirty="0"/>
          </a:p>
        </p:txBody>
      </p:sp>
      <p:sp>
        <p:nvSpPr>
          <p:cNvPr id="29" name="Shape 27"/>
          <p:cNvSpPr/>
          <p:nvPr/>
        </p:nvSpPr>
        <p:spPr>
          <a:xfrm>
            <a:off x="9272016" y="3337560"/>
            <a:ext cx="914" cy="164592"/>
          </a:xfrm>
          <a:prstGeom prst="line">
            <a:avLst/>
          </a:prstGeom>
          <a:noFill/>
          <a:ln w="15875">
            <a:solidFill>
              <a:srgbClr val="6B7280"/>
            </a:solidFill>
            <a:prstDash val="solid"/>
          </a:ln>
        </p:spPr>
      </p:sp>
      <p:sp>
        <p:nvSpPr>
          <p:cNvPr id="30" name="Shape 28"/>
          <p:cNvSpPr/>
          <p:nvPr/>
        </p:nvSpPr>
        <p:spPr>
          <a:xfrm>
            <a:off x="11228832" y="3502152"/>
            <a:ext cx="310896" cy="310896"/>
          </a:xfrm>
          <a:prstGeom prst="ellipse">
            <a:avLst/>
          </a:prstGeom>
          <a:solidFill>
            <a:srgbClr val="E8B923"/>
          </a:solidFill>
          <a:ln/>
        </p:spPr>
      </p:sp>
      <p:sp>
        <p:nvSpPr>
          <p:cNvPr id="31" name="Text 29"/>
          <p:cNvSpPr/>
          <p:nvPr/>
        </p:nvSpPr>
        <p:spPr>
          <a:xfrm>
            <a:off x="11228832" y="3502152"/>
            <a:ext cx="310896" cy="310896"/>
          </a:xfrm>
          <a:prstGeom prst="rect">
            <a:avLst/>
          </a:prstGeom>
          <a:noFill/>
          <a:ln/>
        </p:spPr>
        <p:txBody>
          <a:bodyPr wrap="square" lIns="0" tIns="0" rIns="0" bIns="0" rtlCol="0" anchor="ctr"/>
          <a:lstStyle/>
          <a:p>
            <a:pPr algn="ctr" indent="0" marL="0">
              <a:buNone/>
            </a:pPr>
            <a:endParaRPr lang="en-US" sz="1000" dirty="0"/>
          </a:p>
        </p:txBody>
      </p:sp>
      <p:sp>
        <p:nvSpPr>
          <p:cNvPr id="32" name="Text 30"/>
          <p:cNvSpPr/>
          <p:nvPr/>
        </p:nvSpPr>
        <p:spPr>
          <a:xfrm>
            <a:off x="10607040" y="3977640"/>
            <a:ext cx="1554480" cy="292608"/>
          </a:xfrm>
          <a:prstGeom prst="rect">
            <a:avLst/>
          </a:prstGeom>
          <a:noFill/>
          <a:ln/>
        </p:spPr>
        <p:txBody>
          <a:bodyPr wrap="square" lIns="0" tIns="0" rIns="0" bIns="0" rtlCol="0" anchor="ctr"/>
          <a:lstStyle/>
          <a:p>
            <a:pPr algn="ctr" indent="0" marL="0">
              <a:buNone/>
            </a:pPr>
            <a:r>
              <a:rPr lang="en-US" sz="1300" b="1" dirty="0">
                <a:solidFill>
                  <a:srgbClr val="23282E"/>
                </a:solidFill>
                <a:latin typeface="Cambria" pitchFamily="34" charset="0"/>
                <a:ea typeface="Cambria" pitchFamily="34" charset="-122"/>
                <a:cs typeface="Cambria" pitchFamily="34" charset="-120"/>
              </a:rPr>
              <a:t>Today</a:t>
            </a:r>
            <a:endParaRPr lang="en-US" sz="1300" dirty="0"/>
          </a:p>
        </p:txBody>
      </p:sp>
      <p:sp>
        <p:nvSpPr>
          <p:cNvPr id="33" name="Text 31"/>
          <p:cNvSpPr/>
          <p:nvPr/>
        </p:nvSpPr>
        <p:spPr>
          <a:xfrm>
            <a:off x="10515600" y="4279392"/>
            <a:ext cx="1737360" cy="685800"/>
          </a:xfrm>
          <a:prstGeom prst="rect">
            <a:avLst/>
          </a:prstGeom>
          <a:noFill/>
          <a:ln/>
        </p:spPr>
        <p:txBody>
          <a:bodyPr wrap="square" lIns="0" tIns="0" rIns="0" bIns="0" rtlCol="0" anchor="t"/>
          <a:lstStyle/>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Multimodal,</a:t>
            </a:r>
            <a:endParaRPr lang="en-US" sz="1050" dirty="0"/>
          </a:p>
          <a:p>
            <a:pPr algn="ctr" indent="0" marL="0">
              <a:lnSpc>
                <a:spcPct val="115000"/>
              </a:lnSpc>
              <a:buNone/>
            </a:pPr>
            <a:r>
              <a:rPr lang="en-US" sz="1050" dirty="0">
                <a:solidFill>
                  <a:srgbClr val="6B7280"/>
                </a:solidFill>
                <a:latin typeface="Calibri" pitchFamily="34" charset="0"/>
                <a:ea typeface="Calibri" pitchFamily="34" charset="-122"/>
                <a:cs typeface="Calibri" pitchFamily="34" charset="-120"/>
              </a:rPr>
              <a:t>Agentic Models</a:t>
            </a:r>
            <a:endParaRPr lang="en-US" sz="1050" dirty="0"/>
          </a:p>
        </p:txBody>
      </p:sp>
      <p:sp>
        <p:nvSpPr>
          <p:cNvPr id="34" name="Shape 32"/>
          <p:cNvSpPr/>
          <p:nvPr/>
        </p:nvSpPr>
        <p:spPr>
          <a:xfrm flipV="1">
            <a:off x="11384280" y="3813048"/>
            <a:ext cx="914" cy="164592"/>
          </a:xfrm>
          <a:prstGeom prst="line">
            <a:avLst/>
          </a:prstGeom>
          <a:noFill/>
          <a:ln w="15875">
            <a:solidFill>
              <a:srgbClr val="6B7280"/>
            </a:solidFill>
            <a:prstDash val="solid"/>
          </a:ln>
        </p:spPr>
      </p:sp>
      <p:sp>
        <p:nvSpPr>
          <p:cNvPr id="35" name="Shape 33"/>
          <p:cNvSpPr/>
          <p:nvPr/>
        </p:nvSpPr>
        <p:spPr>
          <a:xfrm>
            <a:off x="548640" y="5623560"/>
            <a:ext cx="11064240" cy="777240"/>
          </a:xfrm>
          <a:prstGeom prst="roundRect">
            <a:avLst>
              <a:gd name="adj" fmla="val 9412"/>
            </a:avLst>
          </a:prstGeom>
          <a:solidFill>
            <a:srgbClr val="FDF1E8"/>
          </a:solidFill>
          <a:ln/>
        </p:spPr>
      </p:sp>
      <p:sp>
        <p:nvSpPr>
          <p:cNvPr id="36" name="Text 34"/>
          <p:cNvSpPr/>
          <p:nvPr/>
        </p:nvSpPr>
        <p:spPr>
          <a:xfrm>
            <a:off x="868680" y="5623560"/>
            <a:ext cx="10424160" cy="777240"/>
          </a:xfrm>
          <a:prstGeom prst="rect">
            <a:avLst/>
          </a:prstGeom>
          <a:noFill/>
          <a:ln/>
        </p:spPr>
        <p:txBody>
          <a:bodyPr wrap="square" lIns="0" tIns="0" rIns="0" bIns="0" rtlCol="0" anchor="ctr"/>
          <a:lstStyle/>
          <a:p>
            <a:pPr indent="0" marL="0">
              <a:lnSpc>
                <a:spcPct val="125000"/>
              </a:lnSpc>
              <a:buNone/>
            </a:pPr>
            <a:r>
              <a:rPr lang="en-US" sz="1300" b="1" dirty="0">
                <a:solidFill>
                  <a:srgbClr val="C24B4B"/>
                </a:solidFill>
                <a:latin typeface="Calibri" pitchFamily="34" charset="0"/>
                <a:ea typeface="Calibri" pitchFamily="34" charset="-122"/>
                <a:cs typeface="Calibri" pitchFamily="34" charset="-120"/>
              </a:rPr>
              <a:t>The pattern worth noticing:  </a:t>
            </a:r>
            <a:pPr indent="0" marL="0">
              <a:lnSpc>
                <a:spcPct val="125000"/>
              </a:lnSpc>
              <a:buNone/>
            </a:pPr>
            <a:r>
              <a:rPr lang="en-US" sz="1250" dirty="0">
                <a:solidFill>
                  <a:srgbClr val="23282E"/>
                </a:solidFill>
                <a:latin typeface="Calibri" pitchFamily="34" charset="0"/>
                <a:ea typeface="Calibri" pitchFamily="34" charset="-122"/>
                <a:cs typeface="Calibri" pitchFamily="34" charset="-120"/>
              </a:rPr>
              <a:t>each breakthrough didn't come out of nowhere — every step built directly on the one before it. We'll unpack the 2017 Transformer moment closely, since it's the one that changed everything.</a:t>
            </a:r>
            <a:endParaRPr lang="en-US" sz="1300" dirty="0"/>
          </a:p>
        </p:txBody>
      </p:sp>
      <p:sp>
        <p:nvSpPr>
          <p:cNvPr id="37" name="Text 35"/>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38" name="Text 36"/>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AF3FB"/>
        </a:solidFill>
      </p:bgPr>
    </p:bg>
    <p:spTree>
      <p:nvGrpSpPr>
        <p:cNvPr id="1" name=""/>
        <p:cNvGrpSpPr/>
        <p:nvPr/>
      </p:nvGrpSpPr>
      <p:grpSpPr>
        <a:xfrm>
          <a:off x="0" y="0"/>
          <a:ext cx="0" cy="0"/>
          <a:chOff x="0" y="0"/>
          <a:chExt cx="0" cy="0"/>
        </a:xfrm>
      </p:grpSpPr>
      <p:sp>
        <p:nvSpPr>
          <p:cNvPr id="2" name="Shape 0"/>
          <p:cNvSpPr/>
          <p:nvPr/>
        </p:nvSpPr>
        <p:spPr>
          <a:xfrm>
            <a:off x="548640" y="457200"/>
            <a:ext cx="822960" cy="822960"/>
          </a:xfrm>
          <a:prstGeom prst="ellipse">
            <a:avLst/>
          </a:prstGeom>
          <a:solidFill>
            <a:srgbClr val="E8B923"/>
          </a:solidFill>
          <a:ln/>
        </p:spPr>
      </p:sp>
      <p:sp>
        <p:nvSpPr>
          <p:cNvPr id="3" name="Text 1"/>
          <p:cNvSpPr/>
          <p:nvPr/>
        </p:nvSpPr>
        <p:spPr>
          <a:xfrm>
            <a:off x="548640" y="45720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t>
            </a:r>
            <a:endParaRPr lang="en-US" sz="3200" dirty="0"/>
          </a:p>
        </p:txBody>
      </p:sp>
      <p:sp>
        <p:nvSpPr>
          <p:cNvPr id="4" name="Text 2"/>
          <p:cNvSpPr/>
          <p:nvPr/>
        </p:nvSpPr>
        <p:spPr>
          <a:xfrm>
            <a:off x="1554480" y="457200"/>
            <a:ext cx="5486400" cy="365760"/>
          </a:xfrm>
          <a:prstGeom prst="rect">
            <a:avLst/>
          </a:prstGeom>
          <a:noFill/>
          <a:ln/>
        </p:spPr>
        <p:txBody>
          <a:bodyPr wrap="square" lIns="0" tIns="0" rIns="0" bIns="0" rtlCol="0" anchor="ctr"/>
          <a:lstStyle/>
          <a:p>
            <a:pPr indent="0" marL="0">
              <a:buNone/>
            </a:pPr>
            <a:r>
              <a:rPr lang="en-US" sz="1300" b="1" spc="200" kern="0" dirty="0">
                <a:solidFill>
                  <a:srgbClr val="E8B923"/>
                </a:solidFill>
                <a:latin typeface="Calibri" pitchFamily="34" charset="0"/>
                <a:ea typeface="Calibri" pitchFamily="34" charset="-122"/>
                <a:cs typeface="Calibri" pitchFamily="34" charset="-120"/>
              </a:rPr>
              <a:t>QUICK CHECK 1</a:t>
            </a:r>
            <a:endParaRPr lang="en-US" sz="1300" dirty="0"/>
          </a:p>
        </p:txBody>
      </p:sp>
      <p:sp>
        <p:nvSpPr>
          <p:cNvPr id="5" name="Text 3"/>
          <p:cNvSpPr/>
          <p:nvPr/>
        </p:nvSpPr>
        <p:spPr>
          <a:xfrm>
            <a:off x="1554480" y="777240"/>
            <a:ext cx="7315200" cy="548640"/>
          </a:xfrm>
          <a:prstGeom prst="rect">
            <a:avLst/>
          </a:prstGeom>
          <a:noFill/>
          <a:ln/>
        </p:spPr>
        <p:txBody>
          <a:bodyPr wrap="square" lIns="0" tIns="0" rIns="0" bIns="0" rtlCol="0" anchor="ctr"/>
          <a:lstStyle/>
          <a:p>
            <a:pPr indent="0" marL="0">
              <a:buNone/>
            </a:pPr>
            <a:r>
              <a:rPr lang="en-US" sz="2700" b="1" dirty="0">
                <a:solidFill>
                  <a:srgbClr val="23282E"/>
                </a:solidFill>
                <a:latin typeface="Cambria" pitchFamily="34" charset="0"/>
                <a:ea typeface="Cambria" pitchFamily="34" charset="-122"/>
                <a:cs typeface="Cambria" pitchFamily="34" charset="-120"/>
              </a:rPr>
              <a:t>Generative AI Basics Check</a:t>
            </a:r>
            <a:endParaRPr lang="en-US" sz="2700" dirty="0"/>
          </a:p>
        </p:txBody>
      </p:sp>
      <p:sp>
        <p:nvSpPr>
          <p:cNvPr id="6" name="Shape 4"/>
          <p:cNvSpPr/>
          <p:nvPr/>
        </p:nvSpPr>
        <p:spPr>
          <a:xfrm>
            <a:off x="9418320" y="502920"/>
            <a:ext cx="2194560" cy="548640"/>
          </a:xfrm>
          <a:prstGeom prst="roundRect">
            <a:avLst>
              <a:gd name="adj" fmla="val 50000"/>
            </a:avLst>
          </a:prstGeom>
          <a:solidFill>
            <a:srgbClr val="16325C"/>
          </a:solidFill>
          <a:ln/>
        </p:spPr>
      </p:sp>
      <p:sp>
        <p:nvSpPr>
          <p:cNvPr id="7" name="Text 5"/>
          <p:cNvSpPr/>
          <p:nvPr/>
        </p:nvSpPr>
        <p:spPr>
          <a:xfrm>
            <a:off x="9418320" y="502920"/>
            <a:ext cx="219456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DISCUSS AS A CLASS</a:t>
            </a:r>
            <a:endParaRPr lang="en-US" sz="1050" dirty="0"/>
          </a:p>
        </p:txBody>
      </p:sp>
      <p:sp>
        <p:nvSpPr>
          <p:cNvPr id="8" name="Shape 6"/>
          <p:cNvSpPr/>
          <p:nvPr/>
        </p:nvSpPr>
        <p:spPr>
          <a:xfrm>
            <a:off x="548640" y="1600200"/>
            <a:ext cx="7406640" cy="4572000"/>
          </a:xfrm>
          <a:prstGeom prst="roundRect">
            <a:avLst>
              <a:gd name="adj" fmla="val 1600"/>
            </a:avLst>
          </a:prstGeom>
          <a:solidFill>
            <a:srgbClr val="FFFFFF"/>
          </a:solidFill>
          <a:ln w="12700">
            <a:solidFill>
              <a:srgbClr val="C9DCEE"/>
            </a:solidFill>
            <a:prstDash val="solid"/>
          </a:ln>
          <a:effectLst>
            <a:outerShdw sx="100000" sy="100000" kx="0" ky="0" algn="bl" rotWithShape="0" blurRad="101600" dist="25400" dir="5400000">
              <a:srgbClr val="000000">
                <a:alpha val="12000"/>
              </a:srgbClr>
            </a:outerShdw>
          </a:effectLst>
        </p:spPr>
      </p:sp>
      <p:sp>
        <p:nvSpPr>
          <p:cNvPr id="9" name="Text 7"/>
          <p:cNvSpPr/>
          <p:nvPr/>
        </p:nvSpPr>
        <p:spPr>
          <a:xfrm>
            <a:off x="868680" y="1874520"/>
            <a:ext cx="6858000" cy="4023360"/>
          </a:xfrm>
          <a:prstGeom prst="rect">
            <a:avLst/>
          </a:prstGeom>
          <a:noFill/>
          <a:ln/>
        </p:spPr>
        <p:txBody>
          <a:bodyPr wrap="square" lIns="0" tIns="0" rIns="0" bIns="0" rtlCol="0" anchor="t"/>
          <a:lstStyle/>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1.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A model looks at an X-ray and labels it "pneumonia" or "healthy."</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2.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A model is given a topic and writes a brand-new short story about it.</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3.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Someone asks what year the Transformer architecture was published.</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4.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Someone asks what's fundamentally different about generative AI's OUTPUT.</a:t>
            </a:r>
            <a:endParaRPr lang="en-US" sz="1500" dirty="0"/>
          </a:p>
        </p:txBody>
      </p:sp>
      <p:sp>
        <p:nvSpPr>
          <p:cNvPr id="10" name="Shape 8"/>
          <p:cNvSpPr/>
          <p:nvPr/>
        </p:nvSpPr>
        <p:spPr>
          <a:xfrm>
            <a:off x="8229600" y="1600200"/>
            <a:ext cx="3383280" cy="4572000"/>
          </a:xfrm>
          <a:prstGeom prst="roundRect">
            <a:avLst>
              <a:gd name="adj" fmla="val 2162"/>
            </a:avLst>
          </a:prstGeom>
          <a:solidFill>
            <a:srgbClr val="16325C"/>
          </a:solidFill>
          <a:ln/>
        </p:spPr>
      </p:sp>
      <p:sp>
        <p:nvSpPr>
          <p:cNvPr id="11" name="Text 9"/>
          <p:cNvSpPr/>
          <p:nvPr/>
        </p:nvSpPr>
        <p:spPr>
          <a:xfrm>
            <a:off x="8549640" y="1828800"/>
            <a:ext cx="2743200" cy="320040"/>
          </a:xfrm>
          <a:prstGeom prst="rect">
            <a:avLst/>
          </a:prstGeom>
          <a:noFill/>
          <a:ln/>
        </p:spPr>
        <p:txBody>
          <a:bodyPr wrap="square" lIns="0" tIns="0" rIns="0" bIns="0" rtlCol="0" anchor="ctr"/>
          <a:lstStyle/>
          <a:p>
            <a:pPr indent="0" marL="0">
              <a:buNone/>
            </a:pPr>
            <a:r>
              <a:rPr lang="en-US" sz="1200" b="1" spc="200" kern="0" dirty="0">
                <a:solidFill>
                  <a:srgbClr val="FFD43B"/>
                </a:solidFill>
                <a:latin typeface="Calibri" pitchFamily="34" charset="0"/>
                <a:ea typeface="Calibri" pitchFamily="34" charset="-122"/>
                <a:cs typeface="Calibri" pitchFamily="34" charset="-120"/>
              </a:rPr>
              <a:t>ANSWER KEY</a:t>
            </a:r>
            <a:endParaRPr lang="en-US" sz="1200" dirty="0"/>
          </a:p>
        </p:txBody>
      </p:sp>
      <p:sp>
        <p:nvSpPr>
          <p:cNvPr id="12" name="Text 10"/>
          <p:cNvSpPr/>
          <p:nvPr/>
        </p:nvSpPr>
        <p:spPr>
          <a:xfrm>
            <a:off x="8549640" y="2194560"/>
            <a:ext cx="2788920" cy="3840480"/>
          </a:xfrm>
          <a:prstGeom prst="rect">
            <a:avLst/>
          </a:prstGeom>
          <a:noFill/>
          <a:ln/>
        </p:spPr>
        <p:txBody>
          <a:bodyPr wrap="square" lIns="0" tIns="0" rIns="0" bIns="0" rtlCol="0" anchor="t"/>
          <a:lstStyle/>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1.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Discriminative — picking from a fixed set of existing labels</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2.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Generative — creating new content that didn't exist before</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3.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2017</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4.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It's brand new content, generated piece by piece, not a choice from a fixed set of answers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325C"/>
        </a:solidFill>
      </p:bgPr>
    </p:bg>
    <p:spTree>
      <p:nvGrpSpPr>
        <p:cNvPr id="1" name=""/>
        <p:cNvGrpSpPr/>
        <p:nvPr/>
      </p:nvGrpSpPr>
      <p:grpSpPr>
        <a:xfrm>
          <a:off x="0" y="0"/>
          <a:ext cx="0" cy="0"/>
          <a:chOff x="0" y="0"/>
          <a:chExt cx="0" cy="0"/>
        </a:xfrm>
      </p:grpSpPr>
      <p:sp>
        <p:nvSpPr>
          <p:cNvPr id="2" name="Text 0"/>
          <p:cNvSpPr/>
          <p:nvPr/>
        </p:nvSpPr>
        <p:spPr>
          <a:xfrm>
            <a:off x="640080" y="1371600"/>
            <a:ext cx="4572000" cy="2926080"/>
          </a:xfrm>
          <a:prstGeom prst="rect">
            <a:avLst/>
          </a:prstGeom>
          <a:noFill/>
          <a:ln/>
        </p:spPr>
        <p:txBody>
          <a:bodyPr wrap="square" lIns="0" tIns="0" rIns="0" bIns="0" rtlCol="0" anchor="ctr"/>
          <a:lstStyle/>
          <a:p>
            <a:pPr algn="l" indent="0" marL="0">
              <a:buNone/>
            </a:pPr>
            <a:r>
              <a:rPr lang="en-US" sz="22000" b="1" dirty="0">
                <a:solidFill>
                  <a:srgbClr val="1E3A66"/>
                </a:solidFill>
                <a:latin typeface="Cambria" pitchFamily="34" charset="0"/>
                <a:ea typeface="Cambria" pitchFamily="34" charset="-122"/>
                <a:cs typeface="Cambria" pitchFamily="34" charset="-120"/>
              </a:rPr>
              <a:t>02</a:t>
            </a:r>
            <a:endParaRPr lang="en-US" sz="22000" dirty="0"/>
          </a:p>
        </p:txBody>
      </p:sp>
      <p:sp>
        <p:nvSpPr>
          <p:cNvPr id="3" name="Shape 1"/>
          <p:cNvSpPr/>
          <p:nvPr/>
        </p:nvSpPr>
        <p:spPr>
          <a:xfrm>
            <a:off x="5394960" y="2011680"/>
            <a:ext cx="54864" cy="1920240"/>
          </a:xfrm>
          <a:prstGeom prst="rect">
            <a:avLst/>
          </a:prstGeom>
          <a:solidFill>
            <a:srgbClr val="FFD43B"/>
          </a:solidFill>
          <a:ln/>
        </p:spPr>
      </p:sp>
      <p:sp>
        <p:nvSpPr>
          <p:cNvPr id="4" name="Text 2"/>
          <p:cNvSpPr/>
          <p:nvPr/>
        </p:nvSpPr>
        <p:spPr>
          <a:xfrm>
            <a:off x="5715000" y="1965960"/>
            <a:ext cx="6035040" cy="11887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Language, Tokens &amp; Embeddings</a:t>
            </a:r>
            <a:endParaRPr lang="en-US" sz="3200" dirty="0"/>
          </a:p>
        </p:txBody>
      </p:sp>
      <p:sp>
        <p:nvSpPr>
          <p:cNvPr id="5" name="Text 3"/>
          <p:cNvSpPr/>
          <p:nvPr/>
        </p:nvSpPr>
        <p:spPr>
          <a:xfrm>
            <a:off x="5715000" y="3063240"/>
            <a:ext cx="6035040" cy="822960"/>
          </a:xfrm>
          <a:prstGeom prst="rect">
            <a:avLst/>
          </a:prstGeom>
          <a:noFill/>
          <a:ln/>
        </p:spPr>
        <p:txBody>
          <a:bodyPr wrap="square" lIns="0" tIns="0" rIns="0" bIns="0" rtlCol="0" anchor="t"/>
          <a:lstStyle/>
          <a:p>
            <a:pPr algn="l" indent="0" marL="0">
              <a:buNone/>
            </a:pPr>
            <a:r>
              <a:rPr lang="en-US" sz="1700" i="1" dirty="0">
                <a:solidFill>
                  <a:srgbClr val="FFD43B"/>
                </a:solidFill>
                <a:latin typeface="Calibri" pitchFamily="34" charset="0"/>
                <a:ea typeface="Calibri" pitchFamily="34" charset="-122"/>
                <a:cs typeface="Calibri" pitchFamily="34" charset="-120"/>
              </a:rPr>
              <a:t>How raw text becomes something a model can read</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2 · THE BIG IDEA</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What Is an LLM, Really?</a:t>
            </a:r>
            <a:endParaRPr lang="en-US" sz="2700" dirty="0"/>
          </a:p>
        </p:txBody>
      </p:sp>
      <p:sp>
        <p:nvSpPr>
          <p:cNvPr id="4" name="Shape 2"/>
          <p:cNvSpPr/>
          <p:nvPr/>
        </p:nvSpPr>
        <p:spPr>
          <a:xfrm>
            <a:off x="548640" y="1600200"/>
            <a:ext cx="11064240" cy="2103120"/>
          </a:xfrm>
          <a:prstGeom prst="roundRect">
            <a:avLst>
              <a:gd name="adj" fmla="val 3478"/>
            </a:avLst>
          </a:prstGeom>
          <a:solidFill>
            <a:srgbClr val="F4F6F9"/>
          </a:solidFill>
          <a:ln/>
        </p:spPr>
      </p:sp>
      <p:sp>
        <p:nvSpPr>
          <p:cNvPr id="5" name="Text 3"/>
          <p:cNvSpPr/>
          <p:nvPr/>
        </p:nvSpPr>
        <p:spPr>
          <a:xfrm>
            <a:off x="868680" y="1783080"/>
            <a:ext cx="10424160" cy="1828800"/>
          </a:xfrm>
          <a:prstGeom prst="rect">
            <a:avLst/>
          </a:prstGeom>
          <a:noFill/>
          <a:ln/>
        </p:spPr>
        <p:txBody>
          <a:bodyPr wrap="square" lIns="0" tIns="0" rIns="0" bIns="0" rtlCol="0" anchor="t"/>
          <a:lstStyle/>
          <a:p>
            <a:pPr indent="0" marL="0">
              <a:lnSpc>
                <a:spcPct val="132000"/>
              </a:lnSpc>
              <a:buNone/>
            </a:pPr>
            <a:r>
              <a:rPr lang="en-US" sz="1500" b="1" dirty="0">
                <a:solidFill>
                  <a:srgbClr val="306998"/>
                </a:solidFill>
                <a:latin typeface="Calibri" pitchFamily="34" charset="0"/>
                <a:ea typeface="Calibri" pitchFamily="34" charset="-122"/>
                <a:cs typeface="Calibri" pitchFamily="34" charset="-120"/>
              </a:rPr>
              <a:t>Strip away the hype, and an LLM (Large Language Model) is doing one job:  </a:t>
            </a:r>
            <a:pPr indent="0" marL="0">
              <a:lnSpc>
                <a:spcPct val="132000"/>
              </a:lnSpc>
              <a:buNone/>
            </a:pPr>
            <a:r>
              <a:rPr lang="en-US" sz="1400" dirty="0">
                <a:solidFill>
                  <a:srgbClr val="23282E"/>
                </a:solidFill>
                <a:latin typeface="Calibri" pitchFamily="34" charset="0"/>
                <a:ea typeface="Calibri" pitchFamily="34" charset="-122"/>
                <a:cs typeface="Calibri" pitchFamily="34" charset="-120"/>
              </a:rPr>
              <a:t>given some text, predict the single most likely NEXT word. That's it.</a:t>
            </a:r>
            <a:endParaRPr lang="en-US" sz="1500" dirty="0"/>
          </a:p>
          <a:p>
            <a:pPr indent="0" marL="0">
              <a:lnSpc>
                <a:spcPct val="132000"/>
              </a:lnSpc>
              <a:buNone/>
            </a:pPr>
            <a:endParaRPr lang="en-US" sz="1500" dirty="0"/>
          </a:p>
          <a:p>
            <a:pPr indent="0" marL="0">
              <a:lnSpc>
                <a:spcPct val="132000"/>
              </a:lnSpc>
              <a:buNone/>
            </a:pPr>
            <a:r>
              <a:rPr lang="en-US" sz="1400" dirty="0">
                <a:solidFill>
                  <a:srgbClr val="23282E"/>
                </a:solidFill>
                <a:latin typeface="Calibri" pitchFamily="34" charset="0"/>
                <a:ea typeface="Calibri" pitchFamily="34" charset="-122"/>
                <a:cs typeface="Calibri" pitchFamily="34" charset="-120"/>
              </a:rPr>
              <a:t>It just does that job after reading an almost unimaginable amount of text — a huge chunk of the internet, books, articles, and code — using a huge network (billions of parameters) to spot patterns in how language works.</a:t>
            </a:r>
            <a:endParaRPr lang="en-US" sz="1500" dirty="0"/>
          </a:p>
        </p:txBody>
      </p:sp>
      <p:sp>
        <p:nvSpPr>
          <p:cNvPr id="6" name="Shape 4"/>
          <p:cNvSpPr/>
          <p:nvPr/>
        </p:nvSpPr>
        <p:spPr>
          <a:xfrm>
            <a:off x="548640" y="3977640"/>
            <a:ext cx="11064240" cy="1325880"/>
          </a:xfrm>
          <a:prstGeom prst="roundRect">
            <a:avLst>
              <a:gd name="adj" fmla="val 5517"/>
            </a:avLst>
          </a:prstGeom>
          <a:solidFill>
            <a:srgbClr val="FDF1E8"/>
          </a:solidFill>
          <a:ln/>
        </p:spPr>
      </p:sp>
      <p:sp>
        <p:nvSpPr>
          <p:cNvPr id="7" name="Text 5"/>
          <p:cNvSpPr/>
          <p:nvPr/>
        </p:nvSpPr>
        <p:spPr>
          <a:xfrm>
            <a:off x="868680" y="3977640"/>
            <a:ext cx="10424160" cy="1325880"/>
          </a:xfrm>
          <a:prstGeom prst="rect">
            <a:avLst/>
          </a:prstGeom>
          <a:noFill/>
          <a:ln/>
        </p:spPr>
        <p:txBody>
          <a:bodyPr wrap="square" lIns="0" tIns="0" rIns="0" bIns="0" rtlCol="0" anchor="ctr"/>
          <a:lstStyle/>
          <a:p>
            <a:pPr indent="0" marL="0">
              <a:lnSpc>
                <a:spcPct val="130000"/>
              </a:lnSpc>
              <a:buNone/>
            </a:pPr>
            <a:r>
              <a:rPr lang="en-US" sz="1450" b="1" dirty="0">
                <a:solidFill>
                  <a:srgbClr val="C24B4B"/>
                </a:solidFill>
                <a:latin typeface="Calibri" pitchFamily="34" charset="0"/>
                <a:ea typeface="Calibri" pitchFamily="34" charset="-122"/>
                <a:cs typeface="Calibri" pitchFamily="34" charset="-120"/>
              </a:rPr>
              <a:t>"Large" refers to two things:  </a:t>
            </a:r>
            <a:pPr indent="0" marL="0">
              <a:lnSpc>
                <a:spcPct val="130000"/>
              </a:lnSpc>
              <a:buNone/>
            </a:pPr>
            <a:r>
              <a:rPr lang="en-US" sz="1400" dirty="0">
                <a:solidFill>
                  <a:srgbClr val="23282E"/>
                </a:solidFill>
                <a:latin typeface="Calibri" pitchFamily="34" charset="0"/>
                <a:ea typeface="Calibri" pitchFamily="34" charset="-122"/>
                <a:cs typeface="Calibri" pitchFamily="34" charset="-120"/>
              </a:rPr>
              <a:t>the amount of text it was trained on, and the number of internal parameters (learned weights) it has — often in the tens or hundreds of billions.</a:t>
            </a:r>
            <a:endParaRPr lang="en-US" sz="1450" dirty="0"/>
          </a:p>
        </p:txBody>
      </p:sp>
      <p:sp>
        <p:nvSpPr>
          <p:cNvPr id="8" name="Text 6"/>
          <p:cNvSpPr/>
          <p:nvPr/>
        </p:nvSpPr>
        <p:spPr>
          <a:xfrm>
            <a:off x="548640" y="5577840"/>
            <a:ext cx="11064240"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Before it can predict ANY word, though, it needs a way to turn words into numbers. That's next.</a:t>
            </a:r>
            <a:endParaRPr lang="en-US" sz="1300" dirty="0"/>
          </a:p>
        </p:txBody>
      </p:sp>
      <p:sp>
        <p:nvSpPr>
          <p:cNvPr id="9" name="Text 7"/>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10" name="Text 8"/>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2 · STEP 1</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Tokenization — Chopping Text Into Pieces</a:t>
            </a:r>
            <a:endParaRPr lang="en-US" sz="2700" dirty="0"/>
          </a:p>
        </p:txBody>
      </p:sp>
      <p:sp>
        <p:nvSpPr>
          <p:cNvPr id="4" name="Text 2"/>
          <p:cNvSpPr/>
          <p:nvPr/>
        </p:nvSpPr>
        <p:spPr>
          <a:xfrm>
            <a:off x="548640" y="1536192"/>
            <a:ext cx="11064240" cy="548640"/>
          </a:xfrm>
          <a:prstGeom prst="rect">
            <a:avLst/>
          </a:prstGeom>
          <a:noFill/>
          <a:ln/>
        </p:spPr>
        <p:txBody>
          <a:bodyPr wrap="square" lIns="0" tIns="0" rIns="0" bIns="0" rtlCol="0" anchor="ctr"/>
          <a:lstStyle/>
          <a:p>
            <a:pPr indent="0" marL="0">
              <a:lnSpc>
                <a:spcPct val="125000"/>
              </a:lnSpc>
              <a:buNone/>
            </a:pPr>
            <a:r>
              <a:rPr lang="en-US" sz="1350" i="1" dirty="0">
                <a:solidFill>
                  <a:srgbClr val="6B7280"/>
                </a:solidFill>
                <a:latin typeface="Calibri" pitchFamily="34" charset="0"/>
                <a:ea typeface="Calibri" pitchFamily="34" charset="-122"/>
                <a:cs typeface="Calibri" pitchFamily="34" charset="-120"/>
              </a:rPr>
              <a:t>A model can't read letters or words directly. First, text gets chopped into chunks called tokens — often whole words, sometimes just pieces of one.</a:t>
            </a:r>
            <a:endParaRPr lang="en-US" sz="1350" dirty="0"/>
          </a:p>
        </p:txBody>
      </p:sp>
      <p:sp>
        <p:nvSpPr>
          <p:cNvPr id="5" name="Text 3"/>
          <p:cNvSpPr/>
          <p:nvPr/>
        </p:nvSpPr>
        <p:spPr>
          <a:xfrm>
            <a:off x="548640" y="2286000"/>
            <a:ext cx="11064240" cy="411480"/>
          </a:xfrm>
          <a:prstGeom prst="rect">
            <a:avLst/>
          </a:prstGeom>
          <a:noFill/>
          <a:ln/>
        </p:spPr>
        <p:txBody>
          <a:bodyPr wrap="square" lIns="0" tIns="0" rIns="0" bIns="0" rtlCol="0" anchor="ctr"/>
          <a:lstStyle/>
          <a:p>
            <a:pPr algn="ctr" indent="0" marL="0">
              <a:buNone/>
            </a:pPr>
            <a:r>
              <a:rPr lang="en-US" sz="1800" b="1" dirty="0">
                <a:solidFill>
                  <a:srgbClr val="23282E"/>
                </a:solidFill>
                <a:latin typeface="Cambria" pitchFamily="34" charset="0"/>
                <a:ea typeface="Cambria" pitchFamily="34" charset="-122"/>
                <a:cs typeface="Cambria" pitchFamily="34" charset="-120"/>
              </a:rPr>
              <a:t>"Transformers are unstoppable!"</a:t>
            </a:r>
            <a:endParaRPr lang="en-US" sz="1800" dirty="0"/>
          </a:p>
        </p:txBody>
      </p:sp>
      <p:sp>
        <p:nvSpPr>
          <p:cNvPr id="6" name="Shape 4"/>
          <p:cNvSpPr/>
          <p:nvPr/>
        </p:nvSpPr>
        <p:spPr>
          <a:xfrm>
            <a:off x="676656" y="2834640"/>
            <a:ext cx="1234440" cy="548640"/>
          </a:xfrm>
          <a:prstGeom prst="roundRect">
            <a:avLst>
              <a:gd name="adj" fmla="val 10000"/>
            </a:avLst>
          </a:prstGeom>
          <a:solidFill>
            <a:srgbClr val="306998"/>
          </a:solidFill>
          <a:ln/>
        </p:spPr>
      </p:sp>
      <p:sp>
        <p:nvSpPr>
          <p:cNvPr id="7" name="Text 5"/>
          <p:cNvSpPr/>
          <p:nvPr/>
        </p:nvSpPr>
        <p:spPr>
          <a:xfrm>
            <a:off x="676656" y="2834640"/>
            <a:ext cx="12344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Trans</a:t>
            </a:r>
            <a:endParaRPr lang="en-US" sz="1300" dirty="0"/>
          </a:p>
        </p:txBody>
      </p:sp>
      <p:sp>
        <p:nvSpPr>
          <p:cNvPr id="8" name="Shape 6"/>
          <p:cNvSpPr/>
          <p:nvPr/>
        </p:nvSpPr>
        <p:spPr>
          <a:xfrm>
            <a:off x="2048256" y="2834640"/>
            <a:ext cx="1234440" cy="548640"/>
          </a:xfrm>
          <a:prstGeom prst="roundRect">
            <a:avLst>
              <a:gd name="adj" fmla="val 10000"/>
            </a:avLst>
          </a:prstGeom>
          <a:solidFill>
            <a:srgbClr val="306998"/>
          </a:solidFill>
          <a:ln/>
        </p:spPr>
      </p:sp>
      <p:sp>
        <p:nvSpPr>
          <p:cNvPr id="9" name="Text 7"/>
          <p:cNvSpPr/>
          <p:nvPr/>
        </p:nvSpPr>
        <p:spPr>
          <a:xfrm>
            <a:off x="2048256" y="2834640"/>
            <a:ext cx="12344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form</a:t>
            </a:r>
            <a:endParaRPr lang="en-US" sz="1300" dirty="0"/>
          </a:p>
        </p:txBody>
      </p:sp>
      <p:sp>
        <p:nvSpPr>
          <p:cNvPr id="10" name="Shape 8"/>
          <p:cNvSpPr/>
          <p:nvPr/>
        </p:nvSpPr>
        <p:spPr>
          <a:xfrm>
            <a:off x="3419856" y="2834640"/>
            <a:ext cx="1234440" cy="548640"/>
          </a:xfrm>
          <a:prstGeom prst="roundRect">
            <a:avLst>
              <a:gd name="adj" fmla="val 10000"/>
            </a:avLst>
          </a:prstGeom>
          <a:solidFill>
            <a:srgbClr val="306998"/>
          </a:solidFill>
          <a:ln/>
        </p:spPr>
      </p:sp>
      <p:sp>
        <p:nvSpPr>
          <p:cNvPr id="11" name="Text 9"/>
          <p:cNvSpPr/>
          <p:nvPr/>
        </p:nvSpPr>
        <p:spPr>
          <a:xfrm>
            <a:off x="3419856" y="2834640"/>
            <a:ext cx="12344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ers</a:t>
            </a:r>
            <a:endParaRPr lang="en-US" sz="1300" dirty="0"/>
          </a:p>
        </p:txBody>
      </p:sp>
      <p:sp>
        <p:nvSpPr>
          <p:cNvPr id="12" name="Shape 10"/>
          <p:cNvSpPr/>
          <p:nvPr/>
        </p:nvSpPr>
        <p:spPr>
          <a:xfrm>
            <a:off x="4791456" y="2834640"/>
            <a:ext cx="1234440" cy="548640"/>
          </a:xfrm>
          <a:prstGeom prst="roundRect">
            <a:avLst>
              <a:gd name="adj" fmla="val 10000"/>
            </a:avLst>
          </a:prstGeom>
          <a:solidFill>
            <a:srgbClr val="306998"/>
          </a:solidFill>
          <a:ln/>
        </p:spPr>
      </p:sp>
      <p:sp>
        <p:nvSpPr>
          <p:cNvPr id="13" name="Text 11"/>
          <p:cNvSpPr/>
          <p:nvPr/>
        </p:nvSpPr>
        <p:spPr>
          <a:xfrm>
            <a:off x="4791456" y="2834640"/>
            <a:ext cx="12344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are</a:t>
            </a:r>
            <a:endParaRPr lang="en-US" sz="1300" dirty="0"/>
          </a:p>
        </p:txBody>
      </p:sp>
      <p:sp>
        <p:nvSpPr>
          <p:cNvPr id="14" name="Shape 12"/>
          <p:cNvSpPr/>
          <p:nvPr/>
        </p:nvSpPr>
        <p:spPr>
          <a:xfrm>
            <a:off x="6163056" y="2834640"/>
            <a:ext cx="1234440" cy="548640"/>
          </a:xfrm>
          <a:prstGeom prst="roundRect">
            <a:avLst>
              <a:gd name="adj" fmla="val 10000"/>
            </a:avLst>
          </a:prstGeom>
          <a:solidFill>
            <a:srgbClr val="306998"/>
          </a:solidFill>
          <a:ln/>
        </p:spPr>
      </p:sp>
      <p:sp>
        <p:nvSpPr>
          <p:cNvPr id="15" name="Text 13"/>
          <p:cNvSpPr/>
          <p:nvPr/>
        </p:nvSpPr>
        <p:spPr>
          <a:xfrm>
            <a:off x="6163056" y="2834640"/>
            <a:ext cx="12344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un</a:t>
            </a:r>
            <a:endParaRPr lang="en-US" sz="1300" dirty="0"/>
          </a:p>
        </p:txBody>
      </p:sp>
      <p:sp>
        <p:nvSpPr>
          <p:cNvPr id="16" name="Shape 14"/>
          <p:cNvSpPr/>
          <p:nvPr/>
        </p:nvSpPr>
        <p:spPr>
          <a:xfrm>
            <a:off x="7534656" y="2834640"/>
            <a:ext cx="1234440" cy="548640"/>
          </a:xfrm>
          <a:prstGeom prst="roundRect">
            <a:avLst>
              <a:gd name="adj" fmla="val 10000"/>
            </a:avLst>
          </a:prstGeom>
          <a:solidFill>
            <a:srgbClr val="306998"/>
          </a:solidFill>
          <a:ln/>
        </p:spPr>
      </p:sp>
      <p:sp>
        <p:nvSpPr>
          <p:cNvPr id="17" name="Text 15"/>
          <p:cNvSpPr/>
          <p:nvPr/>
        </p:nvSpPr>
        <p:spPr>
          <a:xfrm>
            <a:off x="7534656" y="2834640"/>
            <a:ext cx="12344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stopp</a:t>
            </a:r>
            <a:endParaRPr lang="en-US" sz="1300" dirty="0"/>
          </a:p>
        </p:txBody>
      </p:sp>
      <p:sp>
        <p:nvSpPr>
          <p:cNvPr id="18" name="Shape 16"/>
          <p:cNvSpPr/>
          <p:nvPr/>
        </p:nvSpPr>
        <p:spPr>
          <a:xfrm>
            <a:off x="8906256" y="2834640"/>
            <a:ext cx="1234440" cy="548640"/>
          </a:xfrm>
          <a:prstGeom prst="roundRect">
            <a:avLst>
              <a:gd name="adj" fmla="val 10000"/>
            </a:avLst>
          </a:prstGeom>
          <a:solidFill>
            <a:srgbClr val="306998"/>
          </a:solidFill>
          <a:ln/>
        </p:spPr>
      </p:sp>
      <p:sp>
        <p:nvSpPr>
          <p:cNvPr id="19" name="Text 17"/>
          <p:cNvSpPr/>
          <p:nvPr/>
        </p:nvSpPr>
        <p:spPr>
          <a:xfrm>
            <a:off x="8906256" y="2834640"/>
            <a:ext cx="12344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able</a:t>
            </a:r>
            <a:endParaRPr lang="en-US" sz="1300" dirty="0"/>
          </a:p>
        </p:txBody>
      </p:sp>
      <p:sp>
        <p:nvSpPr>
          <p:cNvPr id="20" name="Shape 18"/>
          <p:cNvSpPr/>
          <p:nvPr/>
        </p:nvSpPr>
        <p:spPr>
          <a:xfrm>
            <a:off x="10277856" y="2834640"/>
            <a:ext cx="1234440" cy="548640"/>
          </a:xfrm>
          <a:prstGeom prst="roundRect">
            <a:avLst>
              <a:gd name="adj" fmla="val 10000"/>
            </a:avLst>
          </a:prstGeom>
          <a:solidFill>
            <a:srgbClr val="306998"/>
          </a:solidFill>
          <a:ln/>
        </p:spPr>
      </p:sp>
      <p:sp>
        <p:nvSpPr>
          <p:cNvPr id="21" name="Text 19"/>
          <p:cNvSpPr/>
          <p:nvPr/>
        </p:nvSpPr>
        <p:spPr>
          <a:xfrm>
            <a:off x="10277856" y="2834640"/>
            <a:ext cx="12344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a:t>
            </a:r>
            <a:endParaRPr lang="en-US" sz="1300" dirty="0"/>
          </a:p>
        </p:txBody>
      </p:sp>
      <p:sp>
        <p:nvSpPr>
          <p:cNvPr id="22" name="Text 20"/>
          <p:cNvSpPr/>
          <p:nvPr/>
        </p:nvSpPr>
        <p:spPr>
          <a:xfrm>
            <a:off x="548640" y="3566160"/>
            <a:ext cx="11064240" cy="27432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tokens</a:t>
            </a:r>
            <a:endParaRPr lang="en-US" sz="1050" dirty="0"/>
          </a:p>
        </p:txBody>
      </p:sp>
      <p:sp>
        <p:nvSpPr>
          <p:cNvPr id="23" name="Shape 21"/>
          <p:cNvSpPr/>
          <p:nvPr/>
        </p:nvSpPr>
        <p:spPr>
          <a:xfrm flipV="1">
            <a:off x="1293876" y="3886200"/>
            <a:ext cx="914" cy="274320"/>
          </a:xfrm>
          <a:prstGeom prst="line">
            <a:avLst/>
          </a:prstGeom>
          <a:noFill/>
          <a:ln w="15875">
            <a:solidFill>
              <a:srgbClr val="6B7280"/>
            </a:solidFill>
            <a:prstDash val="solid"/>
            <a:tailEnd type="triangle"/>
          </a:ln>
        </p:spPr>
      </p:sp>
      <p:sp>
        <p:nvSpPr>
          <p:cNvPr id="24" name="Shape 22"/>
          <p:cNvSpPr/>
          <p:nvPr/>
        </p:nvSpPr>
        <p:spPr>
          <a:xfrm flipV="1">
            <a:off x="2665476" y="3886200"/>
            <a:ext cx="914" cy="274320"/>
          </a:xfrm>
          <a:prstGeom prst="line">
            <a:avLst/>
          </a:prstGeom>
          <a:noFill/>
          <a:ln w="15875">
            <a:solidFill>
              <a:srgbClr val="6B7280"/>
            </a:solidFill>
            <a:prstDash val="solid"/>
            <a:tailEnd type="triangle"/>
          </a:ln>
        </p:spPr>
      </p:sp>
      <p:sp>
        <p:nvSpPr>
          <p:cNvPr id="25" name="Shape 23"/>
          <p:cNvSpPr/>
          <p:nvPr/>
        </p:nvSpPr>
        <p:spPr>
          <a:xfrm flipV="1">
            <a:off x="4037076" y="3886200"/>
            <a:ext cx="914" cy="274320"/>
          </a:xfrm>
          <a:prstGeom prst="line">
            <a:avLst/>
          </a:prstGeom>
          <a:noFill/>
          <a:ln w="15875">
            <a:solidFill>
              <a:srgbClr val="6B7280"/>
            </a:solidFill>
            <a:prstDash val="solid"/>
            <a:tailEnd type="triangle"/>
          </a:ln>
        </p:spPr>
      </p:sp>
      <p:sp>
        <p:nvSpPr>
          <p:cNvPr id="26" name="Shape 24"/>
          <p:cNvSpPr/>
          <p:nvPr/>
        </p:nvSpPr>
        <p:spPr>
          <a:xfrm flipV="1">
            <a:off x="5408676" y="3886200"/>
            <a:ext cx="914" cy="274320"/>
          </a:xfrm>
          <a:prstGeom prst="line">
            <a:avLst/>
          </a:prstGeom>
          <a:noFill/>
          <a:ln w="15875">
            <a:solidFill>
              <a:srgbClr val="6B7280"/>
            </a:solidFill>
            <a:prstDash val="solid"/>
            <a:tailEnd type="triangle"/>
          </a:ln>
        </p:spPr>
      </p:sp>
      <p:sp>
        <p:nvSpPr>
          <p:cNvPr id="27" name="Shape 25"/>
          <p:cNvSpPr/>
          <p:nvPr/>
        </p:nvSpPr>
        <p:spPr>
          <a:xfrm flipV="1">
            <a:off x="6780276" y="3886200"/>
            <a:ext cx="914" cy="274320"/>
          </a:xfrm>
          <a:prstGeom prst="line">
            <a:avLst/>
          </a:prstGeom>
          <a:noFill/>
          <a:ln w="15875">
            <a:solidFill>
              <a:srgbClr val="6B7280"/>
            </a:solidFill>
            <a:prstDash val="solid"/>
            <a:tailEnd type="triangle"/>
          </a:ln>
        </p:spPr>
      </p:sp>
      <p:sp>
        <p:nvSpPr>
          <p:cNvPr id="28" name="Shape 26"/>
          <p:cNvSpPr/>
          <p:nvPr/>
        </p:nvSpPr>
        <p:spPr>
          <a:xfrm flipV="1">
            <a:off x="8151876" y="3886200"/>
            <a:ext cx="914" cy="274320"/>
          </a:xfrm>
          <a:prstGeom prst="line">
            <a:avLst/>
          </a:prstGeom>
          <a:noFill/>
          <a:ln w="15875">
            <a:solidFill>
              <a:srgbClr val="6B7280"/>
            </a:solidFill>
            <a:prstDash val="solid"/>
            <a:tailEnd type="triangle"/>
          </a:ln>
        </p:spPr>
      </p:sp>
      <p:sp>
        <p:nvSpPr>
          <p:cNvPr id="29" name="Shape 27"/>
          <p:cNvSpPr/>
          <p:nvPr/>
        </p:nvSpPr>
        <p:spPr>
          <a:xfrm flipV="1">
            <a:off x="9523476" y="3886200"/>
            <a:ext cx="914" cy="274320"/>
          </a:xfrm>
          <a:prstGeom prst="line">
            <a:avLst/>
          </a:prstGeom>
          <a:noFill/>
          <a:ln w="15875">
            <a:solidFill>
              <a:srgbClr val="6B7280"/>
            </a:solidFill>
            <a:prstDash val="solid"/>
            <a:tailEnd type="triangle"/>
          </a:ln>
        </p:spPr>
      </p:sp>
      <p:sp>
        <p:nvSpPr>
          <p:cNvPr id="30" name="Shape 28"/>
          <p:cNvSpPr/>
          <p:nvPr/>
        </p:nvSpPr>
        <p:spPr>
          <a:xfrm flipV="1">
            <a:off x="10895076" y="3886200"/>
            <a:ext cx="914" cy="274320"/>
          </a:xfrm>
          <a:prstGeom prst="line">
            <a:avLst/>
          </a:prstGeom>
          <a:noFill/>
          <a:ln w="15875">
            <a:solidFill>
              <a:srgbClr val="6B7280"/>
            </a:solidFill>
            <a:prstDash val="solid"/>
            <a:tailEnd type="triangle"/>
          </a:ln>
        </p:spPr>
      </p:sp>
      <p:sp>
        <p:nvSpPr>
          <p:cNvPr id="31" name="Shape 29"/>
          <p:cNvSpPr/>
          <p:nvPr/>
        </p:nvSpPr>
        <p:spPr>
          <a:xfrm>
            <a:off x="676656" y="4457700"/>
            <a:ext cx="1234440" cy="502920"/>
          </a:xfrm>
          <a:prstGeom prst="roundRect">
            <a:avLst>
              <a:gd name="adj" fmla="val 10909"/>
            </a:avLst>
          </a:prstGeom>
          <a:solidFill>
            <a:srgbClr val="1E3A66"/>
          </a:solidFill>
          <a:ln/>
        </p:spPr>
      </p:sp>
      <p:sp>
        <p:nvSpPr>
          <p:cNvPr id="32" name="Text 30"/>
          <p:cNvSpPr/>
          <p:nvPr/>
        </p:nvSpPr>
        <p:spPr>
          <a:xfrm>
            <a:off x="676656" y="4457700"/>
            <a:ext cx="12344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14827</a:t>
            </a:r>
            <a:endParaRPr lang="en-US" sz="1250" dirty="0"/>
          </a:p>
        </p:txBody>
      </p:sp>
      <p:sp>
        <p:nvSpPr>
          <p:cNvPr id="33" name="Shape 31"/>
          <p:cNvSpPr/>
          <p:nvPr/>
        </p:nvSpPr>
        <p:spPr>
          <a:xfrm>
            <a:off x="2048256" y="4457700"/>
            <a:ext cx="1234440" cy="502920"/>
          </a:xfrm>
          <a:prstGeom prst="roundRect">
            <a:avLst>
              <a:gd name="adj" fmla="val 10909"/>
            </a:avLst>
          </a:prstGeom>
          <a:solidFill>
            <a:srgbClr val="1E3A66"/>
          </a:solidFill>
          <a:ln/>
        </p:spPr>
      </p:sp>
      <p:sp>
        <p:nvSpPr>
          <p:cNvPr id="34" name="Text 32"/>
          <p:cNvSpPr/>
          <p:nvPr/>
        </p:nvSpPr>
        <p:spPr>
          <a:xfrm>
            <a:off x="2048256" y="4457700"/>
            <a:ext cx="12344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687</a:t>
            </a:r>
            <a:endParaRPr lang="en-US" sz="1250" dirty="0"/>
          </a:p>
        </p:txBody>
      </p:sp>
      <p:sp>
        <p:nvSpPr>
          <p:cNvPr id="35" name="Shape 33"/>
          <p:cNvSpPr/>
          <p:nvPr/>
        </p:nvSpPr>
        <p:spPr>
          <a:xfrm>
            <a:off x="3419856" y="4457700"/>
            <a:ext cx="1234440" cy="502920"/>
          </a:xfrm>
          <a:prstGeom prst="roundRect">
            <a:avLst>
              <a:gd name="adj" fmla="val 10909"/>
            </a:avLst>
          </a:prstGeom>
          <a:solidFill>
            <a:srgbClr val="1E3A66"/>
          </a:solidFill>
          <a:ln/>
        </p:spPr>
      </p:sp>
      <p:sp>
        <p:nvSpPr>
          <p:cNvPr id="36" name="Text 34"/>
          <p:cNvSpPr/>
          <p:nvPr/>
        </p:nvSpPr>
        <p:spPr>
          <a:xfrm>
            <a:off x="3419856" y="4457700"/>
            <a:ext cx="12344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364</a:t>
            </a:r>
            <a:endParaRPr lang="en-US" sz="1250" dirty="0"/>
          </a:p>
        </p:txBody>
      </p:sp>
      <p:sp>
        <p:nvSpPr>
          <p:cNvPr id="37" name="Shape 35"/>
          <p:cNvSpPr/>
          <p:nvPr/>
        </p:nvSpPr>
        <p:spPr>
          <a:xfrm>
            <a:off x="4791456" y="4457700"/>
            <a:ext cx="1234440" cy="502920"/>
          </a:xfrm>
          <a:prstGeom prst="roundRect">
            <a:avLst>
              <a:gd name="adj" fmla="val 10909"/>
            </a:avLst>
          </a:prstGeom>
          <a:solidFill>
            <a:srgbClr val="1E3A66"/>
          </a:solidFill>
          <a:ln/>
        </p:spPr>
      </p:sp>
      <p:sp>
        <p:nvSpPr>
          <p:cNvPr id="38" name="Text 36"/>
          <p:cNvSpPr/>
          <p:nvPr/>
        </p:nvSpPr>
        <p:spPr>
          <a:xfrm>
            <a:off x="4791456" y="4457700"/>
            <a:ext cx="12344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389</a:t>
            </a:r>
            <a:endParaRPr lang="en-US" sz="1250" dirty="0"/>
          </a:p>
        </p:txBody>
      </p:sp>
      <p:sp>
        <p:nvSpPr>
          <p:cNvPr id="39" name="Shape 37"/>
          <p:cNvSpPr/>
          <p:nvPr/>
        </p:nvSpPr>
        <p:spPr>
          <a:xfrm>
            <a:off x="6163056" y="4457700"/>
            <a:ext cx="1234440" cy="502920"/>
          </a:xfrm>
          <a:prstGeom prst="roundRect">
            <a:avLst>
              <a:gd name="adj" fmla="val 10909"/>
            </a:avLst>
          </a:prstGeom>
          <a:solidFill>
            <a:srgbClr val="1E3A66"/>
          </a:solidFill>
          <a:ln/>
        </p:spPr>
      </p:sp>
      <p:sp>
        <p:nvSpPr>
          <p:cNvPr id="40" name="Text 38"/>
          <p:cNvSpPr/>
          <p:nvPr/>
        </p:nvSpPr>
        <p:spPr>
          <a:xfrm>
            <a:off x="6163056" y="4457700"/>
            <a:ext cx="12344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403</a:t>
            </a:r>
            <a:endParaRPr lang="en-US" sz="1250" dirty="0"/>
          </a:p>
        </p:txBody>
      </p:sp>
      <p:sp>
        <p:nvSpPr>
          <p:cNvPr id="41" name="Shape 39"/>
          <p:cNvSpPr/>
          <p:nvPr/>
        </p:nvSpPr>
        <p:spPr>
          <a:xfrm>
            <a:off x="7534656" y="4457700"/>
            <a:ext cx="1234440" cy="502920"/>
          </a:xfrm>
          <a:prstGeom prst="roundRect">
            <a:avLst>
              <a:gd name="adj" fmla="val 10909"/>
            </a:avLst>
          </a:prstGeom>
          <a:solidFill>
            <a:srgbClr val="1E3A66"/>
          </a:solidFill>
          <a:ln/>
        </p:spPr>
      </p:sp>
      <p:sp>
        <p:nvSpPr>
          <p:cNvPr id="42" name="Text 40"/>
          <p:cNvSpPr/>
          <p:nvPr/>
        </p:nvSpPr>
        <p:spPr>
          <a:xfrm>
            <a:off x="7534656" y="4457700"/>
            <a:ext cx="12344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5210</a:t>
            </a:r>
            <a:endParaRPr lang="en-US" sz="1250" dirty="0"/>
          </a:p>
        </p:txBody>
      </p:sp>
      <p:sp>
        <p:nvSpPr>
          <p:cNvPr id="43" name="Shape 41"/>
          <p:cNvSpPr/>
          <p:nvPr/>
        </p:nvSpPr>
        <p:spPr>
          <a:xfrm>
            <a:off x="8906256" y="4457700"/>
            <a:ext cx="1234440" cy="502920"/>
          </a:xfrm>
          <a:prstGeom prst="roundRect">
            <a:avLst>
              <a:gd name="adj" fmla="val 10909"/>
            </a:avLst>
          </a:prstGeom>
          <a:solidFill>
            <a:srgbClr val="1E3A66"/>
          </a:solidFill>
          <a:ln/>
        </p:spPr>
      </p:sp>
      <p:sp>
        <p:nvSpPr>
          <p:cNvPr id="44" name="Text 42"/>
          <p:cNvSpPr/>
          <p:nvPr/>
        </p:nvSpPr>
        <p:spPr>
          <a:xfrm>
            <a:off x="8906256" y="4457700"/>
            <a:ext cx="12344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1728</a:t>
            </a:r>
            <a:endParaRPr lang="en-US" sz="1250" dirty="0"/>
          </a:p>
        </p:txBody>
      </p:sp>
      <p:sp>
        <p:nvSpPr>
          <p:cNvPr id="45" name="Shape 43"/>
          <p:cNvSpPr/>
          <p:nvPr/>
        </p:nvSpPr>
        <p:spPr>
          <a:xfrm>
            <a:off x="10277856" y="4457700"/>
            <a:ext cx="1234440" cy="502920"/>
          </a:xfrm>
          <a:prstGeom prst="roundRect">
            <a:avLst>
              <a:gd name="adj" fmla="val 10909"/>
            </a:avLst>
          </a:prstGeom>
          <a:solidFill>
            <a:srgbClr val="1E3A66"/>
          </a:solidFill>
          <a:ln/>
        </p:spPr>
      </p:sp>
      <p:sp>
        <p:nvSpPr>
          <p:cNvPr id="46" name="Text 44"/>
          <p:cNvSpPr/>
          <p:nvPr/>
        </p:nvSpPr>
        <p:spPr>
          <a:xfrm>
            <a:off x="10277856" y="4457700"/>
            <a:ext cx="123444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0</a:t>
            </a:r>
            <a:endParaRPr lang="en-US" sz="1250" dirty="0"/>
          </a:p>
        </p:txBody>
      </p:sp>
      <p:sp>
        <p:nvSpPr>
          <p:cNvPr id="47" name="Text 45"/>
          <p:cNvSpPr/>
          <p:nvPr/>
        </p:nvSpPr>
        <p:spPr>
          <a:xfrm>
            <a:off x="548640" y="5093208"/>
            <a:ext cx="11064240" cy="274320"/>
          </a:xfrm>
          <a:prstGeom prst="rect">
            <a:avLst/>
          </a:prstGeom>
          <a:noFill/>
          <a:ln/>
        </p:spPr>
        <p:txBody>
          <a:bodyPr wrap="square" lIns="0" tIns="0" rIns="0" bIns="0" rtlCol="0" anchor="ctr"/>
          <a:lstStyle/>
          <a:p>
            <a:pPr algn="ctr" indent="0" marL="0">
              <a:buNone/>
            </a:pPr>
            <a:r>
              <a:rPr lang="en-US" sz="1050" i="1" dirty="0">
                <a:solidFill>
                  <a:srgbClr val="6B7280"/>
                </a:solidFill>
                <a:latin typeface="Calibri" pitchFamily="34" charset="0"/>
                <a:ea typeface="Calibri" pitchFamily="34" charset="-122"/>
                <a:cs typeface="Calibri" pitchFamily="34" charset="-120"/>
              </a:rPr>
              <a:t>token IDs — the actual numbers the model sees</a:t>
            </a:r>
            <a:endParaRPr lang="en-US" sz="1050" dirty="0"/>
          </a:p>
        </p:txBody>
      </p:sp>
      <p:sp>
        <p:nvSpPr>
          <p:cNvPr id="48" name="Shape 46"/>
          <p:cNvSpPr/>
          <p:nvPr/>
        </p:nvSpPr>
        <p:spPr>
          <a:xfrm>
            <a:off x="548640" y="5623560"/>
            <a:ext cx="11064240" cy="777240"/>
          </a:xfrm>
          <a:prstGeom prst="roundRect">
            <a:avLst>
              <a:gd name="adj" fmla="val 9412"/>
            </a:avLst>
          </a:prstGeom>
          <a:solidFill>
            <a:srgbClr val="EAF3FB"/>
          </a:solidFill>
          <a:ln/>
        </p:spPr>
      </p:sp>
      <p:sp>
        <p:nvSpPr>
          <p:cNvPr id="49" name="Text 47"/>
          <p:cNvSpPr/>
          <p:nvPr/>
        </p:nvSpPr>
        <p:spPr>
          <a:xfrm>
            <a:off x="868680" y="5623560"/>
            <a:ext cx="10424160" cy="777240"/>
          </a:xfrm>
          <a:prstGeom prst="rect">
            <a:avLst/>
          </a:prstGeom>
          <a:noFill/>
          <a:ln/>
        </p:spPr>
        <p:txBody>
          <a:bodyPr wrap="square" lIns="0" tIns="0" rIns="0" bIns="0" rtlCol="0" anchor="ctr"/>
          <a:lstStyle/>
          <a:p>
            <a:pPr indent="0" marL="0">
              <a:lnSpc>
                <a:spcPct val="125000"/>
              </a:lnSpc>
              <a:buNone/>
            </a:pPr>
            <a:r>
              <a:rPr lang="en-US" sz="1200" dirty="0">
                <a:solidFill>
                  <a:srgbClr val="23282E"/>
                </a:solidFill>
                <a:latin typeface="Calibri" pitchFamily="34" charset="0"/>
                <a:ea typeface="Calibri" pitchFamily="34" charset="-122"/>
                <a:cs typeface="Calibri" pitchFamily="34" charset="-120"/>
              </a:rPr>
              <a:t>Notice "unstoppable" got split into 3 pieces — the model has a fixed vocabulary of tokens, so rare or long words get broken into smaller familiar chunks it already knows.</a:t>
            </a:r>
            <a:endParaRPr lang="en-US" sz="1200" dirty="0"/>
          </a:p>
        </p:txBody>
      </p:sp>
      <p:sp>
        <p:nvSpPr>
          <p:cNvPr id="50" name="Text 48"/>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51" name="Text 49"/>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2 · STEP 2</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Embeddings — Turning Numbers Into Meaning</a:t>
            </a:r>
            <a:endParaRPr lang="en-US" sz="2700" dirty="0"/>
          </a:p>
        </p:txBody>
      </p:sp>
      <p:sp>
        <p:nvSpPr>
          <p:cNvPr id="4" name="Shape 2"/>
          <p:cNvSpPr/>
          <p:nvPr/>
        </p:nvSpPr>
        <p:spPr>
          <a:xfrm>
            <a:off x="548640" y="1600200"/>
            <a:ext cx="11064240" cy="2103120"/>
          </a:xfrm>
          <a:prstGeom prst="roundRect">
            <a:avLst>
              <a:gd name="adj" fmla="val 3478"/>
            </a:avLst>
          </a:prstGeom>
          <a:solidFill>
            <a:srgbClr val="F4F6F9"/>
          </a:solidFill>
          <a:ln/>
        </p:spPr>
      </p:sp>
      <p:sp>
        <p:nvSpPr>
          <p:cNvPr id="5" name="Text 3"/>
          <p:cNvSpPr/>
          <p:nvPr/>
        </p:nvSpPr>
        <p:spPr>
          <a:xfrm>
            <a:off x="868680" y="1783080"/>
            <a:ext cx="10424160" cy="1828800"/>
          </a:xfrm>
          <a:prstGeom prst="rect">
            <a:avLst/>
          </a:prstGeom>
          <a:noFill/>
          <a:ln/>
        </p:spPr>
        <p:txBody>
          <a:bodyPr wrap="square" lIns="0" tIns="0" rIns="0" bIns="0" rtlCol="0" anchor="t"/>
          <a:lstStyle/>
          <a:p>
            <a:pPr indent="0" marL="0">
              <a:lnSpc>
                <a:spcPct val="132000"/>
              </a:lnSpc>
              <a:buNone/>
            </a:pPr>
            <a:r>
              <a:rPr lang="en-US" sz="1400" dirty="0">
                <a:solidFill>
                  <a:srgbClr val="23282E"/>
                </a:solidFill>
                <a:latin typeface="Calibri" pitchFamily="34" charset="0"/>
                <a:ea typeface="Calibri" pitchFamily="34" charset="-122"/>
                <a:cs typeface="Calibri" pitchFamily="34" charset="-120"/>
              </a:rPr>
              <a:t>Token IDs are just arbitrary labels — ID 364 isn't "closer" to ID 365 in any meaningful way.  </a:t>
            </a:r>
            <a:pPr indent="0" marL="0">
              <a:lnSpc>
                <a:spcPct val="132000"/>
              </a:lnSpc>
              <a:buNone/>
            </a:pPr>
            <a:endParaRPr lang="en-US" sz="1400" dirty="0"/>
          </a:p>
          <a:p>
            <a:pPr indent="0" marL="0">
              <a:lnSpc>
                <a:spcPct val="132000"/>
              </a:lnSpc>
              <a:buNone/>
            </a:pPr>
            <a:endParaRPr lang="en-US" sz="1400" dirty="0"/>
          </a:p>
          <a:p>
            <a:pPr indent="0" marL="0">
              <a:lnSpc>
                <a:spcPct val="132000"/>
              </a:lnSpc>
              <a:buNone/>
            </a:pPr>
            <a:r>
              <a:rPr lang="en-US" sz="1400" dirty="0">
                <a:solidFill>
                  <a:srgbClr val="23282E"/>
                </a:solidFill>
                <a:latin typeface="Calibri" pitchFamily="34" charset="0"/>
                <a:ea typeface="Calibri" pitchFamily="34" charset="-122"/>
                <a:cs typeface="Calibri" pitchFamily="34" charset="-120"/>
              </a:rPr>
              <a:t>So each token ID gets converted into an embedding: a long list of numbers (a vector) that captures its MEANING. Words used in similar ways end up with similar vectors — positioned near each other in this "meaning space."</a:t>
            </a:r>
            <a:endParaRPr lang="en-US" sz="1400" dirty="0"/>
          </a:p>
        </p:txBody>
      </p:sp>
      <p:sp>
        <p:nvSpPr>
          <p:cNvPr id="6" name="Shape 4"/>
          <p:cNvSpPr/>
          <p:nvPr/>
        </p:nvSpPr>
        <p:spPr>
          <a:xfrm>
            <a:off x="548640" y="4023360"/>
            <a:ext cx="11064240" cy="1325880"/>
          </a:xfrm>
          <a:prstGeom prst="roundRect">
            <a:avLst>
              <a:gd name="adj" fmla="val 5517"/>
            </a:avLst>
          </a:prstGeom>
          <a:solidFill>
            <a:srgbClr val="FDF1E8"/>
          </a:solidFill>
          <a:ln/>
        </p:spPr>
      </p:sp>
      <p:sp>
        <p:nvSpPr>
          <p:cNvPr id="7" name="Text 5"/>
          <p:cNvSpPr/>
          <p:nvPr/>
        </p:nvSpPr>
        <p:spPr>
          <a:xfrm>
            <a:off x="868680" y="4023360"/>
            <a:ext cx="10424160" cy="1325880"/>
          </a:xfrm>
          <a:prstGeom prst="rect">
            <a:avLst/>
          </a:prstGeom>
          <a:noFill/>
          <a:ln/>
        </p:spPr>
        <p:txBody>
          <a:bodyPr wrap="square" lIns="0" tIns="0" rIns="0" bIns="0" rtlCol="0" anchor="ctr"/>
          <a:lstStyle/>
          <a:p>
            <a:pPr indent="0" marL="0">
              <a:lnSpc>
                <a:spcPct val="130000"/>
              </a:lnSpc>
              <a:buNone/>
            </a:pPr>
            <a:r>
              <a:rPr lang="en-US" sz="1450" b="1" dirty="0">
                <a:solidFill>
                  <a:srgbClr val="C24B4B"/>
                </a:solidFill>
                <a:latin typeface="Calibri" pitchFamily="34" charset="0"/>
                <a:ea typeface="Calibri" pitchFamily="34" charset="-122"/>
                <a:cs typeface="Calibri" pitchFamily="34" charset="-120"/>
              </a:rPr>
              <a:t>Think of it like GPS coordinates for meaning.  </a:t>
            </a:r>
            <a:pPr indent="0" marL="0">
              <a:lnSpc>
                <a:spcPct val="130000"/>
              </a:lnSpc>
              <a:buNone/>
            </a:pPr>
            <a:r>
              <a:rPr lang="en-US" sz="1400" dirty="0">
                <a:solidFill>
                  <a:srgbClr val="23282E"/>
                </a:solidFill>
                <a:latin typeface="Calibri" pitchFamily="34" charset="0"/>
                <a:ea typeface="Calibri" pitchFamily="34" charset="-122"/>
                <a:cs typeface="Calibri" pitchFamily="34" charset="-120"/>
              </a:rPr>
              <a:t>"Dog" and "puppy" land near each other. "Dog" and "astrophysics" land far apart. The model learned these positions entirely from reading text.</a:t>
            </a:r>
            <a:endParaRPr lang="en-US" sz="1450" dirty="0"/>
          </a:p>
        </p:txBody>
      </p:sp>
      <p:sp>
        <p:nvSpPr>
          <p:cNvPr id="8" name="Text 6"/>
          <p:cNvSpPr/>
          <p:nvPr/>
        </p:nvSpPr>
        <p:spPr>
          <a:xfrm>
            <a:off x="548640" y="5577840"/>
            <a:ext cx="11064240"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Let's actually see this space on the next slide.</a:t>
            </a:r>
            <a:endParaRPr lang="en-US" sz="1300" dirty="0"/>
          </a:p>
        </p:txBody>
      </p:sp>
      <p:sp>
        <p:nvSpPr>
          <p:cNvPr id="9" name="Text 7"/>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10" name="Text 8"/>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2 · VISUALIZING MEANING</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A Peek Inside "Meaning Space"</a:t>
            </a:r>
            <a:endParaRPr lang="en-US" sz="2700" dirty="0"/>
          </a:p>
        </p:txBody>
      </p:sp>
      <p:sp>
        <p:nvSpPr>
          <p:cNvPr id="4" name="Text 2"/>
          <p:cNvSpPr/>
          <p:nvPr/>
        </p:nvSpPr>
        <p:spPr>
          <a:xfrm>
            <a:off x="548640" y="1536192"/>
            <a:ext cx="11064240" cy="457200"/>
          </a:xfrm>
          <a:prstGeom prst="rect">
            <a:avLst/>
          </a:prstGeom>
          <a:noFill/>
          <a:ln/>
        </p:spPr>
        <p:txBody>
          <a:bodyPr wrap="square" lIns="0" tIns="0" rIns="0" bIns="0"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Real embeddings have hundreds of dimensions — impossible to draw. Here's a simplified 2D sketch of the IDEA.</a:t>
            </a:r>
            <a:endParaRPr lang="en-US" sz="1300" dirty="0"/>
          </a:p>
        </p:txBody>
      </p:sp>
      <p:sp>
        <p:nvSpPr>
          <p:cNvPr id="5" name="Shape 3"/>
          <p:cNvSpPr/>
          <p:nvPr/>
        </p:nvSpPr>
        <p:spPr>
          <a:xfrm>
            <a:off x="548640" y="2103120"/>
            <a:ext cx="11064240" cy="3566160"/>
          </a:xfrm>
          <a:prstGeom prst="roundRect">
            <a:avLst>
              <a:gd name="adj" fmla="val 2051"/>
            </a:avLst>
          </a:prstGeom>
          <a:solidFill>
            <a:srgbClr val="F4F6F9"/>
          </a:solidFill>
          <a:ln w="12700">
            <a:solidFill>
              <a:srgbClr val="D8DEE6"/>
            </a:solidFill>
            <a:prstDash val="solid"/>
          </a:ln>
        </p:spPr>
      </p:sp>
      <p:sp>
        <p:nvSpPr>
          <p:cNvPr id="6" name="Shape 4"/>
          <p:cNvSpPr/>
          <p:nvPr/>
        </p:nvSpPr>
        <p:spPr>
          <a:xfrm>
            <a:off x="2660904" y="2752344"/>
            <a:ext cx="164592" cy="164592"/>
          </a:xfrm>
          <a:prstGeom prst="ellipse">
            <a:avLst/>
          </a:prstGeom>
          <a:solidFill>
            <a:srgbClr val="306998"/>
          </a:solidFill>
          <a:ln/>
        </p:spPr>
      </p:sp>
      <p:sp>
        <p:nvSpPr>
          <p:cNvPr id="7" name="Text 5"/>
          <p:cNvSpPr/>
          <p:nvPr/>
        </p:nvSpPr>
        <p:spPr>
          <a:xfrm>
            <a:off x="2660904" y="2752344"/>
            <a:ext cx="164592" cy="164592"/>
          </a:xfrm>
          <a:prstGeom prst="rect">
            <a:avLst/>
          </a:prstGeom>
          <a:noFill/>
          <a:ln/>
        </p:spPr>
        <p:txBody>
          <a:bodyPr wrap="square" lIns="0" tIns="0" rIns="0" bIns="0" rtlCol="0" anchor="ctr"/>
          <a:lstStyle/>
          <a:p>
            <a:pPr algn="ctr" indent="0" marL="0">
              <a:buNone/>
            </a:pPr>
            <a:endParaRPr lang="en-US" sz="800" dirty="0"/>
          </a:p>
        </p:txBody>
      </p:sp>
      <p:sp>
        <p:nvSpPr>
          <p:cNvPr id="8" name="Text 6"/>
          <p:cNvSpPr/>
          <p:nvPr/>
        </p:nvSpPr>
        <p:spPr>
          <a:xfrm>
            <a:off x="2194560" y="2944368"/>
            <a:ext cx="1097280" cy="274320"/>
          </a:xfrm>
          <a:prstGeom prst="rect">
            <a:avLst/>
          </a:prstGeom>
          <a:noFill/>
          <a:ln/>
        </p:spPr>
        <p:txBody>
          <a:bodyPr wrap="square" lIns="0" tIns="0" rIns="0" bIns="0" rtlCol="0" anchor="ctr"/>
          <a:lstStyle/>
          <a:p>
            <a:pPr algn="ctr" indent="0" marL="0">
              <a:buNone/>
            </a:pPr>
            <a:r>
              <a:rPr lang="en-US" sz="1250" b="1" dirty="0">
                <a:solidFill>
                  <a:srgbClr val="23282E"/>
                </a:solidFill>
                <a:latin typeface="Calibri" pitchFamily="34" charset="0"/>
                <a:ea typeface="Calibri" pitchFamily="34" charset="-122"/>
                <a:cs typeface="Calibri" pitchFamily="34" charset="-120"/>
              </a:rPr>
              <a:t>king</a:t>
            </a:r>
            <a:endParaRPr lang="en-US" sz="1250" dirty="0"/>
          </a:p>
        </p:txBody>
      </p:sp>
      <p:sp>
        <p:nvSpPr>
          <p:cNvPr id="9" name="Shape 7"/>
          <p:cNvSpPr/>
          <p:nvPr/>
        </p:nvSpPr>
        <p:spPr>
          <a:xfrm>
            <a:off x="3300984" y="2432304"/>
            <a:ext cx="164592" cy="164592"/>
          </a:xfrm>
          <a:prstGeom prst="ellipse">
            <a:avLst/>
          </a:prstGeom>
          <a:solidFill>
            <a:srgbClr val="306998"/>
          </a:solidFill>
          <a:ln/>
        </p:spPr>
      </p:sp>
      <p:sp>
        <p:nvSpPr>
          <p:cNvPr id="10" name="Text 8"/>
          <p:cNvSpPr/>
          <p:nvPr/>
        </p:nvSpPr>
        <p:spPr>
          <a:xfrm>
            <a:off x="3300984" y="2432304"/>
            <a:ext cx="164592" cy="164592"/>
          </a:xfrm>
          <a:prstGeom prst="rect">
            <a:avLst/>
          </a:prstGeom>
          <a:noFill/>
          <a:ln/>
        </p:spPr>
        <p:txBody>
          <a:bodyPr wrap="square" lIns="0" tIns="0" rIns="0" bIns="0" rtlCol="0" anchor="ctr"/>
          <a:lstStyle/>
          <a:p>
            <a:pPr algn="ctr" indent="0" marL="0">
              <a:buNone/>
            </a:pPr>
            <a:endParaRPr lang="en-US" sz="800" dirty="0"/>
          </a:p>
        </p:txBody>
      </p:sp>
      <p:sp>
        <p:nvSpPr>
          <p:cNvPr id="11" name="Text 9"/>
          <p:cNvSpPr/>
          <p:nvPr/>
        </p:nvSpPr>
        <p:spPr>
          <a:xfrm>
            <a:off x="2834640" y="2624328"/>
            <a:ext cx="1097280" cy="274320"/>
          </a:xfrm>
          <a:prstGeom prst="rect">
            <a:avLst/>
          </a:prstGeom>
          <a:noFill/>
          <a:ln/>
        </p:spPr>
        <p:txBody>
          <a:bodyPr wrap="square" lIns="0" tIns="0" rIns="0" bIns="0" rtlCol="0" anchor="ctr"/>
          <a:lstStyle/>
          <a:p>
            <a:pPr algn="ctr" indent="0" marL="0">
              <a:buNone/>
            </a:pPr>
            <a:r>
              <a:rPr lang="en-US" sz="1250" b="1" dirty="0">
                <a:solidFill>
                  <a:srgbClr val="23282E"/>
                </a:solidFill>
                <a:latin typeface="Calibri" pitchFamily="34" charset="0"/>
                <a:ea typeface="Calibri" pitchFamily="34" charset="-122"/>
                <a:cs typeface="Calibri" pitchFamily="34" charset="-120"/>
              </a:rPr>
              <a:t>queen</a:t>
            </a:r>
            <a:endParaRPr lang="en-US" sz="1250" dirty="0"/>
          </a:p>
        </p:txBody>
      </p:sp>
      <p:sp>
        <p:nvSpPr>
          <p:cNvPr id="12" name="Shape 10"/>
          <p:cNvSpPr/>
          <p:nvPr/>
        </p:nvSpPr>
        <p:spPr>
          <a:xfrm>
            <a:off x="2203704" y="3209544"/>
            <a:ext cx="164592" cy="164592"/>
          </a:xfrm>
          <a:prstGeom prst="ellipse">
            <a:avLst/>
          </a:prstGeom>
          <a:solidFill>
            <a:srgbClr val="306998"/>
          </a:solidFill>
          <a:ln/>
        </p:spPr>
      </p:sp>
      <p:sp>
        <p:nvSpPr>
          <p:cNvPr id="13" name="Text 11"/>
          <p:cNvSpPr/>
          <p:nvPr/>
        </p:nvSpPr>
        <p:spPr>
          <a:xfrm>
            <a:off x="2203704" y="3209544"/>
            <a:ext cx="164592" cy="164592"/>
          </a:xfrm>
          <a:prstGeom prst="rect">
            <a:avLst/>
          </a:prstGeom>
          <a:noFill/>
          <a:ln/>
        </p:spPr>
        <p:txBody>
          <a:bodyPr wrap="square" lIns="0" tIns="0" rIns="0" bIns="0" rtlCol="0" anchor="ctr"/>
          <a:lstStyle/>
          <a:p>
            <a:pPr algn="ctr" indent="0" marL="0">
              <a:buNone/>
            </a:pPr>
            <a:endParaRPr lang="en-US" sz="800" dirty="0"/>
          </a:p>
        </p:txBody>
      </p:sp>
      <p:sp>
        <p:nvSpPr>
          <p:cNvPr id="14" name="Text 12"/>
          <p:cNvSpPr/>
          <p:nvPr/>
        </p:nvSpPr>
        <p:spPr>
          <a:xfrm>
            <a:off x="1737360" y="3401568"/>
            <a:ext cx="1097280" cy="274320"/>
          </a:xfrm>
          <a:prstGeom prst="rect">
            <a:avLst/>
          </a:prstGeom>
          <a:noFill/>
          <a:ln/>
        </p:spPr>
        <p:txBody>
          <a:bodyPr wrap="square" lIns="0" tIns="0" rIns="0" bIns="0" rtlCol="0" anchor="ctr"/>
          <a:lstStyle/>
          <a:p>
            <a:pPr algn="ctr" indent="0" marL="0">
              <a:buNone/>
            </a:pPr>
            <a:r>
              <a:rPr lang="en-US" sz="1250" b="1" dirty="0">
                <a:solidFill>
                  <a:srgbClr val="23282E"/>
                </a:solidFill>
                <a:latin typeface="Calibri" pitchFamily="34" charset="0"/>
                <a:ea typeface="Calibri" pitchFamily="34" charset="-122"/>
                <a:cs typeface="Calibri" pitchFamily="34" charset="-120"/>
              </a:rPr>
              <a:t>prince</a:t>
            </a:r>
            <a:endParaRPr lang="en-US" sz="1250" dirty="0"/>
          </a:p>
        </p:txBody>
      </p:sp>
      <p:sp>
        <p:nvSpPr>
          <p:cNvPr id="15" name="Shape 13"/>
          <p:cNvSpPr/>
          <p:nvPr/>
        </p:nvSpPr>
        <p:spPr>
          <a:xfrm>
            <a:off x="8695944" y="4398264"/>
            <a:ext cx="164592" cy="164592"/>
          </a:xfrm>
          <a:prstGeom prst="ellipse">
            <a:avLst/>
          </a:prstGeom>
          <a:solidFill>
            <a:srgbClr val="306998"/>
          </a:solidFill>
          <a:ln/>
        </p:spPr>
      </p:sp>
      <p:sp>
        <p:nvSpPr>
          <p:cNvPr id="16" name="Text 14"/>
          <p:cNvSpPr/>
          <p:nvPr/>
        </p:nvSpPr>
        <p:spPr>
          <a:xfrm>
            <a:off x="8695944" y="4398264"/>
            <a:ext cx="164592" cy="164592"/>
          </a:xfrm>
          <a:prstGeom prst="rect">
            <a:avLst/>
          </a:prstGeom>
          <a:noFill/>
          <a:ln/>
        </p:spPr>
        <p:txBody>
          <a:bodyPr wrap="square" lIns="0" tIns="0" rIns="0" bIns="0" rtlCol="0" anchor="ctr"/>
          <a:lstStyle/>
          <a:p>
            <a:pPr algn="ctr" indent="0" marL="0">
              <a:buNone/>
            </a:pPr>
            <a:endParaRPr lang="en-US" sz="800" dirty="0"/>
          </a:p>
        </p:txBody>
      </p:sp>
      <p:sp>
        <p:nvSpPr>
          <p:cNvPr id="17" name="Text 15"/>
          <p:cNvSpPr/>
          <p:nvPr/>
        </p:nvSpPr>
        <p:spPr>
          <a:xfrm>
            <a:off x="8229600" y="4590288"/>
            <a:ext cx="1097280" cy="274320"/>
          </a:xfrm>
          <a:prstGeom prst="rect">
            <a:avLst/>
          </a:prstGeom>
          <a:noFill/>
          <a:ln/>
        </p:spPr>
        <p:txBody>
          <a:bodyPr wrap="square" lIns="0" tIns="0" rIns="0" bIns="0" rtlCol="0" anchor="ctr"/>
          <a:lstStyle/>
          <a:p>
            <a:pPr algn="ctr" indent="0" marL="0">
              <a:buNone/>
            </a:pPr>
            <a:r>
              <a:rPr lang="en-US" sz="1250" b="1" dirty="0">
                <a:solidFill>
                  <a:srgbClr val="23282E"/>
                </a:solidFill>
                <a:latin typeface="Calibri" pitchFamily="34" charset="0"/>
                <a:ea typeface="Calibri" pitchFamily="34" charset="-122"/>
                <a:cs typeface="Calibri" pitchFamily="34" charset="-120"/>
              </a:rPr>
              <a:t>dog</a:t>
            </a:r>
            <a:endParaRPr lang="en-US" sz="1250" dirty="0"/>
          </a:p>
        </p:txBody>
      </p:sp>
      <p:sp>
        <p:nvSpPr>
          <p:cNvPr id="18" name="Shape 16"/>
          <p:cNvSpPr/>
          <p:nvPr/>
        </p:nvSpPr>
        <p:spPr>
          <a:xfrm>
            <a:off x="9244584" y="4078224"/>
            <a:ext cx="164592" cy="164592"/>
          </a:xfrm>
          <a:prstGeom prst="ellipse">
            <a:avLst/>
          </a:prstGeom>
          <a:solidFill>
            <a:srgbClr val="306998"/>
          </a:solidFill>
          <a:ln/>
        </p:spPr>
      </p:sp>
      <p:sp>
        <p:nvSpPr>
          <p:cNvPr id="19" name="Text 17"/>
          <p:cNvSpPr/>
          <p:nvPr/>
        </p:nvSpPr>
        <p:spPr>
          <a:xfrm>
            <a:off x="9244584" y="4078224"/>
            <a:ext cx="164592" cy="164592"/>
          </a:xfrm>
          <a:prstGeom prst="rect">
            <a:avLst/>
          </a:prstGeom>
          <a:noFill/>
          <a:ln/>
        </p:spPr>
        <p:txBody>
          <a:bodyPr wrap="square" lIns="0" tIns="0" rIns="0" bIns="0" rtlCol="0" anchor="ctr"/>
          <a:lstStyle/>
          <a:p>
            <a:pPr algn="ctr" indent="0" marL="0">
              <a:buNone/>
            </a:pPr>
            <a:endParaRPr lang="en-US" sz="800" dirty="0"/>
          </a:p>
        </p:txBody>
      </p:sp>
      <p:sp>
        <p:nvSpPr>
          <p:cNvPr id="20" name="Text 18"/>
          <p:cNvSpPr/>
          <p:nvPr/>
        </p:nvSpPr>
        <p:spPr>
          <a:xfrm>
            <a:off x="8778240" y="4270248"/>
            <a:ext cx="1097280" cy="274320"/>
          </a:xfrm>
          <a:prstGeom prst="rect">
            <a:avLst/>
          </a:prstGeom>
          <a:noFill/>
          <a:ln/>
        </p:spPr>
        <p:txBody>
          <a:bodyPr wrap="square" lIns="0" tIns="0" rIns="0" bIns="0" rtlCol="0" anchor="ctr"/>
          <a:lstStyle/>
          <a:p>
            <a:pPr algn="ctr" indent="0" marL="0">
              <a:buNone/>
            </a:pPr>
            <a:r>
              <a:rPr lang="en-US" sz="1250" b="1" dirty="0">
                <a:solidFill>
                  <a:srgbClr val="23282E"/>
                </a:solidFill>
                <a:latin typeface="Calibri" pitchFamily="34" charset="0"/>
                <a:ea typeface="Calibri" pitchFamily="34" charset="-122"/>
                <a:cs typeface="Calibri" pitchFamily="34" charset="-120"/>
              </a:rPr>
              <a:t>puppy</a:t>
            </a:r>
            <a:endParaRPr lang="en-US" sz="1250" dirty="0"/>
          </a:p>
        </p:txBody>
      </p:sp>
      <p:sp>
        <p:nvSpPr>
          <p:cNvPr id="21" name="Shape 19"/>
          <p:cNvSpPr/>
          <p:nvPr/>
        </p:nvSpPr>
        <p:spPr>
          <a:xfrm>
            <a:off x="8238744" y="4809744"/>
            <a:ext cx="164592" cy="164592"/>
          </a:xfrm>
          <a:prstGeom prst="ellipse">
            <a:avLst/>
          </a:prstGeom>
          <a:solidFill>
            <a:srgbClr val="306998"/>
          </a:solidFill>
          <a:ln/>
        </p:spPr>
      </p:sp>
      <p:sp>
        <p:nvSpPr>
          <p:cNvPr id="22" name="Text 20"/>
          <p:cNvSpPr/>
          <p:nvPr/>
        </p:nvSpPr>
        <p:spPr>
          <a:xfrm>
            <a:off x="8238744" y="4809744"/>
            <a:ext cx="164592" cy="164592"/>
          </a:xfrm>
          <a:prstGeom prst="rect">
            <a:avLst/>
          </a:prstGeom>
          <a:noFill/>
          <a:ln/>
        </p:spPr>
        <p:txBody>
          <a:bodyPr wrap="square" lIns="0" tIns="0" rIns="0" bIns="0" rtlCol="0" anchor="ctr"/>
          <a:lstStyle/>
          <a:p>
            <a:pPr algn="ctr" indent="0" marL="0">
              <a:buNone/>
            </a:pPr>
            <a:endParaRPr lang="en-US" sz="800" dirty="0"/>
          </a:p>
        </p:txBody>
      </p:sp>
      <p:sp>
        <p:nvSpPr>
          <p:cNvPr id="23" name="Text 21"/>
          <p:cNvSpPr/>
          <p:nvPr/>
        </p:nvSpPr>
        <p:spPr>
          <a:xfrm>
            <a:off x="7772400" y="5001768"/>
            <a:ext cx="1097280" cy="274320"/>
          </a:xfrm>
          <a:prstGeom prst="rect">
            <a:avLst/>
          </a:prstGeom>
          <a:noFill/>
          <a:ln/>
        </p:spPr>
        <p:txBody>
          <a:bodyPr wrap="square" lIns="0" tIns="0" rIns="0" bIns="0" rtlCol="0" anchor="ctr"/>
          <a:lstStyle/>
          <a:p>
            <a:pPr algn="ctr" indent="0" marL="0">
              <a:buNone/>
            </a:pPr>
            <a:r>
              <a:rPr lang="en-US" sz="1250" b="1" dirty="0">
                <a:solidFill>
                  <a:srgbClr val="23282E"/>
                </a:solidFill>
                <a:latin typeface="Calibri" pitchFamily="34" charset="0"/>
                <a:ea typeface="Calibri" pitchFamily="34" charset="-122"/>
                <a:cs typeface="Calibri" pitchFamily="34" charset="-120"/>
              </a:rPr>
              <a:t>cat</a:t>
            </a:r>
            <a:endParaRPr lang="en-US" sz="1250" dirty="0"/>
          </a:p>
        </p:txBody>
      </p:sp>
      <p:sp>
        <p:nvSpPr>
          <p:cNvPr id="24" name="Shape 22"/>
          <p:cNvSpPr/>
          <p:nvPr/>
        </p:nvSpPr>
        <p:spPr>
          <a:xfrm>
            <a:off x="5952744" y="2660904"/>
            <a:ext cx="164592" cy="164592"/>
          </a:xfrm>
          <a:prstGeom prst="ellipse">
            <a:avLst/>
          </a:prstGeom>
          <a:solidFill>
            <a:srgbClr val="306998"/>
          </a:solidFill>
          <a:ln/>
        </p:spPr>
      </p:sp>
      <p:sp>
        <p:nvSpPr>
          <p:cNvPr id="25" name="Text 23"/>
          <p:cNvSpPr/>
          <p:nvPr/>
        </p:nvSpPr>
        <p:spPr>
          <a:xfrm>
            <a:off x="5952744" y="2660904"/>
            <a:ext cx="164592" cy="164592"/>
          </a:xfrm>
          <a:prstGeom prst="rect">
            <a:avLst/>
          </a:prstGeom>
          <a:noFill/>
          <a:ln/>
        </p:spPr>
        <p:txBody>
          <a:bodyPr wrap="square" lIns="0" tIns="0" rIns="0" bIns="0" rtlCol="0" anchor="ctr"/>
          <a:lstStyle/>
          <a:p>
            <a:pPr algn="ctr" indent="0" marL="0">
              <a:buNone/>
            </a:pPr>
            <a:endParaRPr lang="en-US" sz="800" dirty="0"/>
          </a:p>
        </p:txBody>
      </p:sp>
      <p:sp>
        <p:nvSpPr>
          <p:cNvPr id="26" name="Text 24"/>
          <p:cNvSpPr/>
          <p:nvPr/>
        </p:nvSpPr>
        <p:spPr>
          <a:xfrm>
            <a:off x="5486400" y="2852928"/>
            <a:ext cx="1097280" cy="274320"/>
          </a:xfrm>
          <a:prstGeom prst="rect">
            <a:avLst/>
          </a:prstGeom>
          <a:noFill/>
          <a:ln/>
        </p:spPr>
        <p:txBody>
          <a:bodyPr wrap="square" lIns="0" tIns="0" rIns="0" bIns="0" rtlCol="0" anchor="ctr"/>
          <a:lstStyle/>
          <a:p>
            <a:pPr algn="ctr" indent="0" marL="0">
              <a:buNone/>
            </a:pPr>
            <a:r>
              <a:rPr lang="en-US" sz="1250" b="1" dirty="0">
                <a:solidFill>
                  <a:srgbClr val="23282E"/>
                </a:solidFill>
                <a:latin typeface="Calibri" pitchFamily="34" charset="0"/>
                <a:ea typeface="Calibri" pitchFamily="34" charset="-122"/>
                <a:cs typeface="Calibri" pitchFamily="34" charset="-120"/>
              </a:rPr>
              <a:t>galaxy</a:t>
            </a:r>
            <a:endParaRPr lang="en-US" sz="1250" dirty="0"/>
          </a:p>
        </p:txBody>
      </p:sp>
      <p:sp>
        <p:nvSpPr>
          <p:cNvPr id="27" name="Shape 25"/>
          <p:cNvSpPr/>
          <p:nvPr/>
        </p:nvSpPr>
        <p:spPr>
          <a:xfrm>
            <a:off x="4123944" y="3941064"/>
            <a:ext cx="164592" cy="164592"/>
          </a:xfrm>
          <a:prstGeom prst="ellipse">
            <a:avLst/>
          </a:prstGeom>
          <a:solidFill>
            <a:srgbClr val="1E3A66"/>
          </a:solidFill>
          <a:ln/>
        </p:spPr>
      </p:sp>
      <p:sp>
        <p:nvSpPr>
          <p:cNvPr id="28" name="Text 26"/>
          <p:cNvSpPr/>
          <p:nvPr/>
        </p:nvSpPr>
        <p:spPr>
          <a:xfrm>
            <a:off x="4123944" y="3941064"/>
            <a:ext cx="164592" cy="164592"/>
          </a:xfrm>
          <a:prstGeom prst="rect">
            <a:avLst/>
          </a:prstGeom>
          <a:noFill/>
          <a:ln/>
        </p:spPr>
        <p:txBody>
          <a:bodyPr wrap="square" lIns="0" tIns="0" rIns="0" bIns="0" rtlCol="0" anchor="ctr"/>
          <a:lstStyle/>
          <a:p>
            <a:pPr algn="ctr" indent="0" marL="0">
              <a:buNone/>
            </a:pPr>
            <a:endParaRPr lang="en-US" sz="800" dirty="0"/>
          </a:p>
        </p:txBody>
      </p:sp>
      <p:sp>
        <p:nvSpPr>
          <p:cNvPr id="29" name="Text 27"/>
          <p:cNvSpPr/>
          <p:nvPr/>
        </p:nvSpPr>
        <p:spPr>
          <a:xfrm>
            <a:off x="3657600" y="4133088"/>
            <a:ext cx="1097280" cy="274320"/>
          </a:xfrm>
          <a:prstGeom prst="rect">
            <a:avLst/>
          </a:prstGeom>
          <a:noFill/>
          <a:ln/>
        </p:spPr>
        <p:txBody>
          <a:bodyPr wrap="square" lIns="0" tIns="0" rIns="0" bIns="0" rtlCol="0" anchor="ctr"/>
          <a:lstStyle/>
          <a:p>
            <a:pPr algn="ctr" indent="0" marL="0">
              <a:buNone/>
            </a:pPr>
            <a:r>
              <a:rPr lang="en-US" sz="1250" b="1" dirty="0">
                <a:solidFill>
                  <a:srgbClr val="23282E"/>
                </a:solidFill>
                <a:latin typeface="Calibri" pitchFamily="34" charset="0"/>
                <a:ea typeface="Calibri" pitchFamily="34" charset="-122"/>
                <a:cs typeface="Calibri" pitchFamily="34" charset="-120"/>
              </a:rPr>
              <a:t>man</a:t>
            </a:r>
            <a:endParaRPr lang="en-US" sz="1250" dirty="0"/>
          </a:p>
        </p:txBody>
      </p:sp>
      <p:sp>
        <p:nvSpPr>
          <p:cNvPr id="30" name="Shape 28"/>
          <p:cNvSpPr/>
          <p:nvPr/>
        </p:nvSpPr>
        <p:spPr>
          <a:xfrm>
            <a:off x="4764024" y="3621024"/>
            <a:ext cx="164592" cy="164592"/>
          </a:xfrm>
          <a:prstGeom prst="ellipse">
            <a:avLst/>
          </a:prstGeom>
          <a:solidFill>
            <a:srgbClr val="1E3A66"/>
          </a:solidFill>
          <a:ln/>
        </p:spPr>
      </p:sp>
      <p:sp>
        <p:nvSpPr>
          <p:cNvPr id="31" name="Text 29"/>
          <p:cNvSpPr/>
          <p:nvPr/>
        </p:nvSpPr>
        <p:spPr>
          <a:xfrm>
            <a:off x="4764024" y="3621024"/>
            <a:ext cx="164592" cy="164592"/>
          </a:xfrm>
          <a:prstGeom prst="rect">
            <a:avLst/>
          </a:prstGeom>
          <a:noFill/>
          <a:ln/>
        </p:spPr>
        <p:txBody>
          <a:bodyPr wrap="square" lIns="0" tIns="0" rIns="0" bIns="0" rtlCol="0" anchor="ctr"/>
          <a:lstStyle/>
          <a:p>
            <a:pPr algn="ctr" indent="0" marL="0">
              <a:buNone/>
            </a:pPr>
            <a:endParaRPr lang="en-US" sz="800" dirty="0"/>
          </a:p>
        </p:txBody>
      </p:sp>
      <p:sp>
        <p:nvSpPr>
          <p:cNvPr id="32" name="Text 30"/>
          <p:cNvSpPr/>
          <p:nvPr/>
        </p:nvSpPr>
        <p:spPr>
          <a:xfrm>
            <a:off x="4297680" y="3813048"/>
            <a:ext cx="1097280" cy="274320"/>
          </a:xfrm>
          <a:prstGeom prst="rect">
            <a:avLst/>
          </a:prstGeom>
          <a:noFill/>
          <a:ln/>
        </p:spPr>
        <p:txBody>
          <a:bodyPr wrap="square" lIns="0" tIns="0" rIns="0" bIns="0" rtlCol="0" anchor="ctr"/>
          <a:lstStyle/>
          <a:p>
            <a:pPr algn="ctr" indent="0" marL="0">
              <a:buNone/>
            </a:pPr>
            <a:r>
              <a:rPr lang="en-US" sz="1250" b="1" dirty="0">
                <a:solidFill>
                  <a:srgbClr val="23282E"/>
                </a:solidFill>
                <a:latin typeface="Calibri" pitchFamily="34" charset="0"/>
                <a:ea typeface="Calibri" pitchFamily="34" charset="-122"/>
                <a:cs typeface="Calibri" pitchFamily="34" charset="-120"/>
              </a:rPr>
              <a:t>woman</a:t>
            </a:r>
            <a:endParaRPr lang="en-US" sz="1250" dirty="0"/>
          </a:p>
        </p:txBody>
      </p:sp>
      <p:sp>
        <p:nvSpPr>
          <p:cNvPr id="33" name="Shape 31"/>
          <p:cNvSpPr/>
          <p:nvPr/>
        </p:nvSpPr>
        <p:spPr>
          <a:xfrm flipV="1">
            <a:off x="2743200" y="2514600"/>
            <a:ext cx="640080" cy="320040"/>
          </a:xfrm>
          <a:prstGeom prst="line">
            <a:avLst/>
          </a:prstGeom>
          <a:noFill/>
          <a:ln w="28575">
            <a:solidFill>
              <a:srgbClr val="E8B923"/>
            </a:solidFill>
            <a:prstDash val="solid"/>
            <a:tailEnd type="triangle"/>
          </a:ln>
        </p:spPr>
      </p:sp>
      <p:sp>
        <p:nvSpPr>
          <p:cNvPr id="34" name="Shape 32"/>
          <p:cNvSpPr/>
          <p:nvPr/>
        </p:nvSpPr>
        <p:spPr>
          <a:xfrm flipV="1">
            <a:off x="4206240" y="3703320"/>
            <a:ext cx="640080" cy="320040"/>
          </a:xfrm>
          <a:prstGeom prst="line">
            <a:avLst/>
          </a:prstGeom>
          <a:noFill/>
          <a:ln w="28575">
            <a:solidFill>
              <a:srgbClr val="E8B923"/>
            </a:solidFill>
            <a:prstDash val="dash"/>
            <a:tailEnd type="triangle"/>
          </a:ln>
        </p:spPr>
      </p:sp>
      <p:sp>
        <p:nvSpPr>
          <p:cNvPr id="35" name="Text 33"/>
          <p:cNvSpPr/>
          <p:nvPr/>
        </p:nvSpPr>
        <p:spPr>
          <a:xfrm>
            <a:off x="2651760" y="2148840"/>
            <a:ext cx="1645920" cy="274320"/>
          </a:xfrm>
          <a:prstGeom prst="rect">
            <a:avLst/>
          </a:prstGeom>
          <a:noFill/>
          <a:ln/>
        </p:spPr>
        <p:txBody>
          <a:bodyPr wrap="square" lIns="0" tIns="0" rIns="0" bIns="0" rtlCol="0" anchor="ctr"/>
          <a:lstStyle/>
          <a:p>
            <a:pPr indent="0" marL="0">
              <a:buNone/>
            </a:pPr>
            <a:r>
              <a:rPr lang="en-US" sz="1050" i="1" dirty="0">
                <a:solidFill>
                  <a:srgbClr val="AD8A1D"/>
                </a:solidFill>
                <a:latin typeface="Calibri" pitchFamily="34" charset="0"/>
                <a:ea typeface="Calibri" pitchFamily="34" charset="-122"/>
                <a:cs typeface="Calibri" pitchFamily="34" charset="-120"/>
              </a:rPr>
              <a:t>king → queen</a:t>
            </a:r>
            <a:endParaRPr lang="en-US" sz="1050" dirty="0"/>
          </a:p>
        </p:txBody>
      </p:sp>
      <p:sp>
        <p:nvSpPr>
          <p:cNvPr id="36" name="Text 34"/>
          <p:cNvSpPr/>
          <p:nvPr/>
        </p:nvSpPr>
        <p:spPr>
          <a:xfrm>
            <a:off x="3977640" y="4251960"/>
            <a:ext cx="1828800" cy="502920"/>
          </a:xfrm>
          <a:prstGeom prst="rect">
            <a:avLst/>
          </a:prstGeom>
          <a:noFill/>
          <a:ln/>
        </p:spPr>
        <p:txBody>
          <a:bodyPr wrap="square" lIns="0" tIns="0" rIns="0" bIns="0" rtlCol="0" anchor="ctr"/>
          <a:lstStyle/>
          <a:p>
            <a:pPr indent="0" marL="0">
              <a:lnSpc>
                <a:spcPct val="110000"/>
              </a:lnSpc>
              <a:buNone/>
            </a:pPr>
            <a:r>
              <a:rPr lang="en-US" sz="1000" i="1" dirty="0">
                <a:solidFill>
                  <a:srgbClr val="AD8A1D"/>
                </a:solidFill>
                <a:latin typeface="Calibri" pitchFamily="34" charset="0"/>
                <a:ea typeface="Calibri" pitchFamily="34" charset="-122"/>
                <a:cs typeface="Calibri" pitchFamily="34" charset="-120"/>
              </a:rPr>
              <a:t>man → woman</a:t>
            </a:r>
            <a:endParaRPr lang="en-US" sz="1000" dirty="0"/>
          </a:p>
          <a:p>
            <a:pPr indent="0" marL="0">
              <a:lnSpc>
                <a:spcPct val="110000"/>
              </a:lnSpc>
              <a:buNone/>
            </a:pPr>
            <a:r>
              <a:rPr lang="en-US" sz="1000" i="1" dirty="0">
                <a:solidFill>
                  <a:srgbClr val="AD8A1D"/>
                </a:solidFill>
                <a:latin typeface="Calibri" pitchFamily="34" charset="0"/>
                <a:ea typeface="Calibri" pitchFamily="34" charset="-122"/>
                <a:cs typeface="Calibri" pitchFamily="34" charset="-120"/>
              </a:rPr>
              <a:t>(same direction!)</a:t>
            </a:r>
            <a:endParaRPr lang="en-US" sz="1000" dirty="0"/>
          </a:p>
        </p:txBody>
      </p:sp>
      <p:sp>
        <p:nvSpPr>
          <p:cNvPr id="37" name="Text 35"/>
          <p:cNvSpPr/>
          <p:nvPr/>
        </p:nvSpPr>
        <p:spPr>
          <a:xfrm>
            <a:off x="1737360" y="5120640"/>
            <a:ext cx="2743200" cy="457200"/>
          </a:xfrm>
          <a:prstGeom prst="rect">
            <a:avLst/>
          </a:prstGeom>
          <a:noFill/>
          <a:ln/>
        </p:spPr>
        <p:txBody>
          <a:bodyPr wrap="square" lIns="0" tIns="0" rIns="0" bIns="0" rtlCol="0" anchor="ctr"/>
          <a:lstStyle/>
          <a:p>
            <a:pPr algn="ctr" indent="0" marL="0">
              <a:lnSpc>
                <a:spcPct val="115000"/>
              </a:lnSpc>
              <a:buNone/>
            </a:pPr>
            <a:r>
              <a:rPr lang="en-US" sz="1050" i="1" dirty="0">
                <a:solidFill>
                  <a:srgbClr val="6B7280"/>
                </a:solidFill>
                <a:latin typeface="Calibri" pitchFamily="34" charset="0"/>
                <a:ea typeface="Calibri" pitchFamily="34" charset="-122"/>
                <a:cs typeface="Calibri" pitchFamily="34" charset="-120"/>
              </a:rPr>
              <a:t>"royalty" words cluster together</a:t>
            </a:r>
            <a:endParaRPr lang="en-US" sz="1050" dirty="0"/>
          </a:p>
        </p:txBody>
      </p:sp>
      <p:sp>
        <p:nvSpPr>
          <p:cNvPr id="38" name="Text 36"/>
          <p:cNvSpPr/>
          <p:nvPr/>
        </p:nvSpPr>
        <p:spPr>
          <a:xfrm>
            <a:off x="7772400" y="2194560"/>
            <a:ext cx="2743200" cy="457200"/>
          </a:xfrm>
          <a:prstGeom prst="rect">
            <a:avLst/>
          </a:prstGeom>
          <a:noFill/>
          <a:ln/>
        </p:spPr>
        <p:txBody>
          <a:bodyPr wrap="square" lIns="0" tIns="0" rIns="0" bIns="0" rtlCol="0" anchor="ctr"/>
          <a:lstStyle/>
          <a:p>
            <a:pPr algn="ctr" indent="0" marL="0">
              <a:lnSpc>
                <a:spcPct val="115000"/>
              </a:lnSpc>
              <a:buNone/>
            </a:pPr>
            <a:r>
              <a:rPr lang="en-US" sz="1050" i="1" dirty="0">
                <a:solidFill>
                  <a:srgbClr val="6B7280"/>
                </a:solidFill>
                <a:latin typeface="Calibri" pitchFamily="34" charset="0"/>
                <a:ea typeface="Calibri" pitchFamily="34" charset="-122"/>
                <a:cs typeface="Calibri" pitchFamily="34" charset="-120"/>
              </a:rPr>
              <a:t>"animal" words cluster together</a:t>
            </a:r>
            <a:endParaRPr lang="en-US" sz="1050" dirty="0"/>
          </a:p>
        </p:txBody>
      </p:sp>
      <p:sp>
        <p:nvSpPr>
          <p:cNvPr id="39" name="Shape 37"/>
          <p:cNvSpPr/>
          <p:nvPr/>
        </p:nvSpPr>
        <p:spPr>
          <a:xfrm>
            <a:off x="548640" y="5806440"/>
            <a:ext cx="11064240" cy="594360"/>
          </a:xfrm>
          <a:prstGeom prst="roundRect">
            <a:avLst>
              <a:gd name="adj" fmla="val 12308"/>
            </a:avLst>
          </a:prstGeom>
          <a:solidFill>
            <a:srgbClr val="16325C"/>
          </a:solidFill>
          <a:ln/>
        </p:spPr>
      </p:sp>
      <p:sp>
        <p:nvSpPr>
          <p:cNvPr id="40" name="Text 38"/>
          <p:cNvSpPr/>
          <p:nvPr/>
        </p:nvSpPr>
        <p:spPr>
          <a:xfrm>
            <a:off x="868680" y="5806440"/>
            <a:ext cx="10424160" cy="594360"/>
          </a:xfrm>
          <a:prstGeom prst="rect">
            <a:avLst/>
          </a:prstGeom>
          <a:noFill/>
          <a:ln/>
        </p:spPr>
        <p:txBody>
          <a:bodyPr wrap="square" lIns="0" tIns="0" rIns="0" bIns="0" rtlCol="0" anchor="ctr"/>
          <a:lstStyle/>
          <a:p>
            <a:pPr indent="0" marL="0">
              <a:lnSpc>
                <a:spcPct val="120000"/>
              </a:lnSpc>
              <a:buNone/>
            </a:pPr>
            <a:r>
              <a:rPr lang="en-US" sz="1150" i="1" dirty="0">
                <a:solidFill>
                  <a:srgbClr val="FFFFFF"/>
                </a:solidFill>
                <a:latin typeface="Calibri" pitchFamily="34" charset="0"/>
                <a:ea typeface="Calibri" pitchFamily="34" charset="-122"/>
                <a:cs typeface="Calibri" pitchFamily="34" charset="-120"/>
              </a:rPr>
              <a:t>The famous result: king − man + woman ≈ queen. The model learned relationships as consistent DIRECTIONS in this space, not just positions.</a:t>
            </a:r>
            <a:endParaRPr lang="en-US" sz="1150" dirty="0"/>
          </a:p>
        </p:txBody>
      </p:sp>
      <p:sp>
        <p:nvSpPr>
          <p:cNvPr id="41" name="Text 39"/>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42" name="Text 40"/>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F3FB"/>
        </a:solidFill>
      </p:bgPr>
    </p:bg>
    <p:spTree>
      <p:nvGrpSpPr>
        <p:cNvPr id="1" name=""/>
        <p:cNvGrpSpPr/>
        <p:nvPr/>
      </p:nvGrpSpPr>
      <p:grpSpPr>
        <a:xfrm>
          <a:off x="0" y="0"/>
          <a:ext cx="0" cy="0"/>
          <a:chOff x="0" y="0"/>
          <a:chExt cx="0" cy="0"/>
        </a:xfrm>
      </p:grpSpPr>
      <p:sp>
        <p:nvSpPr>
          <p:cNvPr id="2" name="Shape 0"/>
          <p:cNvSpPr/>
          <p:nvPr/>
        </p:nvSpPr>
        <p:spPr>
          <a:xfrm>
            <a:off x="548640" y="457200"/>
            <a:ext cx="822960" cy="822960"/>
          </a:xfrm>
          <a:prstGeom prst="ellipse">
            <a:avLst/>
          </a:prstGeom>
          <a:solidFill>
            <a:srgbClr val="E8B923"/>
          </a:solidFill>
          <a:ln/>
        </p:spPr>
      </p:sp>
      <p:sp>
        <p:nvSpPr>
          <p:cNvPr id="3" name="Text 1"/>
          <p:cNvSpPr/>
          <p:nvPr/>
        </p:nvSpPr>
        <p:spPr>
          <a:xfrm>
            <a:off x="548640" y="45720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t>
            </a:r>
            <a:endParaRPr lang="en-US" sz="3200" dirty="0"/>
          </a:p>
        </p:txBody>
      </p:sp>
      <p:sp>
        <p:nvSpPr>
          <p:cNvPr id="4" name="Text 2"/>
          <p:cNvSpPr/>
          <p:nvPr/>
        </p:nvSpPr>
        <p:spPr>
          <a:xfrm>
            <a:off x="1554480" y="457200"/>
            <a:ext cx="5486400" cy="365760"/>
          </a:xfrm>
          <a:prstGeom prst="rect">
            <a:avLst/>
          </a:prstGeom>
          <a:noFill/>
          <a:ln/>
        </p:spPr>
        <p:txBody>
          <a:bodyPr wrap="square" lIns="0" tIns="0" rIns="0" bIns="0" rtlCol="0" anchor="ctr"/>
          <a:lstStyle/>
          <a:p>
            <a:pPr indent="0" marL="0">
              <a:buNone/>
            </a:pPr>
            <a:r>
              <a:rPr lang="en-US" sz="1300" b="1" spc="200" kern="0" dirty="0">
                <a:solidFill>
                  <a:srgbClr val="E8B923"/>
                </a:solidFill>
                <a:latin typeface="Calibri" pitchFamily="34" charset="0"/>
                <a:ea typeface="Calibri" pitchFamily="34" charset="-122"/>
                <a:cs typeface="Calibri" pitchFamily="34" charset="-120"/>
              </a:rPr>
              <a:t>QUICK CHECK 2</a:t>
            </a:r>
            <a:endParaRPr lang="en-US" sz="1300" dirty="0"/>
          </a:p>
        </p:txBody>
      </p:sp>
      <p:sp>
        <p:nvSpPr>
          <p:cNvPr id="5" name="Text 3"/>
          <p:cNvSpPr/>
          <p:nvPr/>
        </p:nvSpPr>
        <p:spPr>
          <a:xfrm>
            <a:off x="1554480" y="777240"/>
            <a:ext cx="7315200" cy="548640"/>
          </a:xfrm>
          <a:prstGeom prst="rect">
            <a:avLst/>
          </a:prstGeom>
          <a:noFill/>
          <a:ln/>
        </p:spPr>
        <p:txBody>
          <a:bodyPr wrap="square" lIns="0" tIns="0" rIns="0" bIns="0" rtlCol="0" anchor="ctr"/>
          <a:lstStyle/>
          <a:p>
            <a:pPr indent="0" marL="0">
              <a:buNone/>
            </a:pPr>
            <a:r>
              <a:rPr lang="en-US" sz="2700" b="1" dirty="0">
                <a:solidFill>
                  <a:srgbClr val="23282E"/>
                </a:solidFill>
                <a:latin typeface="Cambria" pitchFamily="34" charset="0"/>
                <a:ea typeface="Cambria" pitchFamily="34" charset="-122"/>
                <a:cs typeface="Cambria" pitchFamily="34" charset="-120"/>
              </a:rPr>
              <a:t>Tokens &amp; Embeddings Check</a:t>
            </a:r>
            <a:endParaRPr lang="en-US" sz="2700" dirty="0"/>
          </a:p>
        </p:txBody>
      </p:sp>
      <p:sp>
        <p:nvSpPr>
          <p:cNvPr id="6" name="Shape 4"/>
          <p:cNvSpPr/>
          <p:nvPr/>
        </p:nvSpPr>
        <p:spPr>
          <a:xfrm>
            <a:off x="9418320" y="502920"/>
            <a:ext cx="2194560" cy="548640"/>
          </a:xfrm>
          <a:prstGeom prst="roundRect">
            <a:avLst>
              <a:gd name="adj" fmla="val 50000"/>
            </a:avLst>
          </a:prstGeom>
          <a:solidFill>
            <a:srgbClr val="16325C"/>
          </a:solidFill>
          <a:ln/>
        </p:spPr>
      </p:sp>
      <p:sp>
        <p:nvSpPr>
          <p:cNvPr id="7" name="Text 5"/>
          <p:cNvSpPr/>
          <p:nvPr/>
        </p:nvSpPr>
        <p:spPr>
          <a:xfrm>
            <a:off x="9418320" y="502920"/>
            <a:ext cx="219456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DISCUSS AS A CLASS</a:t>
            </a:r>
            <a:endParaRPr lang="en-US" sz="1050" dirty="0"/>
          </a:p>
        </p:txBody>
      </p:sp>
      <p:sp>
        <p:nvSpPr>
          <p:cNvPr id="8" name="Shape 6"/>
          <p:cNvSpPr/>
          <p:nvPr/>
        </p:nvSpPr>
        <p:spPr>
          <a:xfrm>
            <a:off x="548640" y="1600200"/>
            <a:ext cx="7406640" cy="4572000"/>
          </a:xfrm>
          <a:prstGeom prst="roundRect">
            <a:avLst>
              <a:gd name="adj" fmla="val 1600"/>
            </a:avLst>
          </a:prstGeom>
          <a:solidFill>
            <a:srgbClr val="FFFFFF"/>
          </a:solidFill>
          <a:ln w="12700">
            <a:solidFill>
              <a:srgbClr val="C9DCEE"/>
            </a:solidFill>
            <a:prstDash val="solid"/>
          </a:ln>
          <a:effectLst>
            <a:outerShdw sx="100000" sy="100000" kx="0" ky="0" algn="bl" rotWithShape="0" blurRad="101600" dist="25400" dir="5400000">
              <a:srgbClr val="000000">
                <a:alpha val="12000"/>
              </a:srgbClr>
            </a:outerShdw>
          </a:effectLst>
        </p:spPr>
      </p:sp>
      <p:sp>
        <p:nvSpPr>
          <p:cNvPr id="9" name="Text 7"/>
          <p:cNvSpPr/>
          <p:nvPr/>
        </p:nvSpPr>
        <p:spPr>
          <a:xfrm>
            <a:off x="868680" y="1874520"/>
            <a:ext cx="6858000" cy="4023360"/>
          </a:xfrm>
          <a:prstGeom prst="rect">
            <a:avLst/>
          </a:prstGeom>
          <a:noFill/>
          <a:ln/>
        </p:spPr>
        <p:txBody>
          <a:bodyPr wrap="square" lIns="0" tIns="0" rIns="0" bIns="0" rtlCol="0" anchor="t"/>
          <a:lstStyle/>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1.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A model encounters a rare, made-up word it's never seen as a whole.</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2.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Someone asks why we can't just feed the model raw token ID numbers.</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3.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Two words are used in very similar contexts throughout training.</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4.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Someone asks what an embedding actually is.</a:t>
            </a:r>
            <a:endParaRPr lang="en-US" sz="1500" dirty="0"/>
          </a:p>
        </p:txBody>
      </p:sp>
      <p:sp>
        <p:nvSpPr>
          <p:cNvPr id="10" name="Shape 8"/>
          <p:cNvSpPr/>
          <p:nvPr/>
        </p:nvSpPr>
        <p:spPr>
          <a:xfrm>
            <a:off x="8229600" y="1600200"/>
            <a:ext cx="3383280" cy="4572000"/>
          </a:xfrm>
          <a:prstGeom prst="roundRect">
            <a:avLst>
              <a:gd name="adj" fmla="val 2162"/>
            </a:avLst>
          </a:prstGeom>
          <a:solidFill>
            <a:srgbClr val="16325C"/>
          </a:solidFill>
          <a:ln/>
        </p:spPr>
      </p:sp>
      <p:sp>
        <p:nvSpPr>
          <p:cNvPr id="11" name="Text 9"/>
          <p:cNvSpPr/>
          <p:nvPr/>
        </p:nvSpPr>
        <p:spPr>
          <a:xfrm>
            <a:off x="8549640" y="1828800"/>
            <a:ext cx="2743200" cy="320040"/>
          </a:xfrm>
          <a:prstGeom prst="rect">
            <a:avLst/>
          </a:prstGeom>
          <a:noFill/>
          <a:ln/>
        </p:spPr>
        <p:txBody>
          <a:bodyPr wrap="square" lIns="0" tIns="0" rIns="0" bIns="0" rtlCol="0" anchor="ctr"/>
          <a:lstStyle/>
          <a:p>
            <a:pPr indent="0" marL="0">
              <a:buNone/>
            </a:pPr>
            <a:r>
              <a:rPr lang="en-US" sz="1200" b="1" spc="200" kern="0" dirty="0">
                <a:solidFill>
                  <a:srgbClr val="FFD43B"/>
                </a:solidFill>
                <a:latin typeface="Calibri" pitchFamily="34" charset="0"/>
                <a:ea typeface="Calibri" pitchFamily="34" charset="-122"/>
                <a:cs typeface="Calibri" pitchFamily="34" charset="-120"/>
              </a:rPr>
              <a:t>ANSWER KEY</a:t>
            </a:r>
            <a:endParaRPr lang="en-US" sz="1200" dirty="0"/>
          </a:p>
        </p:txBody>
      </p:sp>
      <p:sp>
        <p:nvSpPr>
          <p:cNvPr id="12" name="Text 10"/>
          <p:cNvSpPr/>
          <p:nvPr/>
        </p:nvSpPr>
        <p:spPr>
          <a:xfrm>
            <a:off x="8549640" y="2194560"/>
            <a:ext cx="2788920" cy="3840480"/>
          </a:xfrm>
          <a:prstGeom prst="rect">
            <a:avLst/>
          </a:prstGeom>
          <a:noFill/>
          <a:ln/>
        </p:spPr>
        <p:txBody>
          <a:bodyPr wrap="square" lIns="0" tIns="0" rIns="0" bIns="0" rtlCol="0" anchor="t"/>
          <a:lstStyle/>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1.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It gets split into smaller, more familiar sub-word tokens</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2.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Token IDs are arbitrary labels with no meaningful notion of "closeness"</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3.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Their embeddings will land close together in meaning space</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4.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A long list of numbers (a vector) that captures a token's meaning</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325C"/>
        </a:solidFill>
      </p:bgPr>
    </p:bg>
    <p:spTree>
      <p:nvGrpSpPr>
        <p:cNvPr id="1" name=""/>
        <p:cNvGrpSpPr/>
        <p:nvPr/>
      </p:nvGrpSpPr>
      <p:grpSpPr>
        <a:xfrm>
          <a:off x="0" y="0"/>
          <a:ext cx="0" cy="0"/>
          <a:chOff x="0" y="0"/>
          <a:chExt cx="0" cy="0"/>
        </a:xfrm>
      </p:grpSpPr>
      <p:sp>
        <p:nvSpPr>
          <p:cNvPr id="2" name="Text 0"/>
          <p:cNvSpPr/>
          <p:nvPr/>
        </p:nvSpPr>
        <p:spPr>
          <a:xfrm>
            <a:off x="640080" y="1371600"/>
            <a:ext cx="4572000" cy="2926080"/>
          </a:xfrm>
          <a:prstGeom prst="rect">
            <a:avLst/>
          </a:prstGeom>
          <a:noFill/>
          <a:ln/>
        </p:spPr>
        <p:txBody>
          <a:bodyPr wrap="square" lIns="0" tIns="0" rIns="0" bIns="0" rtlCol="0" anchor="ctr"/>
          <a:lstStyle/>
          <a:p>
            <a:pPr algn="l" indent="0" marL="0">
              <a:buNone/>
            </a:pPr>
            <a:r>
              <a:rPr lang="en-US" sz="22000" b="1" dirty="0">
                <a:solidFill>
                  <a:srgbClr val="1E3A66"/>
                </a:solidFill>
                <a:latin typeface="Cambria" pitchFamily="34" charset="0"/>
                <a:ea typeface="Cambria" pitchFamily="34" charset="-122"/>
                <a:cs typeface="Cambria" pitchFamily="34" charset="-120"/>
              </a:rPr>
              <a:t>03</a:t>
            </a:r>
            <a:endParaRPr lang="en-US" sz="22000" dirty="0"/>
          </a:p>
        </p:txBody>
      </p:sp>
      <p:sp>
        <p:nvSpPr>
          <p:cNvPr id="3" name="Shape 1"/>
          <p:cNvSpPr/>
          <p:nvPr/>
        </p:nvSpPr>
        <p:spPr>
          <a:xfrm>
            <a:off x="5394960" y="2011680"/>
            <a:ext cx="54864" cy="1920240"/>
          </a:xfrm>
          <a:prstGeom prst="rect">
            <a:avLst/>
          </a:prstGeom>
          <a:solidFill>
            <a:srgbClr val="FFD43B"/>
          </a:solidFill>
          <a:ln/>
        </p:spPr>
      </p:sp>
      <p:sp>
        <p:nvSpPr>
          <p:cNvPr id="4" name="Text 2"/>
          <p:cNvSpPr/>
          <p:nvPr/>
        </p:nvSpPr>
        <p:spPr>
          <a:xfrm>
            <a:off x="5715000" y="1965960"/>
            <a:ext cx="6035040" cy="11887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Inside the Transformer</a:t>
            </a:r>
            <a:endParaRPr lang="en-US" sz="3200" dirty="0"/>
          </a:p>
        </p:txBody>
      </p:sp>
      <p:sp>
        <p:nvSpPr>
          <p:cNvPr id="5" name="Text 3"/>
          <p:cNvSpPr/>
          <p:nvPr/>
        </p:nvSpPr>
        <p:spPr>
          <a:xfrm>
            <a:off x="5715000" y="3063240"/>
            <a:ext cx="6035040" cy="822960"/>
          </a:xfrm>
          <a:prstGeom prst="rect">
            <a:avLst/>
          </a:prstGeom>
          <a:noFill/>
          <a:ln/>
        </p:spPr>
        <p:txBody>
          <a:bodyPr wrap="square" lIns="0" tIns="0" rIns="0" bIns="0" rtlCol="0" anchor="t"/>
          <a:lstStyle/>
          <a:p>
            <a:pPr algn="l" indent="0" marL="0">
              <a:buNone/>
            </a:pPr>
            <a:r>
              <a:rPr lang="en-US" sz="1700" i="1" dirty="0">
                <a:solidFill>
                  <a:srgbClr val="FFD43B"/>
                </a:solidFill>
                <a:latin typeface="Calibri" pitchFamily="34" charset="0"/>
                <a:ea typeface="Calibri" pitchFamily="34" charset="-122"/>
                <a:cs typeface="Calibri" pitchFamily="34" charset="-120"/>
              </a:rPr>
              <a:t>The architecture behind every modern LLM</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3 · WHY THIS MATTERED</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Why Transformers Changed Everything</a:t>
            </a:r>
            <a:endParaRPr lang="en-US" sz="2700" dirty="0"/>
          </a:p>
        </p:txBody>
      </p:sp>
      <p:sp>
        <p:nvSpPr>
          <p:cNvPr id="4" name="Shape 2"/>
          <p:cNvSpPr/>
          <p:nvPr/>
        </p:nvSpPr>
        <p:spPr>
          <a:xfrm>
            <a:off x="548640" y="1600200"/>
            <a:ext cx="11064240" cy="1783080"/>
          </a:xfrm>
          <a:prstGeom prst="roundRect">
            <a:avLst>
              <a:gd name="adj" fmla="val 4103"/>
            </a:avLst>
          </a:prstGeom>
          <a:solidFill>
            <a:srgbClr val="F4F6F9"/>
          </a:solidFill>
          <a:ln/>
        </p:spPr>
      </p:sp>
      <p:sp>
        <p:nvSpPr>
          <p:cNvPr id="5" name="Text 3"/>
          <p:cNvSpPr/>
          <p:nvPr/>
        </p:nvSpPr>
        <p:spPr>
          <a:xfrm>
            <a:off x="868680" y="1783080"/>
            <a:ext cx="10424160" cy="1554480"/>
          </a:xfrm>
          <a:prstGeom prst="rect">
            <a:avLst/>
          </a:prstGeom>
          <a:noFill/>
          <a:ln/>
        </p:spPr>
        <p:txBody>
          <a:bodyPr wrap="square" lIns="0" tIns="0" rIns="0" bIns="0" rtlCol="0" anchor="t"/>
          <a:lstStyle/>
          <a:p>
            <a:pPr indent="0" marL="0">
              <a:lnSpc>
                <a:spcPct val="130000"/>
              </a:lnSpc>
              <a:buNone/>
            </a:pPr>
            <a:r>
              <a:rPr lang="en-US" sz="1500" b="1" dirty="0">
                <a:solidFill>
                  <a:srgbClr val="306998"/>
                </a:solidFill>
                <a:latin typeface="Calibri" pitchFamily="34" charset="0"/>
                <a:ea typeface="Calibri" pitchFamily="34" charset="-122"/>
                <a:cs typeface="Calibri" pitchFamily="34" charset="-120"/>
              </a:rPr>
              <a:t>Remember RNNs from our last session?  </a:t>
            </a:r>
            <a:pPr indent="0" marL="0">
              <a:lnSpc>
                <a:spcPct val="130000"/>
              </a:lnSpc>
              <a:buNone/>
            </a:pPr>
            <a:r>
              <a:rPr lang="en-US" sz="1400" dirty="0">
                <a:solidFill>
                  <a:srgbClr val="23282E"/>
                </a:solidFill>
                <a:latin typeface="Calibri" pitchFamily="34" charset="0"/>
                <a:ea typeface="Calibri" pitchFamily="34" charset="-122"/>
                <a:cs typeface="Calibri" pitchFamily="34" charset="-120"/>
              </a:rPr>
              <a:t>They process a sequence ONE step at a time — word 2 has to wait for word 1 to finish. That's slow, and long sequences still lose information.</a:t>
            </a:r>
            <a:endParaRPr lang="en-US" sz="1500" dirty="0"/>
          </a:p>
          <a:p>
            <a:pPr indent="0" marL="0">
              <a:lnSpc>
                <a:spcPct val="130000"/>
              </a:lnSpc>
              <a:buNone/>
            </a:pPr>
            <a:endParaRPr lang="en-US" sz="1500" dirty="0"/>
          </a:p>
          <a:p>
            <a:pPr indent="0" marL="0">
              <a:lnSpc>
                <a:spcPct val="130000"/>
              </a:lnSpc>
              <a:buNone/>
            </a:pPr>
            <a:r>
              <a:rPr lang="en-US" sz="1400" dirty="0">
                <a:solidFill>
                  <a:srgbClr val="23282E"/>
                </a:solidFill>
                <a:latin typeface="Calibri" pitchFamily="34" charset="0"/>
                <a:ea typeface="Calibri" pitchFamily="34" charset="-122"/>
                <a:cs typeface="Calibri" pitchFamily="34" charset="-120"/>
              </a:rPr>
              <a:t>Transformers process the ENTIRE sequence at once, and instead of a step-by-step memory, every word directly looks at every other word simultaneously.</a:t>
            </a:r>
            <a:endParaRPr lang="en-US" sz="1500" dirty="0"/>
          </a:p>
        </p:txBody>
      </p:sp>
      <p:sp>
        <p:nvSpPr>
          <p:cNvPr id="6" name="Shape 4"/>
          <p:cNvSpPr/>
          <p:nvPr/>
        </p:nvSpPr>
        <p:spPr>
          <a:xfrm>
            <a:off x="548640" y="3611880"/>
            <a:ext cx="11064240" cy="777240"/>
          </a:xfrm>
          <a:prstGeom prst="roundRect">
            <a:avLst>
              <a:gd name="adj" fmla="val 7059"/>
            </a:avLst>
          </a:prstGeom>
          <a:solidFill>
            <a:srgbClr val="16325C"/>
          </a:solidFill>
          <a:ln/>
        </p:spPr>
      </p:sp>
      <p:sp>
        <p:nvSpPr>
          <p:cNvPr id="7" name="Text 5"/>
          <p:cNvSpPr/>
          <p:nvPr/>
        </p:nvSpPr>
        <p:spPr>
          <a:xfrm>
            <a:off x="731520" y="3611880"/>
            <a:ext cx="3368040" cy="777240"/>
          </a:xfrm>
          <a:prstGeom prst="rect">
            <a:avLst/>
          </a:prstGeom>
          <a:noFill/>
          <a:ln/>
        </p:spPr>
        <p:txBody>
          <a:bodyPr wrap="square" lIns="0" tIns="0" rIns="0" bIns="0" rtlCol="0" anchor="ctr"/>
          <a:lstStyle/>
          <a:p>
            <a:pPr indent="0" marL="0">
              <a:buNone/>
            </a:pPr>
            <a:endParaRPr lang="en-US" sz="1350" dirty="0"/>
          </a:p>
        </p:txBody>
      </p:sp>
      <p:sp>
        <p:nvSpPr>
          <p:cNvPr id="8" name="Text 6"/>
          <p:cNvSpPr/>
          <p:nvPr/>
        </p:nvSpPr>
        <p:spPr>
          <a:xfrm>
            <a:off x="4419600" y="3611880"/>
            <a:ext cx="3368040" cy="7772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RNN</a:t>
            </a:r>
            <a:endParaRPr lang="en-US" sz="1350" dirty="0"/>
          </a:p>
        </p:txBody>
      </p:sp>
      <p:sp>
        <p:nvSpPr>
          <p:cNvPr id="9" name="Text 7"/>
          <p:cNvSpPr/>
          <p:nvPr/>
        </p:nvSpPr>
        <p:spPr>
          <a:xfrm>
            <a:off x="8107680" y="3611880"/>
            <a:ext cx="3368040" cy="7772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Transformer</a:t>
            </a:r>
            <a:endParaRPr lang="en-US" sz="1350" dirty="0"/>
          </a:p>
        </p:txBody>
      </p:sp>
      <p:sp>
        <p:nvSpPr>
          <p:cNvPr id="10" name="Shape 8"/>
          <p:cNvSpPr/>
          <p:nvPr/>
        </p:nvSpPr>
        <p:spPr>
          <a:xfrm>
            <a:off x="548640" y="4389120"/>
            <a:ext cx="11064240" cy="777240"/>
          </a:xfrm>
          <a:prstGeom prst="rect">
            <a:avLst/>
          </a:prstGeom>
          <a:solidFill>
            <a:srgbClr val="F4F6F9"/>
          </a:solidFill>
          <a:ln/>
        </p:spPr>
      </p:sp>
      <p:sp>
        <p:nvSpPr>
          <p:cNvPr id="11" name="Text 9"/>
          <p:cNvSpPr/>
          <p:nvPr/>
        </p:nvSpPr>
        <p:spPr>
          <a:xfrm>
            <a:off x="731520" y="4389120"/>
            <a:ext cx="3368040" cy="777240"/>
          </a:xfrm>
          <a:prstGeom prst="rect">
            <a:avLst/>
          </a:prstGeom>
          <a:noFill/>
          <a:ln/>
        </p:spPr>
        <p:txBody>
          <a:bodyPr wrap="square" lIns="0" tIns="0" rIns="0" bIns="0" rtlCol="0" anchor="ctr"/>
          <a:lstStyle/>
          <a:p>
            <a:pPr indent="0" marL="0">
              <a:lnSpc>
                <a:spcPct val="105000"/>
              </a:lnSpc>
              <a:buNone/>
            </a:pPr>
            <a:r>
              <a:rPr lang="en-US" sz="1250" b="1" dirty="0">
                <a:solidFill>
                  <a:srgbClr val="23282E"/>
                </a:solidFill>
                <a:latin typeface="Calibri" pitchFamily="34" charset="0"/>
                <a:ea typeface="Calibri" pitchFamily="34" charset="-122"/>
                <a:cs typeface="Calibri" pitchFamily="34" charset="-120"/>
              </a:rPr>
              <a:t>Processes sequence</a:t>
            </a:r>
            <a:endParaRPr lang="en-US" sz="1250" dirty="0"/>
          </a:p>
        </p:txBody>
      </p:sp>
      <p:sp>
        <p:nvSpPr>
          <p:cNvPr id="12" name="Text 10"/>
          <p:cNvSpPr/>
          <p:nvPr/>
        </p:nvSpPr>
        <p:spPr>
          <a:xfrm>
            <a:off x="4419600" y="4389120"/>
            <a:ext cx="3368040" cy="777240"/>
          </a:xfrm>
          <a:prstGeom prst="rect">
            <a:avLst/>
          </a:prstGeom>
          <a:noFill/>
          <a:ln/>
        </p:spPr>
        <p:txBody>
          <a:bodyPr wrap="square" lIns="0" tIns="0" rIns="0" bIns="0" rtlCol="0" anchor="ctr"/>
          <a:lstStyle/>
          <a:p>
            <a:pPr indent="0" marL="0">
              <a:lnSpc>
                <a:spcPct val="105000"/>
              </a:lnSpc>
              <a:buNone/>
            </a:pPr>
            <a:r>
              <a:rPr lang="en-US" sz="1250" dirty="0">
                <a:solidFill>
                  <a:srgbClr val="23282E"/>
                </a:solidFill>
                <a:latin typeface="Calibri" pitchFamily="34" charset="0"/>
                <a:ea typeface="Calibri" pitchFamily="34" charset="-122"/>
                <a:cs typeface="Calibri" pitchFamily="34" charset="-120"/>
              </a:rPr>
              <a:t>One step at a time</a:t>
            </a:r>
            <a:endParaRPr lang="en-US" sz="1250" dirty="0"/>
          </a:p>
        </p:txBody>
      </p:sp>
      <p:sp>
        <p:nvSpPr>
          <p:cNvPr id="13" name="Text 11"/>
          <p:cNvSpPr/>
          <p:nvPr/>
        </p:nvSpPr>
        <p:spPr>
          <a:xfrm>
            <a:off x="8107680" y="4389120"/>
            <a:ext cx="3368040" cy="777240"/>
          </a:xfrm>
          <a:prstGeom prst="rect">
            <a:avLst/>
          </a:prstGeom>
          <a:noFill/>
          <a:ln/>
        </p:spPr>
        <p:txBody>
          <a:bodyPr wrap="square" lIns="0" tIns="0" rIns="0" bIns="0" rtlCol="0" anchor="ctr"/>
          <a:lstStyle/>
          <a:p>
            <a:pPr indent="0" marL="0">
              <a:lnSpc>
                <a:spcPct val="105000"/>
              </a:lnSpc>
              <a:buNone/>
            </a:pPr>
            <a:r>
              <a:rPr lang="en-US" sz="1250" dirty="0">
                <a:solidFill>
                  <a:srgbClr val="23282E"/>
                </a:solidFill>
                <a:latin typeface="Calibri" pitchFamily="34" charset="0"/>
                <a:ea typeface="Calibri" pitchFamily="34" charset="-122"/>
                <a:cs typeface="Calibri" pitchFamily="34" charset="-120"/>
              </a:rPr>
              <a:t>All at once, in parallel</a:t>
            </a:r>
            <a:endParaRPr lang="en-US" sz="1250" dirty="0"/>
          </a:p>
        </p:txBody>
      </p:sp>
      <p:sp>
        <p:nvSpPr>
          <p:cNvPr id="14" name="Shape 12"/>
          <p:cNvSpPr/>
          <p:nvPr/>
        </p:nvSpPr>
        <p:spPr>
          <a:xfrm>
            <a:off x="548640" y="5166360"/>
            <a:ext cx="11064240" cy="777240"/>
          </a:xfrm>
          <a:prstGeom prst="rect">
            <a:avLst/>
          </a:prstGeom>
          <a:solidFill>
            <a:srgbClr val="FFFFFF"/>
          </a:solidFill>
          <a:ln/>
        </p:spPr>
      </p:sp>
      <p:sp>
        <p:nvSpPr>
          <p:cNvPr id="15" name="Text 13"/>
          <p:cNvSpPr/>
          <p:nvPr/>
        </p:nvSpPr>
        <p:spPr>
          <a:xfrm>
            <a:off x="731520" y="5166360"/>
            <a:ext cx="3368040" cy="777240"/>
          </a:xfrm>
          <a:prstGeom prst="rect">
            <a:avLst/>
          </a:prstGeom>
          <a:noFill/>
          <a:ln/>
        </p:spPr>
        <p:txBody>
          <a:bodyPr wrap="square" lIns="0" tIns="0" rIns="0" bIns="0" rtlCol="0" anchor="ctr"/>
          <a:lstStyle/>
          <a:p>
            <a:pPr indent="0" marL="0">
              <a:lnSpc>
                <a:spcPct val="105000"/>
              </a:lnSpc>
              <a:buNone/>
            </a:pPr>
            <a:r>
              <a:rPr lang="en-US" sz="1250" b="1" dirty="0">
                <a:solidFill>
                  <a:srgbClr val="23282E"/>
                </a:solidFill>
                <a:latin typeface="Calibri" pitchFamily="34" charset="0"/>
                <a:ea typeface="Calibri" pitchFamily="34" charset="-122"/>
                <a:cs typeface="Calibri" pitchFamily="34" charset="-120"/>
              </a:rPr>
              <a:t>Long-range memory</a:t>
            </a:r>
            <a:endParaRPr lang="en-US" sz="1250" dirty="0"/>
          </a:p>
        </p:txBody>
      </p:sp>
      <p:sp>
        <p:nvSpPr>
          <p:cNvPr id="16" name="Text 14"/>
          <p:cNvSpPr/>
          <p:nvPr/>
        </p:nvSpPr>
        <p:spPr>
          <a:xfrm>
            <a:off x="4419600" y="5166360"/>
            <a:ext cx="3368040" cy="777240"/>
          </a:xfrm>
          <a:prstGeom prst="rect">
            <a:avLst/>
          </a:prstGeom>
          <a:noFill/>
          <a:ln/>
        </p:spPr>
        <p:txBody>
          <a:bodyPr wrap="square" lIns="0" tIns="0" rIns="0" bIns="0" rtlCol="0" anchor="ctr"/>
          <a:lstStyle/>
          <a:p>
            <a:pPr indent="0" marL="0">
              <a:lnSpc>
                <a:spcPct val="105000"/>
              </a:lnSpc>
              <a:buNone/>
            </a:pPr>
            <a:r>
              <a:rPr lang="en-US" sz="1250" dirty="0">
                <a:solidFill>
                  <a:srgbClr val="23282E"/>
                </a:solidFill>
                <a:latin typeface="Calibri" pitchFamily="34" charset="0"/>
                <a:ea typeface="Calibri" pitchFamily="34" charset="-122"/>
                <a:cs typeface="Calibri" pitchFamily="34" charset="-120"/>
              </a:rPr>
              <a:t>Fades over long sequences</a:t>
            </a:r>
            <a:endParaRPr lang="en-US" sz="1250" dirty="0"/>
          </a:p>
        </p:txBody>
      </p:sp>
      <p:sp>
        <p:nvSpPr>
          <p:cNvPr id="17" name="Text 15"/>
          <p:cNvSpPr/>
          <p:nvPr/>
        </p:nvSpPr>
        <p:spPr>
          <a:xfrm>
            <a:off x="8107680" y="5166360"/>
            <a:ext cx="3368040" cy="777240"/>
          </a:xfrm>
          <a:prstGeom prst="rect">
            <a:avLst/>
          </a:prstGeom>
          <a:noFill/>
          <a:ln/>
        </p:spPr>
        <p:txBody>
          <a:bodyPr wrap="square" lIns="0" tIns="0" rIns="0" bIns="0" rtlCol="0" anchor="ctr"/>
          <a:lstStyle/>
          <a:p>
            <a:pPr indent="0" marL="0">
              <a:lnSpc>
                <a:spcPct val="105000"/>
              </a:lnSpc>
              <a:buNone/>
            </a:pPr>
            <a:r>
              <a:rPr lang="en-US" sz="1250" dirty="0">
                <a:solidFill>
                  <a:srgbClr val="23282E"/>
                </a:solidFill>
                <a:latin typeface="Calibri" pitchFamily="34" charset="0"/>
                <a:ea typeface="Calibri" pitchFamily="34" charset="-122"/>
                <a:cs typeface="Calibri" pitchFamily="34" charset="-120"/>
              </a:rPr>
              <a:t>Every word sees every other word directly</a:t>
            </a:r>
            <a:endParaRPr lang="en-US" sz="1250" dirty="0"/>
          </a:p>
        </p:txBody>
      </p:sp>
      <p:sp>
        <p:nvSpPr>
          <p:cNvPr id="18" name="Shape 16"/>
          <p:cNvSpPr/>
          <p:nvPr/>
        </p:nvSpPr>
        <p:spPr>
          <a:xfrm>
            <a:off x="548640" y="5943600"/>
            <a:ext cx="11064240" cy="777240"/>
          </a:xfrm>
          <a:prstGeom prst="rect">
            <a:avLst/>
          </a:prstGeom>
          <a:solidFill>
            <a:srgbClr val="F4F6F9"/>
          </a:solidFill>
          <a:ln/>
        </p:spPr>
      </p:sp>
      <p:sp>
        <p:nvSpPr>
          <p:cNvPr id="19" name="Text 17"/>
          <p:cNvSpPr/>
          <p:nvPr/>
        </p:nvSpPr>
        <p:spPr>
          <a:xfrm>
            <a:off x="731520" y="5943600"/>
            <a:ext cx="3368040" cy="777240"/>
          </a:xfrm>
          <a:prstGeom prst="rect">
            <a:avLst/>
          </a:prstGeom>
          <a:noFill/>
          <a:ln/>
        </p:spPr>
        <p:txBody>
          <a:bodyPr wrap="square" lIns="0" tIns="0" rIns="0" bIns="0" rtlCol="0" anchor="ctr"/>
          <a:lstStyle/>
          <a:p>
            <a:pPr indent="0" marL="0">
              <a:lnSpc>
                <a:spcPct val="105000"/>
              </a:lnSpc>
              <a:buNone/>
            </a:pPr>
            <a:r>
              <a:rPr lang="en-US" sz="1250" b="1" dirty="0">
                <a:solidFill>
                  <a:srgbClr val="23282E"/>
                </a:solidFill>
                <a:latin typeface="Calibri" pitchFamily="34" charset="0"/>
                <a:ea typeface="Calibri" pitchFamily="34" charset="-122"/>
                <a:cs typeface="Calibri" pitchFamily="34" charset="-120"/>
              </a:rPr>
              <a:t>Training speed on GPUs</a:t>
            </a:r>
            <a:endParaRPr lang="en-US" sz="1250" dirty="0"/>
          </a:p>
        </p:txBody>
      </p:sp>
      <p:sp>
        <p:nvSpPr>
          <p:cNvPr id="20" name="Text 18"/>
          <p:cNvSpPr/>
          <p:nvPr/>
        </p:nvSpPr>
        <p:spPr>
          <a:xfrm>
            <a:off x="4419600" y="5943600"/>
            <a:ext cx="3368040" cy="777240"/>
          </a:xfrm>
          <a:prstGeom prst="rect">
            <a:avLst/>
          </a:prstGeom>
          <a:noFill/>
          <a:ln/>
        </p:spPr>
        <p:txBody>
          <a:bodyPr wrap="square" lIns="0" tIns="0" rIns="0" bIns="0" rtlCol="0" anchor="ctr"/>
          <a:lstStyle/>
          <a:p>
            <a:pPr indent="0" marL="0">
              <a:lnSpc>
                <a:spcPct val="105000"/>
              </a:lnSpc>
              <a:buNone/>
            </a:pPr>
            <a:r>
              <a:rPr lang="en-US" sz="1250" dirty="0">
                <a:solidFill>
                  <a:srgbClr val="23282E"/>
                </a:solidFill>
                <a:latin typeface="Calibri" pitchFamily="34" charset="0"/>
                <a:ea typeface="Calibri" pitchFamily="34" charset="-122"/>
                <a:cs typeface="Calibri" pitchFamily="34" charset="-120"/>
              </a:rPr>
              <a:t>Slow — inherently sequential</a:t>
            </a:r>
            <a:endParaRPr lang="en-US" sz="1250" dirty="0"/>
          </a:p>
        </p:txBody>
      </p:sp>
      <p:sp>
        <p:nvSpPr>
          <p:cNvPr id="21" name="Text 19"/>
          <p:cNvSpPr/>
          <p:nvPr/>
        </p:nvSpPr>
        <p:spPr>
          <a:xfrm>
            <a:off x="8107680" y="5943600"/>
            <a:ext cx="3368040" cy="777240"/>
          </a:xfrm>
          <a:prstGeom prst="rect">
            <a:avLst/>
          </a:prstGeom>
          <a:noFill/>
          <a:ln/>
        </p:spPr>
        <p:txBody>
          <a:bodyPr wrap="square" lIns="0" tIns="0" rIns="0" bIns="0" rtlCol="0" anchor="ctr"/>
          <a:lstStyle/>
          <a:p>
            <a:pPr indent="0" marL="0">
              <a:lnSpc>
                <a:spcPct val="105000"/>
              </a:lnSpc>
              <a:buNone/>
            </a:pPr>
            <a:r>
              <a:rPr lang="en-US" sz="1250" dirty="0">
                <a:solidFill>
                  <a:srgbClr val="23282E"/>
                </a:solidFill>
                <a:latin typeface="Calibri" pitchFamily="34" charset="0"/>
                <a:ea typeface="Calibri" pitchFamily="34" charset="-122"/>
                <a:cs typeface="Calibri" pitchFamily="34" charset="-120"/>
              </a:rPr>
              <a:t>Fast — massively parallelizable</a:t>
            </a:r>
            <a:endParaRPr lang="en-US" sz="1250" dirty="0"/>
          </a:p>
        </p:txBody>
      </p:sp>
      <p:sp>
        <p:nvSpPr>
          <p:cNvPr id="22" name="Shape 20"/>
          <p:cNvSpPr/>
          <p:nvPr/>
        </p:nvSpPr>
        <p:spPr>
          <a:xfrm>
            <a:off x="548640" y="5989320"/>
            <a:ext cx="11064240" cy="502920"/>
          </a:xfrm>
          <a:prstGeom prst="roundRect">
            <a:avLst>
              <a:gd name="adj" fmla="val 14545"/>
            </a:avLst>
          </a:prstGeom>
          <a:solidFill>
            <a:srgbClr val="FDF1E8"/>
          </a:solidFill>
          <a:ln/>
        </p:spPr>
      </p:sp>
      <p:sp>
        <p:nvSpPr>
          <p:cNvPr id="23" name="Text 21"/>
          <p:cNvSpPr/>
          <p:nvPr/>
        </p:nvSpPr>
        <p:spPr>
          <a:xfrm>
            <a:off x="868680" y="5989320"/>
            <a:ext cx="10424160" cy="502920"/>
          </a:xfrm>
          <a:prstGeom prst="rect">
            <a:avLst/>
          </a:prstGeom>
          <a:noFill/>
          <a:ln/>
        </p:spPr>
        <p:txBody>
          <a:bodyPr wrap="square" lIns="0" tIns="0" rIns="0" bIns="0" rtlCol="0" anchor="ctr"/>
          <a:lstStyle/>
          <a:p>
            <a:pPr indent="0" marL="0">
              <a:buNone/>
            </a:pPr>
            <a:r>
              <a:rPr lang="en-US" sz="1200" i="1" dirty="0">
                <a:solidFill>
                  <a:srgbClr val="23282E"/>
                </a:solidFill>
                <a:latin typeface="Calibri" pitchFamily="34" charset="0"/>
                <a:ea typeface="Calibri" pitchFamily="34" charset="-122"/>
                <a:cs typeface="Calibri" pitchFamily="34" charset="-120"/>
              </a:rPr>
              <a:t>This parallelism is WHY we can train models on internet-scale text in a practical amount of time.</a:t>
            </a:r>
            <a:endParaRPr lang="en-US" sz="1200" dirty="0"/>
          </a:p>
        </p:txBody>
      </p:sp>
      <p:sp>
        <p:nvSpPr>
          <p:cNvPr id="24" name="Text 22"/>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25" name="Text 23"/>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3 · THE FULL PICTURE</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The Transformer, Zoomed Out</a:t>
            </a:r>
            <a:endParaRPr lang="en-US" sz="2700" dirty="0"/>
          </a:p>
        </p:txBody>
      </p:sp>
      <p:sp>
        <p:nvSpPr>
          <p:cNvPr id="4" name="Shape 2"/>
          <p:cNvSpPr/>
          <p:nvPr/>
        </p:nvSpPr>
        <p:spPr>
          <a:xfrm>
            <a:off x="996696" y="2286000"/>
            <a:ext cx="1783080" cy="1188720"/>
          </a:xfrm>
          <a:prstGeom prst="roundRect">
            <a:avLst>
              <a:gd name="adj" fmla="val 6154"/>
            </a:avLst>
          </a:prstGeom>
          <a:solidFill>
            <a:srgbClr val="1E3A66"/>
          </a:solidFill>
          <a:ln/>
        </p:spPr>
      </p:sp>
      <p:sp>
        <p:nvSpPr>
          <p:cNvPr id="5" name="Text 3"/>
          <p:cNvSpPr/>
          <p:nvPr/>
        </p:nvSpPr>
        <p:spPr>
          <a:xfrm>
            <a:off x="1088136" y="2286000"/>
            <a:ext cx="1600200" cy="1188720"/>
          </a:xfrm>
          <a:prstGeom prst="rect">
            <a:avLst/>
          </a:prstGeom>
          <a:noFill/>
          <a:ln/>
        </p:spPr>
        <p:txBody>
          <a:bodyPr wrap="square" lIns="0" tIns="0" rIns="0" bIns="0"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Input</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Tokens</a:t>
            </a:r>
            <a:endParaRPr lang="en-US" sz="1250" dirty="0"/>
          </a:p>
        </p:txBody>
      </p:sp>
      <p:sp>
        <p:nvSpPr>
          <p:cNvPr id="6" name="Shape 4"/>
          <p:cNvSpPr/>
          <p:nvPr/>
        </p:nvSpPr>
        <p:spPr>
          <a:xfrm flipV="1">
            <a:off x="2779776" y="2880360"/>
            <a:ext cx="320040" cy="914"/>
          </a:xfrm>
          <a:prstGeom prst="line">
            <a:avLst/>
          </a:prstGeom>
          <a:noFill/>
          <a:ln w="25400">
            <a:solidFill>
              <a:srgbClr val="6B7280"/>
            </a:solidFill>
            <a:prstDash val="solid"/>
            <a:tailEnd type="triangle"/>
          </a:ln>
        </p:spPr>
      </p:sp>
      <p:sp>
        <p:nvSpPr>
          <p:cNvPr id="7" name="Shape 5"/>
          <p:cNvSpPr/>
          <p:nvPr/>
        </p:nvSpPr>
        <p:spPr>
          <a:xfrm>
            <a:off x="3099816" y="2286000"/>
            <a:ext cx="1783080" cy="1188720"/>
          </a:xfrm>
          <a:prstGeom prst="roundRect">
            <a:avLst>
              <a:gd name="adj" fmla="val 6154"/>
            </a:avLst>
          </a:prstGeom>
          <a:solidFill>
            <a:srgbClr val="306998"/>
          </a:solidFill>
          <a:ln/>
        </p:spPr>
      </p:sp>
      <p:sp>
        <p:nvSpPr>
          <p:cNvPr id="8" name="Text 6"/>
          <p:cNvSpPr/>
          <p:nvPr/>
        </p:nvSpPr>
        <p:spPr>
          <a:xfrm>
            <a:off x="3191256" y="2286000"/>
            <a:ext cx="1600200" cy="1188720"/>
          </a:xfrm>
          <a:prstGeom prst="rect">
            <a:avLst/>
          </a:prstGeom>
          <a:noFill/>
          <a:ln/>
        </p:spPr>
        <p:txBody>
          <a:bodyPr wrap="square" lIns="0" tIns="0" rIns="0" bIns="0"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Token +</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Position</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Embeddings</a:t>
            </a:r>
            <a:endParaRPr lang="en-US" sz="1250" dirty="0"/>
          </a:p>
        </p:txBody>
      </p:sp>
      <p:sp>
        <p:nvSpPr>
          <p:cNvPr id="9" name="Shape 7"/>
          <p:cNvSpPr/>
          <p:nvPr/>
        </p:nvSpPr>
        <p:spPr>
          <a:xfrm flipV="1">
            <a:off x="4882896" y="2880360"/>
            <a:ext cx="320040" cy="914"/>
          </a:xfrm>
          <a:prstGeom prst="line">
            <a:avLst/>
          </a:prstGeom>
          <a:noFill/>
          <a:ln w="25400">
            <a:solidFill>
              <a:srgbClr val="6B7280"/>
            </a:solidFill>
            <a:prstDash val="solid"/>
            <a:tailEnd type="triangle"/>
          </a:ln>
        </p:spPr>
      </p:sp>
      <p:sp>
        <p:nvSpPr>
          <p:cNvPr id="10" name="Shape 8"/>
          <p:cNvSpPr/>
          <p:nvPr/>
        </p:nvSpPr>
        <p:spPr>
          <a:xfrm>
            <a:off x="5202936" y="2286000"/>
            <a:ext cx="1783080" cy="1188720"/>
          </a:xfrm>
          <a:prstGeom prst="roundRect">
            <a:avLst>
              <a:gd name="adj" fmla="val 6154"/>
            </a:avLst>
          </a:prstGeom>
          <a:solidFill>
            <a:srgbClr val="1C7293"/>
          </a:solidFill>
          <a:ln/>
        </p:spPr>
      </p:sp>
      <p:sp>
        <p:nvSpPr>
          <p:cNvPr id="11" name="Text 9"/>
          <p:cNvSpPr/>
          <p:nvPr/>
        </p:nvSpPr>
        <p:spPr>
          <a:xfrm>
            <a:off x="5294376" y="2286000"/>
            <a:ext cx="1600200" cy="1188720"/>
          </a:xfrm>
          <a:prstGeom prst="rect">
            <a:avLst/>
          </a:prstGeom>
          <a:noFill/>
          <a:ln/>
        </p:spPr>
        <p:txBody>
          <a:bodyPr wrap="square" lIns="0" tIns="0" rIns="0" bIns="0"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Self-</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Attention</a:t>
            </a:r>
            <a:endParaRPr lang="en-US" sz="1250" dirty="0"/>
          </a:p>
        </p:txBody>
      </p:sp>
      <p:sp>
        <p:nvSpPr>
          <p:cNvPr id="12" name="Shape 10"/>
          <p:cNvSpPr/>
          <p:nvPr/>
        </p:nvSpPr>
        <p:spPr>
          <a:xfrm flipV="1">
            <a:off x="6986016" y="2880360"/>
            <a:ext cx="320040" cy="914"/>
          </a:xfrm>
          <a:prstGeom prst="line">
            <a:avLst/>
          </a:prstGeom>
          <a:noFill/>
          <a:ln w="25400">
            <a:solidFill>
              <a:srgbClr val="6B7280"/>
            </a:solidFill>
            <a:prstDash val="solid"/>
            <a:tailEnd type="triangle"/>
          </a:ln>
        </p:spPr>
      </p:sp>
      <p:sp>
        <p:nvSpPr>
          <p:cNvPr id="13" name="Shape 11"/>
          <p:cNvSpPr/>
          <p:nvPr/>
        </p:nvSpPr>
        <p:spPr>
          <a:xfrm>
            <a:off x="7306056" y="2286000"/>
            <a:ext cx="1783080" cy="1188720"/>
          </a:xfrm>
          <a:prstGeom prst="roundRect">
            <a:avLst>
              <a:gd name="adj" fmla="val 6154"/>
            </a:avLst>
          </a:prstGeom>
          <a:solidFill>
            <a:srgbClr val="6C4F9E"/>
          </a:solidFill>
          <a:ln/>
        </p:spPr>
      </p:sp>
      <p:sp>
        <p:nvSpPr>
          <p:cNvPr id="14" name="Text 12"/>
          <p:cNvSpPr/>
          <p:nvPr/>
        </p:nvSpPr>
        <p:spPr>
          <a:xfrm>
            <a:off x="7397496" y="2286000"/>
            <a:ext cx="1600200" cy="1188720"/>
          </a:xfrm>
          <a:prstGeom prst="rect">
            <a:avLst/>
          </a:prstGeom>
          <a:noFill/>
          <a:ln/>
        </p:spPr>
        <p:txBody>
          <a:bodyPr wrap="square" lIns="0" tIns="0" rIns="0" bIns="0"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Feed-</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Forward</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Layer</a:t>
            </a:r>
            <a:endParaRPr lang="en-US" sz="1250" dirty="0"/>
          </a:p>
        </p:txBody>
      </p:sp>
      <p:sp>
        <p:nvSpPr>
          <p:cNvPr id="15" name="Shape 13"/>
          <p:cNvSpPr/>
          <p:nvPr/>
        </p:nvSpPr>
        <p:spPr>
          <a:xfrm flipV="1">
            <a:off x="9089136" y="2880360"/>
            <a:ext cx="320040" cy="914"/>
          </a:xfrm>
          <a:prstGeom prst="line">
            <a:avLst/>
          </a:prstGeom>
          <a:noFill/>
          <a:ln w="25400">
            <a:solidFill>
              <a:srgbClr val="6B7280"/>
            </a:solidFill>
            <a:prstDash val="solid"/>
            <a:tailEnd type="triangle"/>
          </a:ln>
        </p:spPr>
      </p:sp>
      <p:sp>
        <p:nvSpPr>
          <p:cNvPr id="16" name="Shape 14"/>
          <p:cNvSpPr/>
          <p:nvPr/>
        </p:nvSpPr>
        <p:spPr>
          <a:xfrm>
            <a:off x="9409176" y="2286000"/>
            <a:ext cx="1783080" cy="1188720"/>
          </a:xfrm>
          <a:prstGeom prst="roundRect">
            <a:avLst>
              <a:gd name="adj" fmla="val 6154"/>
            </a:avLst>
          </a:prstGeom>
          <a:solidFill>
            <a:srgbClr val="3E8E5A"/>
          </a:solidFill>
          <a:ln/>
        </p:spPr>
      </p:sp>
      <p:sp>
        <p:nvSpPr>
          <p:cNvPr id="17" name="Text 15"/>
          <p:cNvSpPr/>
          <p:nvPr/>
        </p:nvSpPr>
        <p:spPr>
          <a:xfrm>
            <a:off x="9500616" y="2286000"/>
            <a:ext cx="1600200" cy="1188720"/>
          </a:xfrm>
          <a:prstGeom prst="rect">
            <a:avLst/>
          </a:prstGeom>
          <a:noFill/>
          <a:ln/>
        </p:spPr>
        <p:txBody>
          <a:bodyPr wrap="square" lIns="0" tIns="0" rIns="0" bIns="0" rtlCol="0" anchor="ctr"/>
          <a:lstStyle/>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Output</a:t>
            </a:r>
            <a:endParaRPr lang="en-US" sz="1250" dirty="0"/>
          </a:p>
          <a:p>
            <a:pPr algn="ctr" indent="0" marL="0">
              <a:lnSpc>
                <a:spcPct val="110000"/>
              </a:lnSpc>
              <a:buNone/>
            </a:pPr>
            <a:r>
              <a:rPr lang="en-US" sz="1250" b="1" dirty="0">
                <a:solidFill>
                  <a:srgbClr val="FFFFFF"/>
                </a:solidFill>
                <a:latin typeface="Calibri" pitchFamily="34" charset="0"/>
                <a:ea typeface="Calibri" pitchFamily="34" charset="-122"/>
                <a:cs typeface="Calibri" pitchFamily="34" charset="-120"/>
              </a:rPr>
              <a:t>Probabilities</a:t>
            </a:r>
            <a:endParaRPr lang="en-US" sz="1250" dirty="0"/>
          </a:p>
        </p:txBody>
      </p:sp>
      <p:sp>
        <p:nvSpPr>
          <p:cNvPr id="18" name="Shape 16"/>
          <p:cNvSpPr/>
          <p:nvPr/>
        </p:nvSpPr>
        <p:spPr>
          <a:xfrm>
            <a:off x="5065776" y="1965960"/>
            <a:ext cx="4023360" cy="18288"/>
          </a:xfrm>
          <a:prstGeom prst="rect">
            <a:avLst/>
          </a:prstGeom>
          <a:noFill/>
          <a:ln w="19050">
            <a:solidFill>
              <a:srgbClr val="E8B923"/>
            </a:solidFill>
            <a:prstDash val="solid"/>
          </a:ln>
        </p:spPr>
      </p:sp>
      <p:sp>
        <p:nvSpPr>
          <p:cNvPr id="19" name="Shape 17"/>
          <p:cNvSpPr/>
          <p:nvPr/>
        </p:nvSpPr>
        <p:spPr>
          <a:xfrm flipV="1">
            <a:off x="5065776" y="1965960"/>
            <a:ext cx="914" cy="182880"/>
          </a:xfrm>
          <a:prstGeom prst="line">
            <a:avLst/>
          </a:prstGeom>
          <a:noFill/>
          <a:ln w="19050">
            <a:solidFill>
              <a:srgbClr val="E8B923"/>
            </a:solidFill>
            <a:prstDash val="solid"/>
          </a:ln>
        </p:spPr>
      </p:sp>
      <p:sp>
        <p:nvSpPr>
          <p:cNvPr id="20" name="Shape 18"/>
          <p:cNvSpPr/>
          <p:nvPr/>
        </p:nvSpPr>
        <p:spPr>
          <a:xfrm flipV="1">
            <a:off x="9089136" y="1965960"/>
            <a:ext cx="914" cy="182880"/>
          </a:xfrm>
          <a:prstGeom prst="line">
            <a:avLst/>
          </a:prstGeom>
          <a:noFill/>
          <a:ln w="19050">
            <a:solidFill>
              <a:srgbClr val="E8B923"/>
            </a:solidFill>
            <a:prstDash val="solid"/>
          </a:ln>
        </p:spPr>
      </p:sp>
      <p:sp>
        <p:nvSpPr>
          <p:cNvPr id="21" name="Text 19"/>
          <p:cNvSpPr/>
          <p:nvPr/>
        </p:nvSpPr>
        <p:spPr>
          <a:xfrm>
            <a:off x="4791456" y="1627632"/>
            <a:ext cx="4572000" cy="292608"/>
          </a:xfrm>
          <a:prstGeom prst="rect">
            <a:avLst/>
          </a:prstGeom>
          <a:noFill/>
          <a:ln/>
        </p:spPr>
        <p:txBody>
          <a:bodyPr wrap="square" lIns="0" tIns="0" rIns="0" bIns="0" rtlCol="0" anchor="ctr"/>
          <a:lstStyle/>
          <a:p>
            <a:pPr algn="ctr" indent="0" marL="0">
              <a:buNone/>
            </a:pPr>
            <a:r>
              <a:rPr lang="en-US" sz="1050" b="1" i="1" dirty="0">
                <a:solidFill>
                  <a:srgbClr val="AD8A1D"/>
                </a:solidFill>
                <a:latin typeface="Calibri" pitchFamily="34" charset="0"/>
                <a:ea typeface="Calibri" pitchFamily="34" charset="-122"/>
                <a:cs typeface="Calibri" pitchFamily="34" charset="-120"/>
              </a:rPr>
              <a:t>repeated N times (a "Transformer Block", stacked many layers deep)</a:t>
            </a:r>
            <a:endParaRPr lang="en-US" sz="1050" dirty="0"/>
          </a:p>
        </p:txBody>
      </p:sp>
      <p:sp>
        <p:nvSpPr>
          <p:cNvPr id="22" name="Shape 20"/>
          <p:cNvSpPr/>
          <p:nvPr/>
        </p:nvSpPr>
        <p:spPr>
          <a:xfrm>
            <a:off x="548640" y="4023360"/>
            <a:ext cx="11064240" cy="1325880"/>
          </a:xfrm>
          <a:prstGeom prst="roundRect">
            <a:avLst>
              <a:gd name="adj" fmla="val 5517"/>
            </a:avLst>
          </a:prstGeom>
          <a:solidFill>
            <a:srgbClr val="F4F6F9"/>
          </a:solidFill>
          <a:ln/>
        </p:spPr>
      </p:sp>
      <p:sp>
        <p:nvSpPr>
          <p:cNvPr id="23" name="Text 21"/>
          <p:cNvSpPr/>
          <p:nvPr/>
        </p:nvSpPr>
        <p:spPr>
          <a:xfrm>
            <a:off x="868680" y="4023360"/>
            <a:ext cx="10424160" cy="1325880"/>
          </a:xfrm>
          <a:prstGeom prst="rect">
            <a:avLst/>
          </a:prstGeom>
          <a:noFill/>
          <a:ln/>
        </p:spPr>
        <p:txBody>
          <a:bodyPr wrap="square" lIns="0" tIns="0" rIns="0" bIns="0" rtlCol="0" anchor="ctr"/>
          <a:lstStyle/>
          <a:p>
            <a:pPr indent="0" marL="0">
              <a:lnSpc>
                <a:spcPct val="130000"/>
              </a:lnSpc>
              <a:buNone/>
            </a:pPr>
            <a:r>
              <a:rPr lang="en-US" sz="1350" b="1" dirty="0">
                <a:solidFill>
                  <a:srgbClr val="1C7293"/>
                </a:solidFill>
                <a:latin typeface="Calibri" pitchFamily="34" charset="0"/>
                <a:ea typeface="Calibri" pitchFamily="34" charset="-122"/>
                <a:cs typeface="Calibri" pitchFamily="34" charset="-120"/>
              </a:rPr>
              <a:t>Self-Attention:  </a:t>
            </a:r>
            <a:pPr indent="0" marL="0">
              <a:lnSpc>
                <a:spcPct val="130000"/>
              </a:lnSpc>
              <a:buNone/>
            </a:pPr>
            <a:r>
              <a:rPr lang="en-US" sz="1300" dirty="0">
                <a:solidFill>
                  <a:srgbClr val="23282E"/>
                </a:solidFill>
                <a:latin typeface="Calibri" pitchFamily="34" charset="0"/>
                <a:ea typeface="Calibri" pitchFamily="34" charset="-122"/>
                <a:cs typeface="Calibri" pitchFamily="34" charset="-120"/>
              </a:rPr>
              <a:t>each word gathers context from every other word in the sequence.  </a:t>
            </a:r>
            <a:pPr indent="0" marL="0">
              <a:lnSpc>
                <a:spcPct val="130000"/>
              </a:lnSpc>
              <a:buNone/>
            </a:pPr>
            <a:r>
              <a:rPr lang="en-US" sz="1350" b="1" dirty="0">
                <a:solidFill>
                  <a:srgbClr val="6C4F9E"/>
                </a:solidFill>
                <a:latin typeface="Calibri" pitchFamily="34" charset="0"/>
                <a:ea typeface="Calibri" pitchFamily="34" charset="-122"/>
                <a:cs typeface="Calibri" pitchFamily="34" charset="-120"/>
              </a:rPr>
              <a:t>Feed-Forward Layer:  </a:t>
            </a:r>
            <a:pPr indent="0" marL="0">
              <a:lnSpc>
                <a:spcPct val="130000"/>
              </a:lnSpc>
              <a:buNone/>
            </a:pPr>
            <a:r>
              <a:rPr lang="en-US" sz="1300" dirty="0">
                <a:solidFill>
                  <a:srgbClr val="23282E"/>
                </a:solidFill>
                <a:latin typeface="Calibri" pitchFamily="34" charset="0"/>
                <a:ea typeface="Calibri" pitchFamily="34" charset="-122"/>
                <a:cs typeface="Calibri" pitchFamily="34" charset="-120"/>
              </a:rPr>
              <a:t>processes each word's updated representation individually, adding more capacity to learn patterns.</a:t>
            </a:r>
            <a:endParaRPr lang="en-US" sz="1350" dirty="0"/>
          </a:p>
        </p:txBody>
      </p:sp>
      <p:sp>
        <p:nvSpPr>
          <p:cNvPr id="24" name="Shape 22"/>
          <p:cNvSpPr/>
          <p:nvPr/>
        </p:nvSpPr>
        <p:spPr>
          <a:xfrm>
            <a:off x="548640" y="5532120"/>
            <a:ext cx="11064240" cy="868680"/>
          </a:xfrm>
          <a:prstGeom prst="roundRect">
            <a:avLst>
              <a:gd name="adj" fmla="val 8421"/>
            </a:avLst>
          </a:prstGeom>
          <a:solidFill>
            <a:srgbClr val="16325C"/>
          </a:solidFill>
          <a:ln/>
        </p:spPr>
      </p:sp>
      <p:sp>
        <p:nvSpPr>
          <p:cNvPr id="25" name="Text 23"/>
          <p:cNvSpPr/>
          <p:nvPr/>
        </p:nvSpPr>
        <p:spPr>
          <a:xfrm>
            <a:off x="868680" y="5532120"/>
            <a:ext cx="10424160" cy="868680"/>
          </a:xfrm>
          <a:prstGeom prst="rect">
            <a:avLst/>
          </a:prstGeom>
          <a:noFill/>
          <a:ln/>
        </p:spPr>
        <p:txBody>
          <a:bodyPr wrap="square" lIns="0" tIns="0" rIns="0" bIns="0" rtlCol="0" anchor="ctr"/>
          <a:lstStyle/>
          <a:p>
            <a:pPr indent="0" marL="0">
              <a:lnSpc>
                <a:spcPct val="125000"/>
              </a:lnSpc>
              <a:buNone/>
            </a:pPr>
            <a:r>
              <a:rPr lang="en-US" sz="1150" i="1" dirty="0">
                <a:solidFill>
                  <a:srgbClr val="FFFFFF"/>
                </a:solidFill>
                <a:latin typeface="Calibri" pitchFamily="34" charset="0"/>
                <a:ea typeface="Calibri" pitchFamily="34" charset="-122"/>
                <a:cs typeface="Calibri" pitchFamily="34" charset="-120"/>
              </a:rPr>
              <a:t>This attention + feed-forward pair stacks dozens of times (GPT-3 stacks it 96 times) — each layer builds a richer understanding on top of the last, just like depth in the ANNs we built earlier.</a:t>
            </a:r>
            <a:endParaRPr lang="en-US" sz="1150" dirty="0"/>
          </a:p>
        </p:txBody>
      </p:sp>
      <p:sp>
        <p:nvSpPr>
          <p:cNvPr id="26" name="Text 24"/>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27" name="Text 25"/>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3 · THE KEY TRICK</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Self-Attention — Reading With Focus</a:t>
            </a:r>
            <a:endParaRPr lang="en-US" sz="2700" dirty="0"/>
          </a:p>
        </p:txBody>
      </p:sp>
      <p:sp>
        <p:nvSpPr>
          <p:cNvPr id="4" name="Shape 2"/>
          <p:cNvSpPr/>
          <p:nvPr/>
        </p:nvSpPr>
        <p:spPr>
          <a:xfrm>
            <a:off x="548640" y="1600200"/>
            <a:ext cx="11064240" cy="2148840"/>
          </a:xfrm>
          <a:prstGeom prst="roundRect">
            <a:avLst>
              <a:gd name="adj" fmla="val 3404"/>
            </a:avLst>
          </a:prstGeom>
          <a:solidFill>
            <a:srgbClr val="FDF1E8"/>
          </a:solidFill>
          <a:ln/>
        </p:spPr>
      </p:sp>
      <p:sp>
        <p:nvSpPr>
          <p:cNvPr id="5" name="Text 3"/>
          <p:cNvSpPr/>
          <p:nvPr/>
        </p:nvSpPr>
        <p:spPr>
          <a:xfrm>
            <a:off x="868680" y="1783080"/>
            <a:ext cx="10424160" cy="1874520"/>
          </a:xfrm>
          <a:prstGeom prst="rect">
            <a:avLst/>
          </a:prstGeom>
          <a:noFill/>
          <a:ln/>
        </p:spPr>
        <p:txBody>
          <a:bodyPr wrap="square" lIns="0" tIns="0" rIns="0" bIns="0" rtlCol="0" anchor="t"/>
          <a:lstStyle/>
          <a:p>
            <a:pPr indent="0" marL="0">
              <a:lnSpc>
                <a:spcPct val="132000"/>
              </a:lnSpc>
              <a:buNone/>
            </a:pPr>
            <a:r>
              <a:rPr lang="en-US" sz="1450" b="1" dirty="0">
                <a:solidFill>
                  <a:srgbClr val="C24B4B"/>
                </a:solidFill>
                <a:latin typeface="Calibri" pitchFamily="34" charset="0"/>
                <a:ea typeface="Calibri" pitchFamily="34" charset="-122"/>
                <a:cs typeface="Calibri" pitchFamily="34" charset="-120"/>
              </a:rPr>
              <a:t>Read this sentence: "The trophy didn't fit in the suitcase because it was too big."  </a:t>
            </a:r>
            <a:pPr indent="0" marL="0">
              <a:lnSpc>
                <a:spcPct val="132000"/>
              </a:lnSpc>
              <a:buNone/>
            </a:pPr>
            <a:endParaRPr lang="en-US" sz="1450" dirty="0"/>
          </a:p>
          <a:p>
            <a:pPr indent="0" marL="0">
              <a:lnSpc>
                <a:spcPct val="132000"/>
              </a:lnSpc>
              <a:buNone/>
            </a:pPr>
            <a:endParaRPr lang="en-US" sz="1450" dirty="0"/>
          </a:p>
          <a:p>
            <a:pPr indent="0" marL="0">
              <a:lnSpc>
                <a:spcPct val="132000"/>
              </a:lnSpc>
              <a:buNone/>
            </a:pPr>
            <a:r>
              <a:rPr lang="en-US" sz="1400" dirty="0">
                <a:solidFill>
                  <a:srgbClr val="23282E"/>
                </a:solidFill>
                <a:latin typeface="Calibri" pitchFamily="34" charset="0"/>
                <a:ea typeface="Calibri" pitchFamily="34" charset="-122"/>
                <a:cs typeface="Calibri" pitchFamily="34" charset="-120"/>
              </a:rPr>
              <a:t>What does "it" refer to — the trophy, or the suitcase? You instantly know it's the trophy, by weighing the OTHER words around "it." That weighing process is exactly what self-attention does, mathematically, for every single word.</a:t>
            </a:r>
            <a:endParaRPr lang="en-US" sz="1450" dirty="0"/>
          </a:p>
        </p:txBody>
      </p:sp>
      <p:sp>
        <p:nvSpPr>
          <p:cNvPr id="6" name="Shape 4"/>
          <p:cNvSpPr/>
          <p:nvPr/>
        </p:nvSpPr>
        <p:spPr>
          <a:xfrm>
            <a:off x="548640" y="4023360"/>
            <a:ext cx="11064240" cy="1325880"/>
          </a:xfrm>
          <a:prstGeom prst="roundRect">
            <a:avLst>
              <a:gd name="adj" fmla="val 5517"/>
            </a:avLst>
          </a:prstGeom>
          <a:solidFill>
            <a:srgbClr val="F4F6F9"/>
          </a:solidFill>
          <a:ln/>
        </p:spPr>
      </p:sp>
      <p:sp>
        <p:nvSpPr>
          <p:cNvPr id="7" name="Text 5"/>
          <p:cNvSpPr/>
          <p:nvPr/>
        </p:nvSpPr>
        <p:spPr>
          <a:xfrm>
            <a:off x="868680" y="4023360"/>
            <a:ext cx="10424160" cy="1325880"/>
          </a:xfrm>
          <a:prstGeom prst="rect">
            <a:avLst/>
          </a:prstGeom>
          <a:noFill/>
          <a:ln/>
        </p:spPr>
        <p:txBody>
          <a:bodyPr wrap="square" lIns="0" tIns="0" rIns="0" bIns="0" rtlCol="0" anchor="ctr"/>
          <a:lstStyle/>
          <a:p>
            <a:pPr indent="0" marL="0">
              <a:lnSpc>
                <a:spcPct val="130000"/>
              </a:lnSpc>
              <a:buNone/>
            </a:pPr>
            <a:r>
              <a:rPr lang="en-US" sz="1400" b="1" dirty="0">
                <a:solidFill>
                  <a:srgbClr val="306998"/>
                </a:solidFill>
                <a:latin typeface="Calibri" pitchFamily="34" charset="0"/>
                <a:ea typeface="Calibri" pitchFamily="34" charset="-122"/>
                <a:cs typeface="Calibri" pitchFamily="34" charset="-120"/>
              </a:rPr>
              <a:t>For every word, self-attention asks:  </a:t>
            </a:r>
            <a:pPr indent="0" marL="0">
              <a:lnSpc>
                <a:spcPct val="130000"/>
              </a:lnSpc>
              <a:buNone/>
            </a:pPr>
            <a:r>
              <a:rPr lang="en-US" sz="1350" dirty="0">
                <a:solidFill>
                  <a:srgbClr val="23282E"/>
                </a:solidFill>
                <a:latin typeface="Calibri" pitchFamily="34" charset="0"/>
                <a:ea typeface="Calibri" pitchFamily="34" charset="-122"/>
                <a:cs typeface="Calibri" pitchFamily="34" charset="-120"/>
              </a:rPr>
              <a:t>"of all the other words in this sentence, which ones matter most for understanding ME right now?" — then blends in information from those words, weighted by how relevant they are.</a:t>
            </a:r>
            <a:endParaRPr lang="en-US" sz="1400" dirty="0"/>
          </a:p>
        </p:txBody>
      </p:sp>
      <p:sp>
        <p:nvSpPr>
          <p:cNvPr id="8" name="Text 6"/>
          <p:cNvSpPr/>
          <p:nvPr/>
        </p:nvSpPr>
        <p:spPr>
          <a:xfrm>
            <a:off x="548640" y="5623560"/>
            <a:ext cx="11064240" cy="457200"/>
          </a:xfrm>
          <a:prstGeom prst="rect">
            <a:avLst/>
          </a:prstGeom>
          <a:noFill/>
          <a:ln/>
        </p:spPr>
        <p:txBody>
          <a:bodyPr wrap="square" lIns="0" tIns="0" rIns="0" bIns="0" rtlCol="0" anchor="ctr"/>
          <a:lstStyle/>
          <a:p>
            <a:pPr algn="ctr" indent="0" marL="0">
              <a:buNone/>
            </a:pPr>
            <a:r>
              <a:rPr lang="en-US" sz="1300" i="1" dirty="0">
                <a:solidFill>
                  <a:srgbClr val="6B7280"/>
                </a:solidFill>
                <a:latin typeface="Calibri" pitchFamily="34" charset="0"/>
                <a:ea typeface="Calibri" pitchFamily="34" charset="-122"/>
                <a:cs typeface="Calibri" pitchFamily="34" charset="-120"/>
              </a:rPr>
              <a:t>Let's see this weighing happen visually.</a:t>
            </a:r>
            <a:endParaRPr lang="en-US" sz="1300" dirty="0"/>
          </a:p>
        </p:txBody>
      </p:sp>
      <p:sp>
        <p:nvSpPr>
          <p:cNvPr id="9" name="Text 7"/>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10" name="Text 8"/>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3 · SEEING IT HAPPEN</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Attention, Word by Word</a:t>
            </a:r>
            <a:endParaRPr lang="en-US" sz="2700" dirty="0"/>
          </a:p>
        </p:txBody>
      </p:sp>
      <p:sp>
        <p:nvSpPr>
          <p:cNvPr id="4" name="Shape 2"/>
          <p:cNvSpPr/>
          <p:nvPr/>
        </p:nvSpPr>
        <p:spPr>
          <a:xfrm>
            <a:off x="4704588" y="269748"/>
            <a:ext cx="3474720" cy="3822192"/>
          </a:xfrm>
          <a:prstGeom prst="line">
            <a:avLst/>
          </a:prstGeom>
          <a:noFill/>
          <a:ln w="9525">
            <a:solidFill>
              <a:srgbClr val="1C7293"/>
            </a:solidFill>
            <a:prstDash val="solid"/>
          </a:ln>
        </p:spPr>
      </p:sp>
      <p:sp>
        <p:nvSpPr>
          <p:cNvPr id="5" name="Shape 3"/>
          <p:cNvSpPr/>
          <p:nvPr/>
        </p:nvSpPr>
        <p:spPr>
          <a:xfrm flipV="1">
            <a:off x="1229868" y="269748"/>
            <a:ext cx="3474720" cy="3822192"/>
          </a:xfrm>
          <a:prstGeom prst="line">
            <a:avLst/>
          </a:prstGeom>
          <a:noFill/>
          <a:ln w="9525">
            <a:solidFill>
              <a:srgbClr val="1C7293"/>
            </a:solidFill>
            <a:prstDash val="solid"/>
          </a:ln>
        </p:spPr>
      </p:sp>
      <p:sp>
        <p:nvSpPr>
          <p:cNvPr id="6" name="Shape 4"/>
          <p:cNvSpPr/>
          <p:nvPr/>
        </p:nvSpPr>
        <p:spPr>
          <a:xfrm>
            <a:off x="5399532" y="1034186"/>
            <a:ext cx="2779776" cy="3057754"/>
          </a:xfrm>
          <a:prstGeom prst="line">
            <a:avLst/>
          </a:prstGeom>
          <a:noFill/>
          <a:ln w="44450">
            <a:solidFill>
              <a:srgbClr val="1C7293"/>
            </a:solidFill>
            <a:prstDash val="solid"/>
          </a:ln>
        </p:spPr>
      </p:sp>
      <p:sp>
        <p:nvSpPr>
          <p:cNvPr id="7" name="Shape 5"/>
          <p:cNvSpPr/>
          <p:nvPr/>
        </p:nvSpPr>
        <p:spPr>
          <a:xfrm flipV="1">
            <a:off x="2619756" y="1034186"/>
            <a:ext cx="2779776" cy="3057754"/>
          </a:xfrm>
          <a:prstGeom prst="line">
            <a:avLst/>
          </a:prstGeom>
          <a:noFill/>
          <a:ln w="44450">
            <a:solidFill>
              <a:srgbClr val="1C7293"/>
            </a:solidFill>
            <a:prstDash val="solid"/>
          </a:ln>
        </p:spPr>
      </p:sp>
      <p:sp>
        <p:nvSpPr>
          <p:cNvPr id="8" name="Shape 6"/>
          <p:cNvSpPr/>
          <p:nvPr/>
        </p:nvSpPr>
        <p:spPr>
          <a:xfrm>
            <a:off x="6094476" y="1798625"/>
            <a:ext cx="2084832" cy="2293315"/>
          </a:xfrm>
          <a:prstGeom prst="line">
            <a:avLst/>
          </a:prstGeom>
          <a:noFill/>
          <a:ln w="9525">
            <a:solidFill>
              <a:srgbClr val="1C7293"/>
            </a:solidFill>
            <a:prstDash val="solid"/>
          </a:ln>
        </p:spPr>
      </p:sp>
      <p:sp>
        <p:nvSpPr>
          <p:cNvPr id="9" name="Shape 7"/>
          <p:cNvSpPr/>
          <p:nvPr/>
        </p:nvSpPr>
        <p:spPr>
          <a:xfrm flipV="1">
            <a:off x="4009644" y="1798625"/>
            <a:ext cx="2084832" cy="2293315"/>
          </a:xfrm>
          <a:prstGeom prst="line">
            <a:avLst/>
          </a:prstGeom>
          <a:noFill/>
          <a:ln w="9525">
            <a:solidFill>
              <a:srgbClr val="1C7293"/>
            </a:solidFill>
            <a:prstDash val="solid"/>
          </a:ln>
        </p:spPr>
      </p:sp>
      <p:sp>
        <p:nvSpPr>
          <p:cNvPr id="10" name="Shape 8"/>
          <p:cNvSpPr/>
          <p:nvPr/>
        </p:nvSpPr>
        <p:spPr>
          <a:xfrm>
            <a:off x="6789420" y="2563063"/>
            <a:ext cx="1389888" cy="1528877"/>
          </a:xfrm>
          <a:prstGeom prst="line">
            <a:avLst/>
          </a:prstGeom>
          <a:noFill/>
          <a:ln w="19050">
            <a:solidFill>
              <a:srgbClr val="1C7293"/>
            </a:solidFill>
            <a:prstDash val="solid"/>
          </a:ln>
        </p:spPr>
      </p:sp>
      <p:sp>
        <p:nvSpPr>
          <p:cNvPr id="11" name="Shape 9"/>
          <p:cNvSpPr/>
          <p:nvPr/>
        </p:nvSpPr>
        <p:spPr>
          <a:xfrm flipV="1">
            <a:off x="5399532" y="2563063"/>
            <a:ext cx="1389888" cy="1528877"/>
          </a:xfrm>
          <a:prstGeom prst="line">
            <a:avLst/>
          </a:prstGeom>
          <a:noFill/>
          <a:ln w="19050">
            <a:solidFill>
              <a:srgbClr val="1C7293"/>
            </a:solidFill>
            <a:prstDash val="solid"/>
          </a:ln>
        </p:spPr>
      </p:sp>
      <p:sp>
        <p:nvSpPr>
          <p:cNvPr id="12" name="Shape 10"/>
          <p:cNvSpPr/>
          <p:nvPr/>
        </p:nvSpPr>
        <p:spPr>
          <a:xfrm>
            <a:off x="7484364" y="3327502"/>
            <a:ext cx="694944" cy="764438"/>
          </a:xfrm>
          <a:prstGeom prst="line">
            <a:avLst/>
          </a:prstGeom>
          <a:noFill/>
          <a:ln w="9525">
            <a:solidFill>
              <a:srgbClr val="1C7293"/>
            </a:solidFill>
            <a:prstDash val="solid"/>
          </a:ln>
        </p:spPr>
      </p:sp>
      <p:sp>
        <p:nvSpPr>
          <p:cNvPr id="13" name="Shape 11"/>
          <p:cNvSpPr/>
          <p:nvPr/>
        </p:nvSpPr>
        <p:spPr>
          <a:xfrm flipV="1">
            <a:off x="6789420" y="3327502"/>
            <a:ext cx="694944" cy="764438"/>
          </a:xfrm>
          <a:prstGeom prst="line">
            <a:avLst/>
          </a:prstGeom>
          <a:noFill/>
          <a:ln w="9525">
            <a:solidFill>
              <a:srgbClr val="1C7293"/>
            </a:solidFill>
            <a:prstDash val="solid"/>
          </a:ln>
        </p:spPr>
      </p:sp>
      <p:sp>
        <p:nvSpPr>
          <p:cNvPr id="14" name="Shape 12"/>
          <p:cNvSpPr/>
          <p:nvPr/>
        </p:nvSpPr>
        <p:spPr>
          <a:xfrm flipV="1">
            <a:off x="8179308" y="3327502"/>
            <a:ext cx="694944" cy="764438"/>
          </a:xfrm>
          <a:prstGeom prst="line">
            <a:avLst/>
          </a:prstGeom>
          <a:noFill/>
          <a:ln w="9525">
            <a:solidFill>
              <a:srgbClr val="1C7293"/>
            </a:solidFill>
            <a:prstDash val="solid"/>
          </a:ln>
        </p:spPr>
      </p:sp>
      <p:sp>
        <p:nvSpPr>
          <p:cNvPr id="15" name="Shape 13"/>
          <p:cNvSpPr/>
          <p:nvPr/>
        </p:nvSpPr>
        <p:spPr>
          <a:xfrm>
            <a:off x="8874252" y="3327502"/>
            <a:ext cx="694944" cy="764438"/>
          </a:xfrm>
          <a:prstGeom prst="line">
            <a:avLst/>
          </a:prstGeom>
          <a:noFill/>
          <a:ln w="9525">
            <a:solidFill>
              <a:srgbClr val="1C7293"/>
            </a:solidFill>
            <a:prstDash val="solid"/>
          </a:ln>
        </p:spPr>
      </p:sp>
      <p:sp>
        <p:nvSpPr>
          <p:cNvPr id="16" name="Shape 14"/>
          <p:cNvSpPr/>
          <p:nvPr/>
        </p:nvSpPr>
        <p:spPr>
          <a:xfrm flipV="1">
            <a:off x="8179308" y="2563063"/>
            <a:ext cx="1389888" cy="1528877"/>
          </a:xfrm>
          <a:prstGeom prst="line">
            <a:avLst/>
          </a:prstGeom>
          <a:noFill/>
          <a:ln w="28575">
            <a:solidFill>
              <a:srgbClr val="1C7293"/>
            </a:solidFill>
            <a:prstDash val="solid"/>
          </a:ln>
        </p:spPr>
      </p:sp>
      <p:sp>
        <p:nvSpPr>
          <p:cNvPr id="17" name="Shape 15"/>
          <p:cNvSpPr/>
          <p:nvPr/>
        </p:nvSpPr>
        <p:spPr>
          <a:xfrm>
            <a:off x="9569196" y="2563063"/>
            <a:ext cx="1389888" cy="1528877"/>
          </a:xfrm>
          <a:prstGeom prst="line">
            <a:avLst/>
          </a:prstGeom>
          <a:noFill/>
          <a:ln w="28575">
            <a:solidFill>
              <a:srgbClr val="1C7293"/>
            </a:solidFill>
            <a:prstDash val="solid"/>
          </a:ln>
        </p:spPr>
      </p:sp>
      <p:sp>
        <p:nvSpPr>
          <p:cNvPr id="18" name="Shape 16"/>
          <p:cNvSpPr/>
          <p:nvPr/>
        </p:nvSpPr>
        <p:spPr>
          <a:xfrm>
            <a:off x="626364" y="4091940"/>
            <a:ext cx="1207008" cy="502920"/>
          </a:xfrm>
          <a:prstGeom prst="roundRect">
            <a:avLst>
              <a:gd name="adj" fmla="val 10909"/>
            </a:avLst>
          </a:prstGeom>
          <a:solidFill>
            <a:srgbClr val="F4F6F9"/>
          </a:solidFill>
          <a:ln/>
        </p:spPr>
      </p:sp>
      <p:sp>
        <p:nvSpPr>
          <p:cNvPr id="19" name="Text 17"/>
          <p:cNvSpPr/>
          <p:nvPr/>
        </p:nvSpPr>
        <p:spPr>
          <a:xfrm>
            <a:off x="626364" y="4091940"/>
            <a:ext cx="1207008" cy="502920"/>
          </a:xfrm>
          <a:prstGeom prst="rect">
            <a:avLst/>
          </a:prstGeom>
          <a:noFill/>
          <a:ln/>
        </p:spPr>
        <p:txBody>
          <a:bodyPr wrap="square" lIns="0" tIns="0" rIns="0" bIns="0" rtlCol="0" anchor="ctr"/>
          <a:lstStyle/>
          <a:p>
            <a:pPr algn="ctr" indent="0" marL="0">
              <a:buNone/>
            </a:pPr>
            <a:r>
              <a:rPr lang="en-US" sz="1250" b="1" dirty="0">
                <a:solidFill>
                  <a:srgbClr val="23282E"/>
                </a:solidFill>
                <a:latin typeface="Courier New" pitchFamily="34" charset="0"/>
                <a:ea typeface="Courier New" pitchFamily="34" charset="-122"/>
                <a:cs typeface="Courier New" pitchFamily="34" charset="-120"/>
              </a:rPr>
              <a:t>The</a:t>
            </a:r>
            <a:endParaRPr lang="en-US" sz="1250" dirty="0"/>
          </a:p>
        </p:txBody>
      </p:sp>
      <p:sp>
        <p:nvSpPr>
          <p:cNvPr id="20" name="Shape 18"/>
          <p:cNvSpPr/>
          <p:nvPr/>
        </p:nvSpPr>
        <p:spPr>
          <a:xfrm>
            <a:off x="2016252" y="4091940"/>
            <a:ext cx="1207008" cy="502920"/>
          </a:xfrm>
          <a:prstGeom prst="roundRect">
            <a:avLst>
              <a:gd name="adj" fmla="val 10909"/>
            </a:avLst>
          </a:prstGeom>
          <a:solidFill>
            <a:srgbClr val="F4F6F9"/>
          </a:solidFill>
          <a:ln/>
        </p:spPr>
      </p:sp>
      <p:sp>
        <p:nvSpPr>
          <p:cNvPr id="21" name="Text 19"/>
          <p:cNvSpPr/>
          <p:nvPr/>
        </p:nvSpPr>
        <p:spPr>
          <a:xfrm>
            <a:off x="2016252" y="4091940"/>
            <a:ext cx="1207008" cy="502920"/>
          </a:xfrm>
          <a:prstGeom prst="rect">
            <a:avLst/>
          </a:prstGeom>
          <a:noFill/>
          <a:ln/>
        </p:spPr>
        <p:txBody>
          <a:bodyPr wrap="square" lIns="0" tIns="0" rIns="0" bIns="0" rtlCol="0" anchor="ctr"/>
          <a:lstStyle/>
          <a:p>
            <a:pPr algn="ctr" indent="0" marL="0">
              <a:buNone/>
            </a:pPr>
            <a:r>
              <a:rPr lang="en-US" sz="1250" b="1" dirty="0">
                <a:solidFill>
                  <a:srgbClr val="23282E"/>
                </a:solidFill>
                <a:latin typeface="Courier New" pitchFamily="34" charset="0"/>
                <a:ea typeface="Courier New" pitchFamily="34" charset="-122"/>
                <a:cs typeface="Courier New" pitchFamily="34" charset="-120"/>
              </a:rPr>
              <a:t>cat</a:t>
            </a:r>
            <a:endParaRPr lang="en-US" sz="1250" dirty="0"/>
          </a:p>
        </p:txBody>
      </p:sp>
      <p:sp>
        <p:nvSpPr>
          <p:cNvPr id="22" name="Shape 20"/>
          <p:cNvSpPr/>
          <p:nvPr/>
        </p:nvSpPr>
        <p:spPr>
          <a:xfrm>
            <a:off x="3406140" y="4091940"/>
            <a:ext cx="1207008" cy="502920"/>
          </a:xfrm>
          <a:prstGeom prst="roundRect">
            <a:avLst>
              <a:gd name="adj" fmla="val 10909"/>
            </a:avLst>
          </a:prstGeom>
          <a:solidFill>
            <a:srgbClr val="F4F6F9"/>
          </a:solidFill>
          <a:ln/>
        </p:spPr>
      </p:sp>
      <p:sp>
        <p:nvSpPr>
          <p:cNvPr id="23" name="Text 21"/>
          <p:cNvSpPr/>
          <p:nvPr/>
        </p:nvSpPr>
        <p:spPr>
          <a:xfrm>
            <a:off x="3406140" y="4091940"/>
            <a:ext cx="1207008" cy="502920"/>
          </a:xfrm>
          <a:prstGeom prst="rect">
            <a:avLst/>
          </a:prstGeom>
          <a:noFill/>
          <a:ln/>
        </p:spPr>
        <p:txBody>
          <a:bodyPr wrap="square" lIns="0" tIns="0" rIns="0" bIns="0" rtlCol="0" anchor="ctr"/>
          <a:lstStyle/>
          <a:p>
            <a:pPr algn="ctr" indent="0" marL="0">
              <a:buNone/>
            </a:pPr>
            <a:r>
              <a:rPr lang="en-US" sz="1250" b="1" dirty="0">
                <a:solidFill>
                  <a:srgbClr val="23282E"/>
                </a:solidFill>
                <a:latin typeface="Courier New" pitchFamily="34" charset="0"/>
                <a:ea typeface="Courier New" pitchFamily="34" charset="-122"/>
                <a:cs typeface="Courier New" pitchFamily="34" charset="-120"/>
              </a:rPr>
              <a:t>didn't</a:t>
            </a:r>
            <a:endParaRPr lang="en-US" sz="1250" dirty="0"/>
          </a:p>
        </p:txBody>
      </p:sp>
      <p:sp>
        <p:nvSpPr>
          <p:cNvPr id="24" name="Shape 22"/>
          <p:cNvSpPr/>
          <p:nvPr/>
        </p:nvSpPr>
        <p:spPr>
          <a:xfrm>
            <a:off x="4796028" y="4091940"/>
            <a:ext cx="1207008" cy="502920"/>
          </a:xfrm>
          <a:prstGeom prst="roundRect">
            <a:avLst>
              <a:gd name="adj" fmla="val 10909"/>
            </a:avLst>
          </a:prstGeom>
          <a:solidFill>
            <a:srgbClr val="F4F6F9"/>
          </a:solidFill>
          <a:ln/>
        </p:spPr>
      </p:sp>
      <p:sp>
        <p:nvSpPr>
          <p:cNvPr id="25" name="Text 23"/>
          <p:cNvSpPr/>
          <p:nvPr/>
        </p:nvSpPr>
        <p:spPr>
          <a:xfrm>
            <a:off x="4796028" y="4091940"/>
            <a:ext cx="1207008" cy="502920"/>
          </a:xfrm>
          <a:prstGeom prst="rect">
            <a:avLst/>
          </a:prstGeom>
          <a:noFill/>
          <a:ln/>
        </p:spPr>
        <p:txBody>
          <a:bodyPr wrap="square" lIns="0" tIns="0" rIns="0" bIns="0" rtlCol="0" anchor="ctr"/>
          <a:lstStyle/>
          <a:p>
            <a:pPr algn="ctr" indent="0" marL="0">
              <a:buNone/>
            </a:pPr>
            <a:r>
              <a:rPr lang="en-US" sz="1250" b="1" dirty="0">
                <a:solidFill>
                  <a:srgbClr val="23282E"/>
                </a:solidFill>
                <a:latin typeface="Courier New" pitchFamily="34" charset="0"/>
                <a:ea typeface="Courier New" pitchFamily="34" charset="-122"/>
                <a:cs typeface="Courier New" pitchFamily="34" charset="-120"/>
              </a:rPr>
              <a:t>sleep</a:t>
            </a:r>
            <a:endParaRPr lang="en-US" sz="1250" dirty="0"/>
          </a:p>
        </p:txBody>
      </p:sp>
      <p:sp>
        <p:nvSpPr>
          <p:cNvPr id="26" name="Shape 24"/>
          <p:cNvSpPr/>
          <p:nvPr/>
        </p:nvSpPr>
        <p:spPr>
          <a:xfrm>
            <a:off x="6185916" y="4091940"/>
            <a:ext cx="1207008" cy="502920"/>
          </a:xfrm>
          <a:prstGeom prst="roundRect">
            <a:avLst>
              <a:gd name="adj" fmla="val 10909"/>
            </a:avLst>
          </a:prstGeom>
          <a:solidFill>
            <a:srgbClr val="F4F6F9"/>
          </a:solidFill>
          <a:ln/>
        </p:spPr>
      </p:sp>
      <p:sp>
        <p:nvSpPr>
          <p:cNvPr id="27" name="Text 25"/>
          <p:cNvSpPr/>
          <p:nvPr/>
        </p:nvSpPr>
        <p:spPr>
          <a:xfrm>
            <a:off x="6185916" y="4091940"/>
            <a:ext cx="1207008" cy="502920"/>
          </a:xfrm>
          <a:prstGeom prst="rect">
            <a:avLst/>
          </a:prstGeom>
          <a:noFill/>
          <a:ln/>
        </p:spPr>
        <p:txBody>
          <a:bodyPr wrap="square" lIns="0" tIns="0" rIns="0" bIns="0" rtlCol="0" anchor="ctr"/>
          <a:lstStyle/>
          <a:p>
            <a:pPr algn="ctr" indent="0" marL="0">
              <a:buNone/>
            </a:pPr>
            <a:r>
              <a:rPr lang="en-US" sz="1250" b="1" dirty="0">
                <a:solidFill>
                  <a:srgbClr val="23282E"/>
                </a:solidFill>
                <a:latin typeface="Courier New" pitchFamily="34" charset="0"/>
                <a:ea typeface="Courier New" pitchFamily="34" charset="-122"/>
                <a:cs typeface="Courier New" pitchFamily="34" charset="-120"/>
              </a:rPr>
              <a:t>because</a:t>
            </a:r>
            <a:endParaRPr lang="en-US" sz="1250" dirty="0"/>
          </a:p>
        </p:txBody>
      </p:sp>
      <p:sp>
        <p:nvSpPr>
          <p:cNvPr id="28" name="Shape 26"/>
          <p:cNvSpPr/>
          <p:nvPr/>
        </p:nvSpPr>
        <p:spPr>
          <a:xfrm>
            <a:off x="7575804" y="4091940"/>
            <a:ext cx="1207008" cy="502920"/>
          </a:xfrm>
          <a:prstGeom prst="roundRect">
            <a:avLst>
              <a:gd name="adj" fmla="val 10909"/>
            </a:avLst>
          </a:prstGeom>
          <a:solidFill>
            <a:srgbClr val="E8B923"/>
          </a:solidFill>
          <a:ln/>
        </p:spPr>
      </p:sp>
      <p:sp>
        <p:nvSpPr>
          <p:cNvPr id="29" name="Text 27"/>
          <p:cNvSpPr/>
          <p:nvPr/>
        </p:nvSpPr>
        <p:spPr>
          <a:xfrm>
            <a:off x="7575804" y="4091940"/>
            <a:ext cx="1207008" cy="502920"/>
          </a:xfrm>
          <a:prstGeom prst="rect">
            <a:avLst/>
          </a:prstGeom>
          <a:noFill/>
          <a:ln/>
        </p:spPr>
        <p:txBody>
          <a:bodyPr wrap="square" lIns="0" tIns="0" rIns="0" bIns="0" rtlCol="0" anchor="ctr"/>
          <a:lstStyle/>
          <a:p>
            <a:pPr algn="ctr" indent="0" marL="0">
              <a:buNone/>
            </a:pPr>
            <a:r>
              <a:rPr lang="en-US" sz="1250" b="1" dirty="0">
                <a:solidFill>
                  <a:srgbClr val="16325C"/>
                </a:solidFill>
                <a:latin typeface="Courier New" pitchFamily="34" charset="0"/>
                <a:ea typeface="Courier New" pitchFamily="34" charset="-122"/>
                <a:cs typeface="Courier New" pitchFamily="34" charset="-120"/>
              </a:rPr>
              <a:t>it</a:t>
            </a:r>
            <a:endParaRPr lang="en-US" sz="1250" dirty="0"/>
          </a:p>
        </p:txBody>
      </p:sp>
      <p:sp>
        <p:nvSpPr>
          <p:cNvPr id="30" name="Shape 28"/>
          <p:cNvSpPr/>
          <p:nvPr/>
        </p:nvSpPr>
        <p:spPr>
          <a:xfrm>
            <a:off x="8965692" y="4091940"/>
            <a:ext cx="1207008" cy="502920"/>
          </a:xfrm>
          <a:prstGeom prst="roundRect">
            <a:avLst>
              <a:gd name="adj" fmla="val 10909"/>
            </a:avLst>
          </a:prstGeom>
          <a:solidFill>
            <a:srgbClr val="F4F6F9"/>
          </a:solidFill>
          <a:ln/>
        </p:spPr>
      </p:sp>
      <p:sp>
        <p:nvSpPr>
          <p:cNvPr id="31" name="Text 29"/>
          <p:cNvSpPr/>
          <p:nvPr/>
        </p:nvSpPr>
        <p:spPr>
          <a:xfrm>
            <a:off x="8965692" y="4091940"/>
            <a:ext cx="1207008" cy="502920"/>
          </a:xfrm>
          <a:prstGeom prst="rect">
            <a:avLst/>
          </a:prstGeom>
          <a:noFill/>
          <a:ln/>
        </p:spPr>
        <p:txBody>
          <a:bodyPr wrap="square" lIns="0" tIns="0" rIns="0" bIns="0" rtlCol="0" anchor="ctr"/>
          <a:lstStyle/>
          <a:p>
            <a:pPr algn="ctr" indent="0" marL="0">
              <a:buNone/>
            </a:pPr>
            <a:r>
              <a:rPr lang="en-US" sz="1250" b="1" dirty="0">
                <a:solidFill>
                  <a:srgbClr val="23282E"/>
                </a:solidFill>
                <a:latin typeface="Courier New" pitchFamily="34" charset="0"/>
                <a:ea typeface="Courier New" pitchFamily="34" charset="-122"/>
                <a:cs typeface="Courier New" pitchFamily="34" charset="-120"/>
              </a:rPr>
              <a:t>was</a:t>
            </a:r>
            <a:endParaRPr lang="en-US" sz="1250" dirty="0"/>
          </a:p>
        </p:txBody>
      </p:sp>
      <p:sp>
        <p:nvSpPr>
          <p:cNvPr id="32" name="Shape 30"/>
          <p:cNvSpPr/>
          <p:nvPr/>
        </p:nvSpPr>
        <p:spPr>
          <a:xfrm>
            <a:off x="10355580" y="4091940"/>
            <a:ext cx="1207008" cy="502920"/>
          </a:xfrm>
          <a:prstGeom prst="roundRect">
            <a:avLst>
              <a:gd name="adj" fmla="val 10909"/>
            </a:avLst>
          </a:prstGeom>
          <a:solidFill>
            <a:srgbClr val="F4F6F9"/>
          </a:solidFill>
          <a:ln/>
        </p:spPr>
      </p:sp>
      <p:sp>
        <p:nvSpPr>
          <p:cNvPr id="33" name="Text 31"/>
          <p:cNvSpPr/>
          <p:nvPr/>
        </p:nvSpPr>
        <p:spPr>
          <a:xfrm>
            <a:off x="10355580" y="4091940"/>
            <a:ext cx="1207008" cy="502920"/>
          </a:xfrm>
          <a:prstGeom prst="rect">
            <a:avLst/>
          </a:prstGeom>
          <a:noFill/>
          <a:ln/>
        </p:spPr>
        <p:txBody>
          <a:bodyPr wrap="square" lIns="0" tIns="0" rIns="0" bIns="0" rtlCol="0" anchor="ctr"/>
          <a:lstStyle/>
          <a:p>
            <a:pPr algn="ctr" indent="0" marL="0">
              <a:buNone/>
            </a:pPr>
            <a:r>
              <a:rPr lang="en-US" sz="1250" b="1" dirty="0">
                <a:solidFill>
                  <a:srgbClr val="23282E"/>
                </a:solidFill>
                <a:latin typeface="Courier New" pitchFamily="34" charset="0"/>
                <a:ea typeface="Courier New" pitchFamily="34" charset="-122"/>
                <a:cs typeface="Courier New" pitchFamily="34" charset="-120"/>
              </a:rPr>
              <a:t>tired</a:t>
            </a:r>
            <a:endParaRPr lang="en-US" sz="1250" dirty="0"/>
          </a:p>
        </p:txBody>
      </p:sp>
      <p:sp>
        <p:nvSpPr>
          <p:cNvPr id="34" name="Text 32"/>
          <p:cNvSpPr/>
          <p:nvPr/>
        </p:nvSpPr>
        <p:spPr>
          <a:xfrm>
            <a:off x="7539228" y="4754880"/>
            <a:ext cx="1280160" cy="274320"/>
          </a:xfrm>
          <a:prstGeom prst="rect">
            <a:avLst/>
          </a:prstGeom>
          <a:noFill/>
          <a:ln/>
        </p:spPr>
        <p:txBody>
          <a:bodyPr wrap="square" lIns="0" tIns="0" rIns="0" bIns="0" rtlCol="0" anchor="ctr"/>
          <a:lstStyle/>
          <a:p>
            <a:pPr algn="ctr" indent="0" marL="0">
              <a:buNone/>
            </a:pPr>
            <a:r>
              <a:rPr lang="en-US" sz="1000" b="1" i="1" dirty="0">
                <a:solidFill>
                  <a:srgbClr val="AD8A1D"/>
                </a:solidFill>
                <a:latin typeface="Calibri" pitchFamily="34" charset="0"/>
                <a:ea typeface="Calibri" pitchFamily="34" charset="-122"/>
                <a:cs typeface="Calibri" pitchFamily="34" charset="-120"/>
              </a:rPr>
              <a:t>focus word</a:t>
            </a:r>
            <a:endParaRPr lang="en-US" sz="1000" dirty="0"/>
          </a:p>
        </p:txBody>
      </p:sp>
      <p:sp>
        <p:nvSpPr>
          <p:cNvPr id="35" name="Shape 33"/>
          <p:cNvSpPr/>
          <p:nvPr/>
        </p:nvSpPr>
        <p:spPr>
          <a:xfrm>
            <a:off x="548640" y="5349240"/>
            <a:ext cx="11064240" cy="1051560"/>
          </a:xfrm>
          <a:prstGeom prst="roundRect">
            <a:avLst>
              <a:gd name="adj" fmla="val 6957"/>
            </a:avLst>
          </a:prstGeom>
          <a:solidFill>
            <a:srgbClr val="EAF3FB"/>
          </a:solidFill>
          <a:ln/>
        </p:spPr>
      </p:sp>
      <p:sp>
        <p:nvSpPr>
          <p:cNvPr id="36" name="Text 34"/>
          <p:cNvSpPr/>
          <p:nvPr/>
        </p:nvSpPr>
        <p:spPr>
          <a:xfrm>
            <a:off x="868680" y="5349240"/>
            <a:ext cx="10424160" cy="1051560"/>
          </a:xfrm>
          <a:prstGeom prst="rect">
            <a:avLst/>
          </a:prstGeom>
          <a:noFill/>
          <a:ln/>
        </p:spPr>
        <p:txBody>
          <a:bodyPr wrap="square" lIns="0" tIns="0" rIns="0" bIns="0" rtlCol="0" anchor="ctr"/>
          <a:lstStyle/>
          <a:p>
            <a:pPr indent="0" marL="0">
              <a:lnSpc>
                <a:spcPct val="125000"/>
              </a:lnSpc>
              <a:buNone/>
            </a:pPr>
            <a:r>
              <a:rPr lang="en-US" sz="1200" dirty="0">
                <a:solidFill>
                  <a:srgbClr val="23282E"/>
                </a:solidFill>
                <a:latin typeface="Calibri" pitchFamily="34" charset="0"/>
                <a:ea typeface="Calibri" pitchFamily="34" charset="-122"/>
                <a:cs typeface="Calibri" pitchFamily="34" charset="-120"/>
              </a:rPr>
              <a:t>While processing "it," the model connects most strongly to "cat" (thick line) — figuring out what "it" refers to. "tired" gets a moderate connection too, since it directly describes "it." Barely-related words get thin, near-zero connections.</a:t>
            </a:r>
            <a:endParaRPr lang="en-US" sz="1200" dirty="0"/>
          </a:p>
        </p:txBody>
      </p:sp>
      <p:sp>
        <p:nvSpPr>
          <p:cNvPr id="37" name="Text 35"/>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38" name="Text 36"/>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AF3FB"/>
        </a:solidFill>
      </p:bgPr>
    </p:bg>
    <p:spTree>
      <p:nvGrpSpPr>
        <p:cNvPr id="1" name=""/>
        <p:cNvGrpSpPr/>
        <p:nvPr/>
      </p:nvGrpSpPr>
      <p:grpSpPr>
        <a:xfrm>
          <a:off x="0" y="0"/>
          <a:ext cx="0" cy="0"/>
          <a:chOff x="0" y="0"/>
          <a:chExt cx="0" cy="0"/>
        </a:xfrm>
      </p:grpSpPr>
      <p:sp>
        <p:nvSpPr>
          <p:cNvPr id="2" name="Shape 0"/>
          <p:cNvSpPr/>
          <p:nvPr/>
        </p:nvSpPr>
        <p:spPr>
          <a:xfrm>
            <a:off x="548640" y="457200"/>
            <a:ext cx="822960" cy="822960"/>
          </a:xfrm>
          <a:prstGeom prst="ellipse">
            <a:avLst/>
          </a:prstGeom>
          <a:solidFill>
            <a:srgbClr val="E8B923"/>
          </a:solidFill>
          <a:ln/>
        </p:spPr>
      </p:sp>
      <p:sp>
        <p:nvSpPr>
          <p:cNvPr id="3" name="Text 1"/>
          <p:cNvSpPr/>
          <p:nvPr/>
        </p:nvSpPr>
        <p:spPr>
          <a:xfrm>
            <a:off x="548640" y="45720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t>
            </a:r>
            <a:endParaRPr lang="en-US" sz="3200" dirty="0"/>
          </a:p>
        </p:txBody>
      </p:sp>
      <p:sp>
        <p:nvSpPr>
          <p:cNvPr id="4" name="Text 2"/>
          <p:cNvSpPr/>
          <p:nvPr/>
        </p:nvSpPr>
        <p:spPr>
          <a:xfrm>
            <a:off x="1554480" y="457200"/>
            <a:ext cx="5486400" cy="365760"/>
          </a:xfrm>
          <a:prstGeom prst="rect">
            <a:avLst/>
          </a:prstGeom>
          <a:noFill/>
          <a:ln/>
        </p:spPr>
        <p:txBody>
          <a:bodyPr wrap="square" lIns="0" tIns="0" rIns="0" bIns="0" rtlCol="0" anchor="ctr"/>
          <a:lstStyle/>
          <a:p>
            <a:pPr indent="0" marL="0">
              <a:buNone/>
            </a:pPr>
            <a:r>
              <a:rPr lang="en-US" sz="1300" b="1" spc="200" kern="0" dirty="0">
                <a:solidFill>
                  <a:srgbClr val="E8B923"/>
                </a:solidFill>
                <a:latin typeface="Calibri" pitchFamily="34" charset="0"/>
                <a:ea typeface="Calibri" pitchFamily="34" charset="-122"/>
                <a:cs typeface="Calibri" pitchFamily="34" charset="-120"/>
              </a:rPr>
              <a:t>QUICK CHECK 3</a:t>
            </a:r>
            <a:endParaRPr lang="en-US" sz="1300" dirty="0"/>
          </a:p>
        </p:txBody>
      </p:sp>
      <p:sp>
        <p:nvSpPr>
          <p:cNvPr id="5" name="Text 3"/>
          <p:cNvSpPr/>
          <p:nvPr/>
        </p:nvSpPr>
        <p:spPr>
          <a:xfrm>
            <a:off x="1554480" y="777240"/>
            <a:ext cx="7315200" cy="548640"/>
          </a:xfrm>
          <a:prstGeom prst="rect">
            <a:avLst/>
          </a:prstGeom>
          <a:noFill/>
          <a:ln/>
        </p:spPr>
        <p:txBody>
          <a:bodyPr wrap="square" lIns="0" tIns="0" rIns="0" bIns="0" rtlCol="0" anchor="ctr"/>
          <a:lstStyle/>
          <a:p>
            <a:pPr indent="0" marL="0">
              <a:buNone/>
            </a:pPr>
            <a:r>
              <a:rPr lang="en-US" sz="2700" b="1" dirty="0">
                <a:solidFill>
                  <a:srgbClr val="23282E"/>
                </a:solidFill>
                <a:latin typeface="Cambria" pitchFamily="34" charset="0"/>
                <a:ea typeface="Cambria" pitchFamily="34" charset="-122"/>
                <a:cs typeface="Cambria" pitchFamily="34" charset="-120"/>
              </a:rPr>
              <a:t>Transformer Check</a:t>
            </a:r>
            <a:endParaRPr lang="en-US" sz="2700" dirty="0"/>
          </a:p>
        </p:txBody>
      </p:sp>
      <p:sp>
        <p:nvSpPr>
          <p:cNvPr id="6" name="Shape 4"/>
          <p:cNvSpPr/>
          <p:nvPr/>
        </p:nvSpPr>
        <p:spPr>
          <a:xfrm>
            <a:off x="9418320" y="502920"/>
            <a:ext cx="2194560" cy="548640"/>
          </a:xfrm>
          <a:prstGeom prst="roundRect">
            <a:avLst>
              <a:gd name="adj" fmla="val 50000"/>
            </a:avLst>
          </a:prstGeom>
          <a:solidFill>
            <a:srgbClr val="16325C"/>
          </a:solidFill>
          <a:ln/>
        </p:spPr>
      </p:sp>
      <p:sp>
        <p:nvSpPr>
          <p:cNvPr id="7" name="Text 5"/>
          <p:cNvSpPr/>
          <p:nvPr/>
        </p:nvSpPr>
        <p:spPr>
          <a:xfrm>
            <a:off x="9418320" y="502920"/>
            <a:ext cx="219456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DISCUSS AS A CLASS</a:t>
            </a:r>
            <a:endParaRPr lang="en-US" sz="1050" dirty="0"/>
          </a:p>
        </p:txBody>
      </p:sp>
      <p:sp>
        <p:nvSpPr>
          <p:cNvPr id="8" name="Shape 6"/>
          <p:cNvSpPr/>
          <p:nvPr/>
        </p:nvSpPr>
        <p:spPr>
          <a:xfrm>
            <a:off x="548640" y="1600200"/>
            <a:ext cx="7406640" cy="4572000"/>
          </a:xfrm>
          <a:prstGeom prst="roundRect">
            <a:avLst>
              <a:gd name="adj" fmla="val 1600"/>
            </a:avLst>
          </a:prstGeom>
          <a:solidFill>
            <a:srgbClr val="FFFFFF"/>
          </a:solidFill>
          <a:ln w="12700">
            <a:solidFill>
              <a:srgbClr val="C9DCEE"/>
            </a:solidFill>
            <a:prstDash val="solid"/>
          </a:ln>
          <a:effectLst>
            <a:outerShdw sx="100000" sy="100000" kx="0" ky="0" algn="bl" rotWithShape="0" blurRad="101600" dist="25400" dir="5400000">
              <a:srgbClr val="000000">
                <a:alpha val="12000"/>
              </a:srgbClr>
            </a:outerShdw>
          </a:effectLst>
        </p:spPr>
      </p:sp>
      <p:sp>
        <p:nvSpPr>
          <p:cNvPr id="9" name="Text 7"/>
          <p:cNvSpPr/>
          <p:nvPr/>
        </p:nvSpPr>
        <p:spPr>
          <a:xfrm>
            <a:off x="868680" y="1874520"/>
            <a:ext cx="6858000" cy="4023360"/>
          </a:xfrm>
          <a:prstGeom prst="rect">
            <a:avLst/>
          </a:prstGeom>
          <a:noFill/>
          <a:ln/>
        </p:spPr>
        <p:txBody>
          <a:bodyPr wrap="square" lIns="0" tIns="0" rIns="0" bIns="0" rtlCol="0" anchor="t"/>
          <a:lstStyle/>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1.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Someone asks the single biggest advantage Transformers have over RNNs.</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2.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You're processing the word "it" in a sentence with an ambiguous pronoun.</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3.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Someone asks what a "Transformer Block" contains.</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4.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Someone asks why Transformers can train on so much more data than RNNs could.</a:t>
            </a:r>
            <a:endParaRPr lang="en-US" sz="1500" dirty="0"/>
          </a:p>
        </p:txBody>
      </p:sp>
      <p:sp>
        <p:nvSpPr>
          <p:cNvPr id="10" name="Shape 8"/>
          <p:cNvSpPr/>
          <p:nvPr/>
        </p:nvSpPr>
        <p:spPr>
          <a:xfrm>
            <a:off x="8229600" y="1600200"/>
            <a:ext cx="3383280" cy="4572000"/>
          </a:xfrm>
          <a:prstGeom prst="roundRect">
            <a:avLst>
              <a:gd name="adj" fmla="val 2162"/>
            </a:avLst>
          </a:prstGeom>
          <a:solidFill>
            <a:srgbClr val="16325C"/>
          </a:solidFill>
          <a:ln/>
        </p:spPr>
      </p:sp>
      <p:sp>
        <p:nvSpPr>
          <p:cNvPr id="11" name="Text 9"/>
          <p:cNvSpPr/>
          <p:nvPr/>
        </p:nvSpPr>
        <p:spPr>
          <a:xfrm>
            <a:off x="8549640" y="1828800"/>
            <a:ext cx="2743200" cy="320040"/>
          </a:xfrm>
          <a:prstGeom prst="rect">
            <a:avLst/>
          </a:prstGeom>
          <a:noFill/>
          <a:ln/>
        </p:spPr>
        <p:txBody>
          <a:bodyPr wrap="square" lIns="0" tIns="0" rIns="0" bIns="0" rtlCol="0" anchor="ctr"/>
          <a:lstStyle/>
          <a:p>
            <a:pPr indent="0" marL="0">
              <a:buNone/>
            </a:pPr>
            <a:r>
              <a:rPr lang="en-US" sz="1200" b="1" spc="200" kern="0" dirty="0">
                <a:solidFill>
                  <a:srgbClr val="FFD43B"/>
                </a:solidFill>
                <a:latin typeface="Calibri" pitchFamily="34" charset="0"/>
                <a:ea typeface="Calibri" pitchFamily="34" charset="-122"/>
                <a:cs typeface="Calibri" pitchFamily="34" charset="-120"/>
              </a:rPr>
              <a:t>ANSWER KEY</a:t>
            </a:r>
            <a:endParaRPr lang="en-US" sz="1200" dirty="0"/>
          </a:p>
        </p:txBody>
      </p:sp>
      <p:sp>
        <p:nvSpPr>
          <p:cNvPr id="12" name="Text 10"/>
          <p:cNvSpPr/>
          <p:nvPr/>
        </p:nvSpPr>
        <p:spPr>
          <a:xfrm>
            <a:off x="8549640" y="2194560"/>
            <a:ext cx="2788920" cy="3840480"/>
          </a:xfrm>
          <a:prstGeom prst="rect">
            <a:avLst/>
          </a:prstGeom>
          <a:noFill/>
          <a:ln/>
        </p:spPr>
        <p:txBody>
          <a:bodyPr wrap="square" lIns="0" tIns="0" rIns="0" bIns="0" rtlCol="0" anchor="t"/>
          <a:lstStyle/>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1.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They process the whole sequence in parallel, instead of one step at a time</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2.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Self-attention weighs every other word to figure out what "it" most likely refers to</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3.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A self-attention layer plus a feed-forward layer, usually stacked many times</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4.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Parallel processing runs efficiently on GPUs, making large-scale training practical</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325C"/>
        </a:solidFill>
      </p:bgPr>
    </p:bg>
    <p:spTree>
      <p:nvGrpSpPr>
        <p:cNvPr id="1" name=""/>
        <p:cNvGrpSpPr/>
        <p:nvPr/>
      </p:nvGrpSpPr>
      <p:grpSpPr>
        <a:xfrm>
          <a:off x="0" y="0"/>
          <a:ext cx="0" cy="0"/>
          <a:chOff x="0" y="0"/>
          <a:chExt cx="0" cy="0"/>
        </a:xfrm>
      </p:grpSpPr>
      <p:sp>
        <p:nvSpPr>
          <p:cNvPr id="2" name="Text 0"/>
          <p:cNvSpPr/>
          <p:nvPr/>
        </p:nvSpPr>
        <p:spPr>
          <a:xfrm>
            <a:off x="640080" y="1371600"/>
            <a:ext cx="4572000" cy="2926080"/>
          </a:xfrm>
          <a:prstGeom prst="rect">
            <a:avLst/>
          </a:prstGeom>
          <a:noFill/>
          <a:ln/>
        </p:spPr>
        <p:txBody>
          <a:bodyPr wrap="square" lIns="0" tIns="0" rIns="0" bIns="0" rtlCol="0" anchor="ctr"/>
          <a:lstStyle/>
          <a:p>
            <a:pPr algn="l" indent="0" marL="0">
              <a:buNone/>
            </a:pPr>
            <a:r>
              <a:rPr lang="en-US" sz="22000" b="1" dirty="0">
                <a:solidFill>
                  <a:srgbClr val="1E3A66"/>
                </a:solidFill>
                <a:latin typeface="Cambria" pitchFamily="34" charset="0"/>
                <a:ea typeface="Cambria" pitchFamily="34" charset="-122"/>
                <a:cs typeface="Cambria" pitchFamily="34" charset="-120"/>
              </a:rPr>
              <a:t>04</a:t>
            </a:r>
            <a:endParaRPr lang="en-US" sz="22000" dirty="0"/>
          </a:p>
        </p:txBody>
      </p:sp>
      <p:sp>
        <p:nvSpPr>
          <p:cNvPr id="3" name="Shape 1"/>
          <p:cNvSpPr/>
          <p:nvPr/>
        </p:nvSpPr>
        <p:spPr>
          <a:xfrm>
            <a:off x="5394960" y="2011680"/>
            <a:ext cx="54864" cy="1920240"/>
          </a:xfrm>
          <a:prstGeom prst="rect">
            <a:avLst/>
          </a:prstGeom>
          <a:solidFill>
            <a:srgbClr val="FFD43B"/>
          </a:solidFill>
          <a:ln/>
        </p:spPr>
      </p:sp>
      <p:sp>
        <p:nvSpPr>
          <p:cNvPr id="4" name="Text 2"/>
          <p:cNvSpPr/>
          <p:nvPr/>
        </p:nvSpPr>
        <p:spPr>
          <a:xfrm>
            <a:off x="5715000" y="1965960"/>
            <a:ext cx="6035040" cy="11887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How LLMs Learn</a:t>
            </a:r>
            <a:endParaRPr lang="en-US" sz="3200" dirty="0"/>
          </a:p>
        </p:txBody>
      </p:sp>
      <p:sp>
        <p:nvSpPr>
          <p:cNvPr id="5" name="Text 3"/>
          <p:cNvSpPr/>
          <p:nvPr/>
        </p:nvSpPr>
        <p:spPr>
          <a:xfrm>
            <a:off x="5715000" y="3063240"/>
            <a:ext cx="6035040" cy="822960"/>
          </a:xfrm>
          <a:prstGeom prst="rect">
            <a:avLst/>
          </a:prstGeom>
          <a:noFill/>
          <a:ln/>
        </p:spPr>
        <p:txBody>
          <a:bodyPr wrap="square" lIns="0" tIns="0" rIns="0" bIns="0" rtlCol="0" anchor="t"/>
          <a:lstStyle/>
          <a:p>
            <a:pPr algn="l" indent="0" marL="0">
              <a:buNone/>
            </a:pPr>
            <a:r>
              <a:rPr lang="en-US" sz="1700" i="1" dirty="0">
                <a:solidFill>
                  <a:srgbClr val="FFD43B"/>
                </a:solidFill>
                <a:latin typeface="Calibri" pitchFamily="34" charset="0"/>
                <a:ea typeface="Calibri" pitchFamily="34" charset="-122"/>
                <a:cs typeface="Calibri" pitchFamily="34" charset="-120"/>
              </a:rPr>
              <a:t>From reading the internet to becoming a helpful assistant</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4 · STAGE 1</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Pretraining — Predict the Next Word</a:t>
            </a:r>
            <a:endParaRPr lang="en-US" sz="2700" dirty="0"/>
          </a:p>
        </p:txBody>
      </p:sp>
      <p:sp>
        <p:nvSpPr>
          <p:cNvPr id="4" name="Text 2"/>
          <p:cNvSpPr/>
          <p:nvPr/>
        </p:nvSpPr>
        <p:spPr>
          <a:xfrm>
            <a:off x="548640" y="1536192"/>
            <a:ext cx="11064240" cy="502920"/>
          </a:xfrm>
          <a:prstGeom prst="rect">
            <a:avLst/>
          </a:prstGeom>
          <a:noFill/>
          <a:ln/>
        </p:spPr>
        <p:txBody>
          <a:bodyPr wrap="square" lIns="0" tIns="0" rIns="0" bIns="0" rtlCol="0" anchor="ctr"/>
          <a:lstStyle/>
          <a:p>
            <a:pPr indent="0" marL="0">
              <a:lnSpc>
                <a:spcPct val="125000"/>
              </a:lnSpc>
              <a:buNone/>
            </a:pPr>
            <a:r>
              <a:rPr lang="en-US" sz="1350" i="1" dirty="0">
                <a:solidFill>
                  <a:srgbClr val="6B7280"/>
                </a:solidFill>
                <a:latin typeface="Calibri" pitchFamily="34" charset="0"/>
                <a:ea typeface="Calibri" pitchFamily="34" charset="-122"/>
                <a:cs typeface="Calibri" pitchFamily="34" charset="-120"/>
              </a:rPr>
              <a:t>Training starts with one simple, repeated game: show the model a huge chunk of text, hide the next word, and ask it to guess.</a:t>
            </a:r>
            <a:endParaRPr lang="en-US" sz="1350" dirty="0"/>
          </a:p>
        </p:txBody>
      </p:sp>
      <p:sp>
        <p:nvSpPr>
          <p:cNvPr id="5" name="Text 3"/>
          <p:cNvSpPr/>
          <p:nvPr/>
        </p:nvSpPr>
        <p:spPr>
          <a:xfrm>
            <a:off x="548640" y="2194560"/>
            <a:ext cx="11064240" cy="457200"/>
          </a:xfrm>
          <a:prstGeom prst="rect">
            <a:avLst/>
          </a:prstGeom>
          <a:noFill/>
          <a:ln/>
        </p:spPr>
        <p:txBody>
          <a:bodyPr wrap="square" lIns="0" tIns="0" rIns="0" bIns="0" rtlCol="0" anchor="ctr"/>
          <a:lstStyle/>
          <a:p>
            <a:pPr algn="ctr" indent="0" marL="0">
              <a:buNone/>
            </a:pPr>
            <a:r>
              <a:rPr lang="en-US" sz="2200" b="1" dirty="0">
                <a:solidFill>
                  <a:srgbClr val="23282E"/>
                </a:solidFill>
                <a:latin typeface="Cambria" pitchFamily="34" charset="0"/>
                <a:ea typeface="Cambria" pitchFamily="34" charset="-122"/>
                <a:cs typeface="Cambria" pitchFamily="34" charset="-120"/>
              </a:rPr>
              <a:t>"The cat sat on the ___"</a:t>
            </a:r>
            <a:endParaRPr lang="en-US" sz="2200" dirty="0"/>
          </a:p>
        </p:txBody>
      </p:sp>
      <p:sp>
        <p:nvSpPr>
          <p:cNvPr id="6" name="Shape 4"/>
          <p:cNvSpPr/>
          <p:nvPr/>
        </p:nvSpPr>
        <p:spPr>
          <a:xfrm>
            <a:off x="3200400" y="3699662"/>
            <a:ext cx="1289304" cy="963778"/>
          </a:xfrm>
          <a:prstGeom prst="rect">
            <a:avLst/>
          </a:prstGeom>
          <a:solidFill>
            <a:srgbClr val="3E8E5A"/>
          </a:solidFill>
          <a:ln/>
        </p:spPr>
      </p:sp>
      <p:sp>
        <p:nvSpPr>
          <p:cNvPr id="7" name="Text 5"/>
          <p:cNvSpPr/>
          <p:nvPr/>
        </p:nvSpPr>
        <p:spPr>
          <a:xfrm>
            <a:off x="3108960" y="3407054"/>
            <a:ext cx="1472184"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62%</a:t>
            </a:r>
            <a:endParaRPr lang="en-US" sz="1150" dirty="0"/>
          </a:p>
        </p:txBody>
      </p:sp>
      <p:sp>
        <p:nvSpPr>
          <p:cNvPr id="8" name="Text 6"/>
          <p:cNvSpPr/>
          <p:nvPr/>
        </p:nvSpPr>
        <p:spPr>
          <a:xfrm>
            <a:off x="3063240" y="4736592"/>
            <a:ext cx="1563624" cy="365760"/>
          </a:xfrm>
          <a:prstGeom prst="rect">
            <a:avLst/>
          </a:prstGeom>
          <a:noFill/>
          <a:ln/>
        </p:spPr>
        <p:txBody>
          <a:bodyPr wrap="square" lIns="0" tIns="0" rIns="0" bIns="0" rtlCol="0" anchor="ctr"/>
          <a:lstStyle/>
          <a:p>
            <a:pPr algn="ctr" indent="0" marL="0">
              <a:lnSpc>
                <a:spcPct val="110000"/>
              </a:lnSpc>
              <a:buNone/>
            </a:pPr>
            <a:r>
              <a:rPr lang="en-US" sz="1050" dirty="0">
                <a:solidFill>
                  <a:srgbClr val="6B7280"/>
                </a:solidFill>
                <a:latin typeface="Calibri" pitchFamily="34" charset="0"/>
                <a:ea typeface="Calibri" pitchFamily="34" charset="-122"/>
                <a:cs typeface="Calibri" pitchFamily="34" charset="-120"/>
              </a:rPr>
              <a:t>mat</a:t>
            </a:r>
            <a:endParaRPr lang="en-US" sz="1050" dirty="0"/>
          </a:p>
        </p:txBody>
      </p:sp>
      <p:sp>
        <p:nvSpPr>
          <p:cNvPr id="9" name="Shape 7"/>
          <p:cNvSpPr/>
          <p:nvPr/>
        </p:nvSpPr>
        <p:spPr>
          <a:xfrm>
            <a:off x="4690872" y="4383634"/>
            <a:ext cx="1289304" cy="279806"/>
          </a:xfrm>
          <a:prstGeom prst="rect">
            <a:avLst/>
          </a:prstGeom>
          <a:solidFill>
            <a:srgbClr val="306998"/>
          </a:solidFill>
          <a:ln/>
        </p:spPr>
      </p:sp>
      <p:sp>
        <p:nvSpPr>
          <p:cNvPr id="10" name="Text 8"/>
          <p:cNvSpPr/>
          <p:nvPr/>
        </p:nvSpPr>
        <p:spPr>
          <a:xfrm>
            <a:off x="4599432" y="4091026"/>
            <a:ext cx="1472184"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18%</a:t>
            </a:r>
            <a:endParaRPr lang="en-US" sz="1150" dirty="0"/>
          </a:p>
        </p:txBody>
      </p:sp>
      <p:sp>
        <p:nvSpPr>
          <p:cNvPr id="11" name="Text 9"/>
          <p:cNvSpPr/>
          <p:nvPr/>
        </p:nvSpPr>
        <p:spPr>
          <a:xfrm>
            <a:off x="4553712" y="4736592"/>
            <a:ext cx="1563624" cy="365760"/>
          </a:xfrm>
          <a:prstGeom prst="rect">
            <a:avLst/>
          </a:prstGeom>
          <a:noFill/>
          <a:ln/>
        </p:spPr>
        <p:txBody>
          <a:bodyPr wrap="square" lIns="0" tIns="0" rIns="0" bIns="0" rtlCol="0" anchor="ctr"/>
          <a:lstStyle/>
          <a:p>
            <a:pPr algn="ctr" indent="0" marL="0">
              <a:lnSpc>
                <a:spcPct val="110000"/>
              </a:lnSpc>
              <a:buNone/>
            </a:pPr>
            <a:r>
              <a:rPr lang="en-US" sz="1050" dirty="0">
                <a:solidFill>
                  <a:srgbClr val="6B7280"/>
                </a:solidFill>
                <a:latin typeface="Calibri" pitchFamily="34" charset="0"/>
                <a:ea typeface="Calibri" pitchFamily="34" charset="-122"/>
                <a:cs typeface="Calibri" pitchFamily="34" charset="-120"/>
              </a:rPr>
              <a:t>chair</a:t>
            </a:r>
            <a:endParaRPr lang="en-US" sz="1050" dirty="0"/>
          </a:p>
        </p:txBody>
      </p:sp>
      <p:sp>
        <p:nvSpPr>
          <p:cNvPr id="12" name="Shape 10"/>
          <p:cNvSpPr/>
          <p:nvPr/>
        </p:nvSpPr>
        <p:spPr>
          <a:xfrm>
            <a:off x="6181344" y="4523537"/>
            <a:ext cx="1289304" cy="139903"/>
          </a:xfrm>
          <a:prstGeom prst="rect">
            <a:avLst/>
          </a:prstGeom>
          <a:solidFill>
            <a:srgbClr val="306998"/>
          </a:solidFill>
          <a:ln/>
        </p:spPr>
      </p:sp>
      <p:sp>
        <p:nvSpPr>
          <p:cNvPr id="13" name="Text 11"/>
          <p:cNvSpPr/>
          <p:nvPr/>
        </p:nvSpPr>
        <p:spPr>
          <a:xfrm>
            <a:off x="6089904" y="4230929"/>
            <a:ext cx="1472184"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9%</a:t>
            </a:r>
            <a:endParaRPr lang="en-US" sz="1150" dirty="0"/>
          </a:p>
        </p:txBody>
      </p:sp>
      <p:sp>
        <p:nvSpPr>
          <p:cNvPr id="14" name="Text 12"/>
          <p:cNvSpPr/>
          <p:nvPr/>
        </p:nvSpPr>
        <p:spPr>
          <a:xfrm>
            <a:off x="6044184" y="4736592"/>
            <a:ext cx="1563624" cy="365760"/>
          </a:xfrm>
          <a:prstGeom prst="rect">
            <a:avLst/>
          </a:prstGeom>
          <a:noFill/>
          <a:ln/>
        </p:spPr>
        <p:txBody>
          <a:bodyPr wrap="square" lIns="0" tIns="0" rIns="0" bIns="0" rtlCol="0" anchor="ctr"/>
          <a:lstStyle/>
          <a:p>
            <a:pPr algn="ctr" indent="0" marL="0">
              <a:lnSpc>
                <a:spcPct val="110000"/>
              </a:lnSpc>
              <a:buNone/>
            </a:pPr>
            <a:r>
              <a:rPr lang="en-US" sz="1050" dirty="0">
                <a:solidFill>
                  <a:srgbClr val="6B7280"/>
                </a:solidFill>
                <a:latin typeface="Calibri" pitchFamily="34" charset="0"/>
                <a:ea typeface="Calibri" pitchFamily="34" charset="-122"/>
                <a:cs typeface="Calibri" pitchFamily="34" charset="-120"/>
              </a:rPr>
              <a:t>roof</a:t>
            </a:r>
            <a:endParaRPr lang="en-US" sz="1050" dirty="0"/>
          </a:p>
        </p:txBody>
      </p:sp>
      <p:sp>
        <p:nvSpPr>
          <p:cNvPr id="15" name="Shape 13"/>
          <p:cNvSpPr/>
          <p:nvPr/>
        </p:nvSpPr>
        <p:spPr>
          <a:xfrm>
            <a:off x="7671816" y="4608576"/>
            <a:ext cx="1289304" cy="54864"/>
          </a:xfrm>
          <a:prstGeom prst="rect">
            <a:avLst/>
          </a:prstGeom>
          <a:solidFill>
            <a:srgbClr val="C24B4B"/>
          </a:solidFill>
          <a:ln/>
        </p:spPr>
      </p:sp>
      <p:sp>
        <p:nvSpPr>
          <p:cNvPr id="16" name="Text 14"/>
          <p:cNvSpPr/>
          <p:nvPr/>
        </p:nvSpPr>
        <p:spPr>
          <a:xfrm>
            <a:off x="7580376" y="4315968"/>
            <a:ext cx="1472184"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2%</a:t>
            </a:r>
            <a:endParaRPr lang="en-US" sz="1150" dirty="0"/>
          </a:p>
        </p:txBody>
      </p:sp>
      <p:sp>
        <p:nvSpPr>
          <p:cNvPr id="17" name="Text 15"/>
          <p:cNvSpPr/>
          <p:nvPr/>
        </p:nvSpPr>
        <p:spPr>
          <a:xfrm>
            <a:off x="7534656" y="4736592"/>
            <a:ext cx="1563624" cy="365760"/>
          </a:xfrm>
          <a:prstGeom prst="rect">
            <a:avLst/>
          </a:prstGeom>
          <a:noFill/>
          <a:ln/>
        </p:spPr>
        <p:txBody>
          <a:bodyPr wrap="square" lIns="0" tIns="0" rIns="0" bIns="0" rtlCol="0" anchor="ctr"/>
          <a:lstStyle/>
          <a:p>
            <a:pPr algn="ctr" indent="0" marL="0">
              <a:lnSpc>
                <a:spcPct val="110000"/>
              </a:lnSpc>
              <a:buNone/>
            </a:pPr>
            <a:r>
              <a:rPr lang="en-US" sz="1050" dirty="0">
                <a:solidFill>
                  <a:srgbClr val="6B7280"/>
                </a:solidFill>
                <a:latin typeface="Calibri" pitchFamily="34" charset="0"/>
                <a:ea typeface="Calibri" pitchFamily="34" charset="-122"/>
                <a:cs typeface="Calibri" pitchFamily="34" charset="-120"/>
              </a:rPr>
              <a:t>moon</a:t>
            </a:r>
            <a:endParaRPr lang="en-US" sz="1050" dirty="0"/>
          </a:p>
        </p:txBody>
      </p:sp>
      <p:sp>
        <p:nvSpPr>
          <p:cNvPr id="18" name="Shape 16"/>
          <p:cNvSpPr/>
          <p:nvPr/>
        </p:nvSpPr>
        <p:spPr>
          <a:xfrm>
            <a:off x="548640" y="5120640"/>
            <a:ext cx="11064240" cy="1280160"/>
          </a:xfrm>
          <a:prstGeom prst="roundRect">
            <a:avLst>
              <a:gd name="adj" fmla="val 5714"/>
            </a:avLst>
          </a:prstGeom>
          <a:solidFill>
            <a:srgbClr val="FDF1E8"/>
          </a:solidFill>
          <a:ln/>
        </p:spPr>
      </p:sp>
      <p:sp>
        <p:nvSpPr>
          <p:cNvPr id="19" name="Text 17"/>
          <p:cNvSpPr/>
          <p:nvPr/>
        </p:nvSpPr>
        <p:spPr>
          <a:xfrm>
            <a:off x="868680" y="5120640"/>
            <a:ext cx="10424160" cy="1280160"/>
          </a:xfrm>
          <a:prstGeom prst="rect">
            <a:avLst/>
          </a:prstGeom>
          <a:noFill/>
          <a:ln/>
        </p:spPr>
        <p:txBody>
          <a:bodyPr wrap="square" lIns="0" tIns="0" rIns="0" bIns="0" rtlCol="0" anchor="ctr"/>
          <a:lstStyle/>
          <a:p>
            <a:pPr indent="0" marL="0">
              <a:lnSpc>
                <a:spcPct val="125000"/>
              </a:lnSpc>
              <a:buNone/>
            </a:pPr>
            <a:r>
              <a:rPr lang="en-US" sz="1400" b="1" dirty="0">
                <a:solidFill>
                  <a:srgbClr val="C24B4B"/>
                </a:solidFill>
                <a:latin typeface="Calibri" pitchFamily="34" charset="0"/>
                <a:ea typeface="Calibri" pitchFamily="34" charset="-122"/>
                <a:cs typeface="Calibri" pitchFamily="34" charset="-120"/>
              </a:rPr>
              <a:t>This repeats BILLIONS of times.  </a:t>
            </a:r>
            <a:pPr indent="0" marL="0">
              <a:lnSpc>
                <a:spcPct val="125000"/>
              </a:lnSpc>
              <a:buNone/>
            </a:pPr>
            <a:r>
              <a:rPr lang="en-US" sz="1300" dirty="0">
                <a:solidFill>
                  <a:srgbClr val="23282E"/>
                </a:solidFill>
                <a:latin typeface="Calibri" pitchFamily="34" charset="0"/>
                <a:ea typeface="Calibri" pitchFamily="34" charset="-122"/>
                <a:cs typeface="Calibri" pitchFamily="34" charset="-120"/>
              </a:rPr>
              <a:t>Every wrong guess triggers backpropagation (from our neural networks session) — nudging every weight to make the correct next word slightly more likely, next time. No human labels anything — the "correct answer" is just whatever word actually came next in the real text.</a:t>
            </a:r>
            <a:endParaRPr lang="en-US" sz="1400" dirty="0"/>
          </a:p>
        </p:txBody>
      </p:sp>
      <p:sp>
        <p:nvSpPr>
          <p:cNvPr id="20" name="Text 18"/>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21" name="Text 19"/>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4 · STAGE 2</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Fine-Tuning — Teaching It to Follow Instructions</a:t>
            </a:r>
            <a:endParaRPr lang="en-US" sz="2700" dirty="0"/>
          </a:p>
        </p:txBody>
      </p:sp>
      <p:sp>
        <p:nvSpPr>
          <p:cNvPr id="4" name="Shape 2"/>
          <p:cNvSpPr/>
          <p:nvPr/>
        </p:nvSpPr>
        <p:spPr>
          <a:xfrm>
            <a:off x="548640" y="1600200"/>
            <a:ext cx="11064240" cy="1965960"/>
          </a:xfrm>
          <a:prstGeom prst="roundRect">
            <a:avLst>
              <a:gd name="adj" fmla="val 3721"/>
            </a:avLst>
          </a:prstGeom>
          <a:solidFill>
            <a:srgbClr val="F4F6F9"/>
          </a:solidFill>
          <a:ln/>
        </p:spPr>
      </p:sp>
      <p:sp>
        <p:nvSpPr>
          <p:cNvPr id="5" name="Text 3"/>
          <p:cNvSpPr/>
          <p:nvPr/>
        </p:nvSpPr>
        <p:spPr>
          <a:xfrm>
            <a:off x="868680" y="1783080"/>
            <a:ext cx="10424160" cy="1737360"/>
          </a:xfrm>
          <a:prstGeom prst="rect">
            <a:avLst/>
          </a:prstGeom>
          <a:noFill/>
          <a:ln/>
        </p:spPr>
        <p:txBody>
          <a:bodyPr wrap="square" lIns="0" tIns="0" rIns="0" bIns="0" rtlCol="0" anchor="t"/>
          <a:lstStyle/>
          <a:p>
            <a:pPr indent="0" marL="0">
              <a:lnSpc>
                <a:spcPct val="130000"/>
              </a:lnSpc>
              <a:buNone/>
            </a:pPr>
            <a:r>
              <a:rPr lang="en-US" sz="1400" dirty="0">
                <a:solidFill>
                  <a:srgbClr val="23282E"/>
                </a:solidFill>
                <a:latin typeface="Calibri" pitchFamily="34" charset="0"/>
                <a:ea typeface="Calibri" pitchFamily="34" charset="-122"/>
                <a:cs typeface="Calibri" pitchFamily="34" charset="-120"/>
              </a:rPr>
              <a:t>A pretrained model is a brilliant text-completer, but not naturally a helpful assistant.  </a:t>
            </a:r>
            <a:pPr indent="0" marL="0">
              <a:lnSpc>
                <a:spcPct val="130000"/>
              </a:lnSpc>
              <a:buNone/>
            </a:pPr>
            <a:r>
              <a:rPr lang="en-US" sz="1400" dirty="0">
                <a:solidFill>
                  <a:srgbClr val="23282E"/>
                </a:solidFill>
                <a:latin typeface="Calibri" pitchFamily="34" charset="0"/>
                <a:ea typeface="Calibri" pitchFamily="34" charset="-122"/>
                <a:cs typeface="Calibri" pitchFamily="34" charset="-120"/>
              </a:rPr>
              <a:t>Ask it a question, and it might just continue the pattern by listing ten MORE similar questions, instead of answering.</a:t>
            </a:r>
            <a:endParaRPr lang="en-US" sz="1400" dirty="0"/>
          </a:p>
          <a:p>
            <a:pPr indent="0" marL="0">
              <a:lnSpc>
                <a:spcPct val="130000"/>
              </a:lnSpc>
              <a:buNone/>
            </a:pPr>
            <a:endParaRPr lang="en-US" sz="1400" dirty="0"/>
          </a:p>
          <a:p>
            <a:pPr indent="0" marL="0">
              <a:lnSpc>
                <a:spcPct val="130000"/>
              </a:lnSpc>
              <a:buNone/>
            </a:pPr>
            <a:r>
              <a:rPr lang="en-US" sz="1400" dirty="0">
                <a:solidFill>
                  <a:srgbClr val="23282E"/>
                </a:solidFill>
                <a:latin typeface="Calibri" pitchFamily="34" charset="0"/>
                <a:ea typeface="Calibri" pitchFamily="34" charset="-122"/>
                <a:cs typeface="Calibri" pitchFamily="34" charset="-120"/>
              </a:rPr>
              <a:t>Supervised Fine-Tuning (SFT) fixes this: the model is shown thousands of example (instruction → ideal response) pairs, written by humans, and trained to imitate that helpful style.</a:t>
            </a:r>
            <a:endParaRPr lang="en-US" sz="1400" dirty="0"/>
          </a:p>
        </p:txBody>
      </p:sp>
      <p:sp>
        <p:nvSpPr>
          <p:cNvPr id="6" name="Shape 4"/>
          <p:cNvSpPr/>
          <p:nvPr/>
        </p:nvSpPr>
        <p:spPr>
          <a:xfrm>
            <a:off x="548640" y="3794760"/>
            <a:ext cx="5394960" cy="1691640"/>
          </a:xfrm>
          <a:prstGeom prst="roundRect">
            <a:avLst>
              <a:gd name="adj" fmla="val 4324"/>
            </a:avLst>
          </a:prstGeom>
          <a:solidFill>
            <a:srgbClr val="F4F6F9"/>
          </a:solidFill>
          <a:ln w="15875">
            <a:solidFill>
              <a:srgbClr val="C24B4B"/>
            </a:solidFill>
            <a:prstDash val="solid"/>
          </a:ln>
        </p:spPr>
      </p:sp>
      <p:sp>
        <p:nvSpPr>
          <p:cNvPr id="7" name="Text 5"/>
          <p:cNvSpPr/>
          <p:nvPr/>
        </p:nvSpPr>
        <p:spPr>
          <a:xfrm>
            <a:off x="822960" y="3977640"/>
            <a:ext cx="4846320" cy="365760"/>
          </a:xfrm>
          <a:prstGeom prst="rect">
            <a:avLst/>
          </a:prstGeom>
          <a:noFill/>
          <a:ln/>
        </p:spPr>
        <p:txBody>
          <a:bodyPr wrap="square" lIns="0" tIns="0" rIns="0" bIns="0" rtlCol="0" anchor="ctr"/>
          <a:lstStyle/>
          <a:p>
            <a:pPr indent="0" marL="0">
              <a:buNone/>
            </a:pPr>
            <a:r>
              <a:rPr lang="en-US" sz="1400" b="1" dirty="0">
                <a:solidFill>
                  <a:srgbClr val="C24B4B"/>
                </a:solidFill>
                <a:latin typeface="Cambria" pitchFamily="34" charset="0"/>
                <a:ea typeface="Cambria" pitchFamily="34" charset="-122"/>
                <a:cs typeface="Cambria" pitchFamily="34" charset="-120"/>
              </a:rPr>
              <a:t>Before fine-tuning</a:t>
            </a:r>
            <a:endParaRPr lang="en-US" sz="1400" dirty="0"/>
          </a:p>
        </p:txBody>
      </p:sp>
      <p:sp>
        <p:nvSpPr>
          <p:cNvPr id="8" name="Text 6"/>
          <p:cNvSpPr/>
          <p:nvPr/>
        </p:nvSpPr>
        <p:spPr>
          <a:xfrm>
            <a:off x="822960" y="4389120"/>
            <a:ext cx="4846320" cy="1005840"/>
          </a:xfrm>
          <a:prstGeom prst="rect">
            <a:avLst/>
          </a:prstGeom>
          <a:noFill/>
          <a:ln/>
        </p:spPr>
        <p:txBody>
          <a:bodyPr wrap="square" lIns="0" tIns="0" rIns="0" bIns="0" rtlCol="0" anchor="t"/>
          <a:lstStyle/>
          <a:p>
            <a:pPr indent="0" marL="0">
              <a:lnSpc>
                <a:spcPct val="125000"/>
              </a:lnSpc>
              <a:buNone/>
            </a:pPr>
            <a:r>
              <a:rPr lang="en-US" sz="1150" i="1" dirty="0">
                <a:solidFill>
                  <a:srgbClr val="23282E"/>
                </a:solidFill>
                <a:latin typeface="Calibri" pitchFamily="34" charset="0"/>
                <a:ea typeface="Calibri" pitchFamily="34" charset="-122"/>
                <a:cs typeface="Calibri" pitchFamily="34" charset="-120"/>
              </a:rPr>
              <a:t>"What's the capital of France?" → "What's the capital of Germany? What's the capital of Spain?..."</a:t>
            </a:r>
            <a:endParaRPr lang="en-US" sz="1150" dirty="0"/>
          </a:p>
        </p:txBody>
      </p:sp>
      <p:sp>
        <p:nvSpPr>
          <p:cNvPr id="9" name="Shape 7"/>
          <p:cNvSpPr/>
          <p:nvPr/>
        </p:nvSpPr>
        <p:spPr>
          <a:xfrm>
            <a:off x="6172200" y="3794760"/>
            <a:ext cx="5394960" cy="1691640"/>
          </a:xfrm>
          <a:prstGeom prst="roundRect">
            <a:avLst>
              <a:gd name="adj" fmla="val 4324"/>
            </a:avLst>
          </a:prstGeom>
          <a:solidFill>
            <a:srgbClr val="F4F6F9"/>
          </a:solidFill>
          <a:ln w="15875">
            <a:solidFill>
              <a:srgbClr val="3E8E5A"/>
            </a:solidFill>
            <a:prstDash val="solid"/>
          </a:ln>
        </p:spPr>
      </p:sp>
      <p:sp>
        <p:nvSpPr>
          <p:cNvPr id="10" name="Text 8"/>
          <p:cNvSpPr/>
          <p:nvPr/>
        </p:nvSpPr>
        <p:spPr>
          <a:xfrm>
            <a:off x="6446520" y="3977640"/>
            <a:ext cx="4846320" cy="365760"/>
          </a:xfrm>
          <a:prstGeom prst="rect">
            <a:avLst/>
          </a:prstGeom>
          <a:noFill/>
          <a:ln/>
        </p:spPr>
        <p:txBody>
          <a:bodyPr wrap="square" lIns="0" tIns="0" rIns="0" bIns="0" rtlCol="0" anchor="ctr"/>
          <a:lstStyle/>
          <a:p>
            <a:pPr indent="0" marL="0">
              <a:buNone/>
            </a:pPr>
            <a:r>
              <a:rPr lang="en-US" sz="1400" b="1" dirty="0">
                <a:solidFill>
                  <a:srgbClr val="3E8E5A"/>
                </a:solidFill>
                <a:latin typeface="Cambria" pitchFamily="34" charset="0"/>
                <a:ea typeface="Cambria" pitchFamily="34" charset="-122"/>
                <a:cs typeface="Cambria" pitchFamily="34" charset="-120"/>
              </a:rPr>
              <a:t>After fine-tuning</a:t>
            </a:r>
            <a:endParaRPr lang="en-US" sz="1400" dirty="0"/>
          </a:p>
        </p:txBody>
      </p:sp>
      <p:sp>
        <p:nvSpPr>
          <p:cNvPr id="11" name="Text 9"/>
          <p:cNvSpPr/>
          <p:nvPr/>
        </p:nvSpPr>
        <p:spPr>
          <a:xfrm>
            <a:off x="6446520" y="4389120"/>
            <a:ext cx="4846320" cy="1005840"/>
          </a:xfrm>
          <a:prstGeom prst="rect">
            <a:avLst/>
          </a:prstGeom>
          <a:noFill/>
          <a:ln/>
        </p:spPr>
        <p:txBody>
          <a:bodyPr wrap="square" lIns="0" tIns="0" rIns="0" bIns="0" rtlCol="0" anchor="t"/>
          <a:lstStyle/>
          <a:p>
            <a:pPr indent="0" marL="0">
              <a:lnSpc>
                <a:spcPct val="125000"/>
              </a:lnSpc>
              <a:buNone/>
            </a:pPr>
            <a:r>
              <a:rPr lang="en-US" sz="1150" i="1" dirty="0">
                <a:solidFill>
                  <a:srgbClr val="23282E"/>
                </a:solidFill>
                <a:latin typeface="Calibri" pitchFamily="34" charset="0"/>
                <a:ea typeface="Calibri" pitchFamily="34" charset="-122"/>
                <a:cs typeface="Calibri" pitchFamily="34" charset="-120"/>
              </a:rPr>
              <a:t>"What's the capital of France?" → "The capital of France is Paris."</a:t>
            </a:r>
            <a:endParaRPr lang="en-US" sz="1150" dirty="0"/>
          </a:p>
        </p:txBody>
      </p:sp>
      <p:sp>
        <p:nvSpPr>
          <p:cNvPr id="12" name="Text 10"/>
          <p:cNvSpPr/>
          <p:nvPr/>
        </p:nvSpPr>
        <p:spPr>
          <a:xfrm>
            <a:off x="548640" y="5669280"/>
            <a:ext cx="11064240" cy="457200"/>
          </a:xfrm>
          <a:prstGeom prst="rect">
            <a:avLst/>
          </a:prstGeom>
          <a:noFill/>
          <a:ln/>
        </p:spPr>
        <p:txBody>
          <a:bodyPr wrap="square" lIns="0" tIns="0" rIns="0" bIns="0" rtlCol="0" anchor="ctr"/>
          <a:lstStyle/>
          <a:p>
            <a:pPr algn="ctr" indent="0" marL="0">
              <a:buNone/>
            </a:pPr>
            <a:r>
              <a:rPr lang="en-US" sz="1250" i="1" dirty="0">
                <a:solidFill>
                  <a:srgbClr val="6B7280"/>
                </a:solidFill>
                <a:latin typeface="Calibri" pitchFamily="34" charset="0"/>
                <a:ea typeface="Calibri" pitchFamily="34" charset="-122"/>
                <a:cs typeface="Calibri" pitchFamily="34" charset="-120"/>
              </a:rPr>
              <a:t>Still one more stage to go — teaching it not just to follow instructions, but to follow GOOD ones.</a:t>
            </a:r>
            <a:endParaRPr lang="en-US" sz="1250" dirty="0"/>
          </a:p>
        </p:txBody>
      </p:sp>
      <p:sp>
        <p:nvSpPr>
          <p:cNvPr id="13" name="Text 11"/>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14" name="Text 12"/>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4 · STAGE 3</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RLHF — Aligning With What Humans Prefer</a:t>
            </a:r>
            <a:endParaRPr lang="en-US" sz="2700" dirty="0"/>
          </a:p>
        </p:txBody>
      </p:sp>
      <p:sp>
        <p:nvSpPr>
          <p:cNvPr id="4" name="Shape 2"/>
          <p:cNvSpPr/>
          <p:nvPr/>
        </p:nvSpPr>
        <p:spPr>
          <a:xfrm>
            <a:off x="548640" y="1600200"/>
            <a:ext cx="11064240" cy="1417320"/>
          </a:xfrm>
          <a:prstGeom prst="roundRect">
            <a:avLst>
              <a:gd name="adj" fmla="val 5161"/>
            </a:avLst>
          </a:prstGeom>
          <a:solidFill>
            <a:srgbClr val="FDF1E8"/>
          </a:solidFill>
          <a:ln/>
        </p:spPr>
      </p:sp>
      <p:sp>
        <p:nvSpPr>
          <p:cNvPr id="5" name="Text 3"/>
          <p:cNvSpPr/>
          <p:nvPr/>
        </p:nvSpPr>
        <p:spPr>
          <a:xfrm>
            <a:off x="868680" y="1783080"/>
            <a:ext cx="10424160" cy="1188720"/>
          </a:xfrm>
          <a:prstGeom prst="rect">
            <a:avLst/>
          </a:prstGeom>
          <a:noFill/>
          <a:ln/>
        </p:spPr>
        <p:txBody>
          <a:bodyPr wrap="square" lIns="0" tIns="0" rIns="0" bIns="0" rtlCol="0" anchor="ctr"/>
          <a:lstStyle/>
          <a:p>
            <a:pPr indent="0" marL="0">
              <a:lnSpc>
                <a:spcPct val="128000"/>
              </a:lnSpc>
              <a:buNone/>
            </a:pPr>
            <a:r>
              <a:rPr lang="en-US" sz="1450" b="1" dirty="0">
                <a:solidFill>
                  <a:srgbClr val="C24B4B"/>
                </a:solidFill>
                <a:latin typeface="Calibri" pitchFamily="34" charset="0"/>
                <a:ea typeface="Calibri" pitchFamily="34" charset="-122"/>
                <a:cs typeface="Calibri" pitchFamily="34" charset="-120"/>
              </a:rPr>
              <a:t>RLHF = Reinforcement Learning from Human Feedback.  </a:t>
            </a:r>
            <a:pPr indent="0" marL="0">
              <a:lnSpc>
                <a:spcPct val="128000"/>
              </a:lnSpc>
              <a:buNone/>
            </a:pPr>
            <a:r>
              <a:rPr lang="en-US" sz="1350" dirty="0">
                <a:solidFill>
                  <a:srgbClr val="23282E"/>
                </a:solidFill>
                <a:latin typeface="Calibri" pitchFamily="34" charset="0"/>
                <a:ea typeface="Calibri" pitchFamily="34" charset="-122"/>
                <a:cs typeface="Calibri" pitchFamily="34" charset="-120"/>
              </a:rPr>
              <a:t>The model generates several different answers to the same prompt, humans rank which ones they prefer, and that preference data trains the model to lean toward the kinds of answers people actually like — helpful, honest, safe.</a:t>
            </a:r>
            <a:endParaRPr lang="en-US" sz="1450" dirty="0"/>
          </a:p>
        </p:txBody>
      </p:sp>
      <p:sp>
        <p:nvSpPr>
          <p:cNvPr id="6" name="Shape 4"/>
          <p:cNvSpPr/>
          <p:nvPr/>
        </p:nvSpPr>
        <p:spPr>
          <a:xfrm>
            <a:off x="982980" y="3268980"/>
            <a:ext cx="502920" cy="502920"/>
          </a:xfrm>
          <a:prstGeom prst="ellipse">
            <a:avLst/>
          </a:prstGeom>
          <a:solidFill>
            <a:srgbClr val="1C7293"/>
          </a:solidFill>
          <a:ln/>
        </p:spPr>
      </p:sp>
      <p:sp>
        <p:nvSpPr>
          <p:cNvPr id="7" name="Text 5"/>
          <p:cNvSpPr/>
          <p:nvPr/>
        </p:nvSpPr>
        <p:spPr>
          <a:xfrm>
            <a:off x="982980" y="32689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p:nvPr/>
        </p:nvSpPr>
        <p:spPr>
          <a:xfrm>
            <a:off x="1600200" y="3246120"/>
            <a:ext cx="9784080" cy="548640"/>
          </a:xfrm>
          <a:prstGeom prst="rect">
            <a:avLst/>
          </a:prstGeom>
          <a:noFill/>
          <a:ln/>
        </p:spPr>
        <p:txBody>
          <a:bodyPr wrap="square" lIns="0" tIns="0" rIns="0" bIns="0" rtlCol="0" anchor="ctr"/>
          <a:lstStyle/>
          <a:p>
            <a:pPr indent="0" marL="0">
              <a:lnSpc>
                <a:spcPct val="115000"/>
              </a:lnSpc>
              <a:buNone/>
            </a:pPr>
            <a:r>
              <a:rPr lang="en-US" sz="1250" b="1" dirty="0">
                <a:solidFill>
                  <a:srgbClr val="306998"/>
                </a:solidFill>
                <a:latin typeface="Calibri" pitchFamily="34" charset="0"/>
                <a:ea typeface="Calibri" pitchFamily="34" charset="-122"/>
                <a:cs typeface="Calibri" pitchFamily="34" charset="-120"/>
              </a:rPr>
              <a:t>Generate options:  </a:t>
            </a:r>
            <a:pPr indent="0" marL="0">
              <a:lnSpc>
                <a:spcPct val="115000"/>
              </a:lnSpc>
              <a:buNone/>
            </a:pPr>
            <a:r>
              <a:rPr lang="en-US" sz="1250" dirty="0">
                <a:solidFill>
                  <a:srgbClr val="23282E"/>
                </a:solidFill>
                <a:latin typeface="Calibri" pitchFamily="34" charset="0"/>
                <a:ea typeface="Calibri" pitchFamily="34" charset="-122"/>
                <a:cs typeface="Calibri" pitchFamily="34" charset="-120"/>
              </a:rPr>
              <a:t>the model writes several different candidate answers to one prompt.</a:t>
            </a:r>
            <a:endParaRPr lang="en-US" sz="1250" dirty="0"/>
          </a:p>
        </p:txBody>
      </p:sp>
      <p:sp>
        <p:nvSpPr>
          <p:cNvPr id="9" name="Shape 7"/>
          <p:cNvSpPr/>
          <p:nvPr/>
        </p:nvSpPr>
        <p:spPr>
          <a:xfrm>
            <a:off x="982980" y="3872484"/>
            <a:ext cx="502920" cy="502920"/>
          </a:xfrm>
          <a:prstGeom prst="ellipse">
            <a:avLst/>
          </a:prstGeom>
          <a:solidFill>
            <a:srgbClr val="1C7293"/>
          </a:solidFill>
          <a:ln/>
        </p:spPr>
      </p:sp>
      <p:sp>
        <p:nvSpPr>
          <p:cNvPr id="10" name="Text 8"/>
          <p:cNvSpPr/>
          <p:nvPr/>
        </p:nvSpPr>
        <p:spPr>
          <a:xfrm>
            <a:off x="982980" y="3872484"/>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1600200" y="3849624"/>
            <a:ext cx="9784080" cy="548640"/>
          </a:xfrm>
          <a:prstGeom prst="rect">
            <a:avLst/>
          </a:prstGeom>
          <a:noFill/>
          <a:ln/>
        </p:spPr>
        <p:txBody>
          <a:bodyPr wrap="square" lIns="0" tIns="0" rIns="0" bIns="0" rtlCol="0" anchor="ctr"/>
          <a:lstStyle/>
          <a:p>
            <a:pPr indent="0" marL="0">
              <a:lnSpc>
                <a:spcPct val="115000"/>
              </a:lnSpc>
              <a:buNone/>
            </a:pPr>
            <a:r>
              <a:rPr lang="en-US" sz="1250" b="1" dirty="0">
                <a:solidFill>
                  <a:srgbClr val="306998"/>
                </a:solidFill>
                <a:latin typeface="Calibri" pitchFamily="34" charset="0"/>
                <a:ea typeface="Calibri" pitchFamily="34" charset="-122"/>
                <a:cs typeface="Calibri" pitchFamily="34" charset="-120"/>
              </a:rPr>
              <a:t>Humans rank them:  </a:t>
            </a:r>
            <a:pPr indent="0" marL="0">
              <a:lnSpc>
                <a:spcPct val="115000"/>
              </a:lnSpc>
              <a:buNone/>
            </a:pPr>
            <a:r>
              <a:rPr lang="en-US" sz="1250" dirty="0">
                <a:solidFill>
                  <a:srgbClr val="23282E"/>
                </a:solidFill>
                <a:latin typeface="Calibri" pitchFamily="34" charset="0"/>
                <a:ea typeface="Calibri" pitchFamily="34" charset="-122"/>
                <a:cs typeface="Calibri" pitchFamily="34" charset="-120"/>
              </a:rPr>
              <a:t>people mark which response is better, worse, or best of the group.</a:t>
            </a:r>
            <a:endParaRPr lang="en-US" sz="1250" dirty="0"/>
          </a:p>
        </p:txBody>
      </p:sp>
      <p:sp>
        <p:nvSpPr>
          <p:cNvPr id="12" name="Shape 10"/>
          <p:cNvSpPr/>
          <p:nvPr/>
        </p:nvSpPr>
        <p:spPr>
          <a:xfrm>
            <a:off x="982980" y="4475988"/>
            <a:ext cx="502920" cy="502920"/>
          </a:xfrm>
          <a:prstGeom prst="ellipse">
            <a:avLst/>
          </a:prstGeom>
          <a:solidFill>
            <a:srgbClr val="1C7293"/>
          </a:solidFill>
          <a:ln/>
        </p:spPr>
      </p:sp>
      <p:sp>
        <p:nvSpPr>
          <p:cNvPr id="13" name="Text 11"/>
          <p:cNvSpPr/>
          <p:nvPr/>
        </p:nvSpPr>
        <p:spPr>
          <a:xfrm>
            <a:off x="982980" y="4475988"/>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p:nvPr/>
        </p:nvSpPr>
        <p:spPr>
          <a:xfrm>
            <a:off x="1600200" y="4453128"/>
            <a:ext cx="9784080" cy="548640"/>
          </a:xfrm>
          <a:prstGeom prst="rect">
            <a:avLst/>
          </a:prstGeom>
          <a:noFill/>
          <a:ln/>
        </p:spPr>
        <p:txBody>
          <a:bodyPr wrap="square" lIns="0" tIns="0" rIns="0" bIns="0" rtlCol="0" anchor="ctr"/>
          <a:lstStyle/>
          <a:p>
            <a:pPr indent="0" marL="0">
              <a:lnSpc>
                <a:spcPct val="115000"/>
              </a:lnSpc>
              <a:buNone/>
            </a:pPr>
            <a:r>
              <a:rPr lang="en-US" sz="1250" b="1" dirty="0">
                <a:solidFill>
                  <a:srgbClr val="306998"/>
                </a:solidFill>
                <a:latin typeface="Calibri" pitchFamily="34" charset="0"/>
                <a:ea typeface="Calibri" pitchFamily="34" charset="-122"/>
                <a:cs typeface="Calibri" pitchFamily="34" charset="-120"/>
              </a:rPr>
              <a:t>Train a reward model:  </a:t>
            </a:r>
            <a:pPr indent="0" marL="0">
              <a:lnSpc>
                <a:spcPct val="115000"/>
              </a:lnSpc>
              <a:buNone/>
            </a:pPr>
            <a:r>
              <a:rPr lang="en-US" sz="1250" dirty="0">
                <a:solidFill>
                  <a:srgbClr val="23282E"/>
                </a:solidFill>
                <a:latin typeface="Calibri" pitchFamily="34" charset="0"/>
                <a:ea typeface="Calibri" pitchFamily="34" charset="-122"/>
                <a:cs typeface="Calibri" pitchFamily="34" charset="-120"/>
              </a:rPr>
              <a:t>a second small model learns to predict which answers humans prefer.</a:t>
            </a:r>
            <a:endParaRPr lang="en-US" sz="1250" dirty="0"/>
          </a:p>
        </p:txBody>
      </p:sp>
      <p:sp>
        <p:nvSpPr>
          <p:cNvPr id="15" name="Shape 13"/>
          <p:cNvSpPr/>
          <p:nvPr/>
        </p:nvSpPr>
        <p:spPr>
          <a:xfrm>
            <a:off x="982980" y="5079492"/>
            <a:ext cx="502920" cy="502920"/>
          </a:xfrm>
          <a:prstGeom prst="ellipse">
            <a:avLst/>
          </a:prstGeom>
          <a:solidFill>
            <a:srgbClr val="1C7293"/>
          </a:solidFill>
          <a:ln/>
        </p:spPr>
      </p:sp>
      <p:sp>
        <p:nvSpPr>
          <p:cNvPr id="16" name="Text 14"/>
          <p:cNvSpPr/>
          <p:nvPr/>
        </p:nvSpPr>
        <p:spPr>
          <a:xfrm>
            <a:off x="982980" y="507949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p:nvPr/>
        </p:nvSpPr>
        <p:spPr>
          <a:xfrm>
            <a:off x="1600200" y="5056632"/>
            <a:ext cx="9784080" cy="548640"/>
          </a:xfrm>
          <a:prstGeom prst="rect">
            <a:avLst/>
          </a:prstGeom>
          <a:noFill/>
          <a:ln/>
        </p:spPr>
        <p:txBody>
          <a:bodyPr wrap="square" lIns="0" tIns="0" rIns="0" bIns="0" rtlCol="0" anchor="ctr"/>
          <a:lstStyle/>
          <a:p>
            <a:pPr indent="0" marL="0">
              <a:lnSpc>
                <a:spcPct val="115000"/>
              </a:lnSpc>
              <a:buNone/>
            </a:pPr>
            <a:r>
              <a:rPr lang="en-US" sz="1250" b="1" dirty="0">
                <a:solidFill>
                  <a:srgbClr val="306998"/>
                </a:solidFill>
                <a:latin typeface="Calibri" pitchFamily="34" charset="0"/>
                <a:ea typeface="Calibri" pitchFamily="34" charset="-122"/>
                <a:cs typeface="Calibri" pitchFamily="34" charset="-120"/>
              </a:rPr>
              <a:t>Reinforce good behavior:  </a:t>
            </a:r>
            <a:pPr indent="0" marL="0">
              <a:lnSpc>
                <a:spcPct val="115000"/>
              </a:lnSpc>
              <a:buNone/>
            </a:pPr>
            <a:r>
              <a:rPr lang="en-US" sz="1250" dirty="0">
                <a:solidFill>
                  <a:srgbClr val="23282E"/>
                </a:solidFill>
                <a:latin typeface="Calibri" pitchFamily="34" charset="0"/>
                <a:ea typeface="Calibri" pitchFamily="34" charset="-122"/>
                <a:cs typeface="Calibri" pitchFamily="34" charset="-120"/>
              </a:rPr>
              <a:t>the main model is nudged, using that reward signal, toward answers people rate highly.</a:t>
            </a:r>
            <a:endParaRPr lang="en-US" sz="1250" dirty="0"/>
          </a:p>
        </p:txBody>
      </p:sp>
      <p:sp>
        <p:nvSpPr>
          <p:cNvPr id="18" name="Text 16"/>
          <p:cNvSpPr/>
          <p:nvPr/>
        </p:nvSpPr>
        <p:spPr>
          <a:xfrm>
            <a:off x="548640" y="5715000"/>
            <a:ext cx="11064240" cy="411480"/>
          </a:xfrm>
          <a:prstGeom prst="rect">
            <a:avLst/>
          </a:prstGeom>
          <a:noFill/>
          <a:ln/>
        </p:spPr>
        <p:txBody>
          <a:bodyPr wrap="square" lIns="0" tIns="0" rIns="0" bIns="0" rtlCol="0" anchor="ctr"/>
          <a:lstStyle/>
          <a:p>
            <a:pPr algn="ctr" indent="0" marL="0">
              <a:buNone/>
            </a:pPr>
            <a:r>
              <a:rPr lang="en-US" sz="1200" i="1" dirty="0">
                <a:solidFill>
                  <a:srgbClr val="6B7280"/>
                </a:solidFill>
                <a:latin typeface="Calibri" pitchFamily="34" charset="0"/>
                <a:ea typeface="Calibri" pitchFamily="34" charset="-122"/>
                <a:cs typeface="Calibri" pitchFamily="34" charset="-120"/>
              </a:rPr>
              <a:t>This is why the same base model can feel dramatically more "polite" and "careful" after RLHF than right after pretraining.</a:t>
            </a:r>
            <a:endParaRPr lang="en-US" sz="1200" dirty="0"/>
          </a:p>
        </p:txBody>
      </p:sp>
      <p:sp>
        <p:nvSpPr>
          <p:cNvPr id="19" name="Text 17"/>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20" name="Text 18"/>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4 · PUTTING IT TOGETHER</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From Base Model to Assistant</a:t>
            </a:r>
            <a:endParaRPr lang="en-US" sz="2700" dirty="0"/>
          </a:p>
        </p:txBody>
      </p:sp>
      <p:sp>
        <p:nvSpPr>
          <p:cNvPr id="4" name="Shape 2"/>
          <p:cNvSpPr/>
          <p:nvPr/>
        </p:nvSpPr>
        <p:spPr>
          <a:xfrm>
            <a:off x="790956" y="2446020"/>
            <a:ext cx="1600200" cy="1143000"/>
          </a:xfrm>
          <a:prstGeom prst="roundRect">
            <a:avLst>
              <a:gd name="adj" fmla="val 6400"/>
            </a:avLst>
          </a:prstGeom>
          <a:solidFill>
            <a:srgbClr val="6B7280"/>
          </a:solidFill>
          <a:ln/>
        </p:spPr>
      </p:sp>
      <p:sp>
        <p:nvSpPr>
          <p:cNvPr id="5" name="Text 3"/>
          <p:cNvSpPr/>
          <p:nvPr/>
        </p:nvSpPr>
        <p:spPr>
          <a:xfrm>
            <a:off x="882396" y="2446020"/>
            <a:ext cx="1417320" cy="1143000"/>
          </a:xfrm>
          <a:prstGeom prst="rect">
            <a:avLst/>
          </a:prstGeom>
          <a:noFill/>
          <a:ln/>
        </p:spPr>
        <p:txBody>
          <a:bodyPr wrap="square" lIns="0" tIns="0" rIns="0" bIns="0" rtlCol="0" anchor="ctr"/>
          <a:lstStyle/>
          <a:p>
            <a:pPr algn="ctr" indent="0" marL="0">
              <a:lnSpc>
                <a:spcPct val="110000"/>
              </a:lnSpc>
              <a:buNone/>
            </a:pPr>
            <a:r>
              <a:rPr lang="en-US" sz="1150" b="1" dirty="0">
                <a:solidFill>
                  <a:srgbClr val="FFFFFF"/>
                </a:solidFill>
                <a:latin typeface="Calibri" pitchFamily="34" charset="0"/>
                <a:ea typeface="Calibri" pitchFamily="34" charset="-122"/>
                <a:cs typeface="Calibri" pitchFamily="34" charset="-120"/>
              </a:rPr>
              <a:t>Raw Text</a:t>
            </a:r>
            <a:endParaRPr lang="en-US" sz="1150" dirty="0"/>
          </a:p>
          <a:p>
            <a:pPr algn="ctr" indent="0" marL="0">
              <a:lnSpc>
                <a:spcPct val="110000"/>
              </a:lnSpc>
              <a:buNone/>
            </a:pPr>
            <a:r>
              <a:rPr lang="en-US" sz="1150" b="1" dirty="0">
                <a:solidFill>
                  <a:srgbClr val="FFFFFF"/>
                </a:solidFill>
                <a:latin typeface="Calibri" pitchFamily="34" charset="0"/>
                <a:ea typeface="Calibri" pitchFamily="34" charset="-122"/>
                <a:cs typeface="Calibri" pitchFamily="34" charset="-120"/>
              </a:rPr>
              <a:t>(the Internet)</a:t>
            </a:r>
            <a:endParaRPr lang="en-US" sz="1150" dirty="0"/>
          </a:p>
        </p:txBody>
      </p:sp>
      <p:sp>
        <p:nvSpPr>
          <p:cNvPr id="6" name="Shape 4"/>
          <p:cNvSpPr/>
          <p:nvPr/>
        </p:nvSpPr>
        <p:spPr>
          <a:xfrm flipV="1">
            <a:off x="2391156" y="3017520"/>
            <a:ext cx="201168" cy="914"/>
          </a:xfrm>
          <a:prstGeom prst="line">
            <a:avLst/>
          </a:prstGeom>
          <a:noFill/>
          <a:ln w="25400">
            <a:solidFill>
              <a:srgbClr val="6B7280"/>
            </a:solidFill>
            <a:prstDash val="solid"/>
            <a:tailEnd type="triangle"/>
          </a:ln>
        </p:spPr>
      </p:sp>
      <p:sp>
        <p:nvSpPr>
          <p:cNvPr id="7" name="Shape 5"/>
          <p:cNvSpPr/>
          <p:nvPr/>
        </p:nvSpPr>
        <p:spPr>
          <a:xfrm>
            <a:off x="2592324" y="2446020"/>
            <a:ext cx="1600200" cy="1143000"/>
          </a:xfrm>
          <a:prstGeom prst="roundRect">
            <a:avLst>
              <a:gd name="adj" fmla="val 6400"/>
            </a:avLst>
          </a:prstGeom>
          <a:solidFill>
            <a:srgbClr val="1E3A66"/>
          </a:solidFill>
          <a:ln/>
        </p:spPr>
      </p:sp>
      <p:sp>
        <p:nvSpPr>
          <p:cNvPr id="8" name="Text 6"/>
          <p:cNvSpPr/>
          <p:nvPr/>
        </p:nvSpPr>
        <p:spPr>
          <a:xfrm>
            <a:off x="2683764" y="2446020"/>
            <a:ext cx="1417320" cy="1143000"/>
          </a:xfrm>
          <a:prstGeom prst="rect">
            <a:avLst/>
          </a:prstGeom>
          <a:noFill/>
          <a:ln/>
        </p:spPr>
        <p:txBody>
          <a:bodyPr wrap="square" lIns="0" tIns="0" rIns="0" bIns="0" rtlCol="0" anchor="ctr"/>
          <a:lstStyle/>
          <a:p>
            <a:pPr algn="ctr" indent="0" marL="0">
              <a:lnSpc>
                <a:spcPct val="110000"/>
              </a:lnSpc>
              <a:buNone/>
            </a:pPr>
            <a:r>
              <a:rPr lang="en-US" sz="1150" b="1" dirty="0">
                <a:solidFill>
                  <a:srgbClr val="FFFFFF"/>
                </a:solidFill>
                <a:latin typeface="Calibri" pitchFamily="34" charset="0"/>
                <a:ea typeface="Calibri" pitchFamily="34" charset="-122"/>
                <a:cs typeface="Calibri" pitchFamily="34" charset="-120"/>
              </a:rPr>
              <a:t>Pretraining</a:t>
            </a:r>
            <a:endParaRPr lang="en-US" sz="1150" dirty="0"/>
          </a:p>
          <a:p>
            <a:pPr algn="ctr" indent="0" marL="0">
              <a:lnSpc>
                <a:spcPct val="110000"/>
              </a:lnSpc>
              <a:buNone/>
            </a:pPr>
            <a:r>
              <a:rPr lang="en-US" sz="1150" b="1" dirty="0">
                <a:solidFill>
                  <a:srgbClr val="FFFFFF"/>
                </a:solidFill>
                <a:latin typeface="Calibri" pitchFamily="34" charset="0"/>
                <a:ea typeface="Calibri" pitchFamily="34" charset="-122"/>
                <a:cs typeface="Calibri" pitchFamily="34" charset="-120"/>
              </a:rPr>
              <a:t>(next-word prediction)</a:t>
            </a:r>
            <a:endParaRPr lang="en-US" sz="1150" dirty="0"/>
          </a:p>
        </p:txBody>
      </p:sp>
      <p:sp>
        <p:nvSpPr>
          <p:cNvPr id="9" name="Shape 7"/>
          <p:cNvSpPr/>
          <p:nvPr/>
        </p:nvSpPr>
        <p:spPr>
          <a:xfrm flipV="1">
            <a:off x="4192524" y="3017520"/>
            <a:ext cx="201168" cy="914"/>
          </a:xfrm>
          <a:prstGeom prst="line">
            <a:avLst/>
          </a:prstGeom>
          <a:noFill/>
          <a:ln w="25400">
            <a:solidFill>
              <a:srgbClr val="6B7280"/>
            </a:solidFill>
            <a:prstDash val="solid"/>
            <a:tailEnd type="triangle"/>
          </a:ln>
        </p:spPr>
      </p:sp>
      <p:sp>
        <p:nvSpPr>
          <p:cNvPr id="10" name="Shape 8"/>
          <p:cNvSpPr/>
          <p:nvPr/>
        </p:nvSpPr>
        <p:spPr>
          <a:xfrm>
            <a:off x="4393692" y="2446020"/>
            <a:ext cx="1600200" cy="1143000"/>
          </a:xfrm>
          <a:prstGeom prst="roundRect">
            <a:avLst>
              <a:gd name="adj" fmla="val 6400"/>
            </a:avLst>
          </a:prstGeom>
          <a:solidFill>
            <a:srgbClr val="306998"/>
          </a:solidFill>
          <a:ln/>
        </p:spPr>
      </p:sp>
      <p:sp>
        <p:nvSpPr>
          <p:cNvPr id="11" name="Text 9"/>
          <p:cNvSpPr/>
          <p:nvPr/>
        </p:nvSpPr>
        <p:spPr>
          <a:xfrm>
            <a:off x="4485132" y="2446020"/>
            <a:ext cx="1417320" cy="1143000"/>
          </a:xfrm>
          <a:prstGeom prst="rect">
            <a:avLst/>
          </a:prstGeom>
          <a:noFill/>
          <a:ln/>
        </p:spPr>
        <p:txBody>
          <a:bodyPr wrap="square" lIns="0" tIns="0" rIns="0" bIns="0" rtlCol="0" anchor="ctr"/>
          <a:lstStyle/>
          <a:p>
            <a:pPr algn="ctr" indent="0" marL="0">
              <a:lnSpc>
                <a:spcPct val="110000"/>
              </a:lnSpc>
              <a:buNone/>
            </a:pPr>
            <a:r>
              <a:rPr lang="en-US" sz="1150" b="1" dirty="0">
                <a:solidFill>
                  <a:srgbClr val="FFFFFF"/>
                </a:solidFill>
                <a:latin typeface="Calibri" pitchFamily="34" charset="0"/>
                <a:ea typeface="Calibri" pitchFamily="34" charset="-122"/>
                <a:cs typeface="Calibri" pitchFamily="34" charset="-120"/>
              </a:rPr>
              <a:t>Base</a:t>
            </a:r>
            <a:endParaRPr lang="en-US" sz="1150" dirty="0"/>
          </a:p>
          <a:p>
            <a:pPr algn="ctr" indent="0" marL="0">
              <a:lnSpc>
                <a:spcPct val="110000"/>
              </a:lnSpc>
              <a:buNone/>
            </a:pPr>
            <a:r>
              <a:rPr lang="en-US" sz="1150" b="1" dirty="0">
                <a:solidFill>
                  <a:srgbClr val="FFFFFF"/>
                </a:solidFill>
                <a:latin typeface="Calibri" pitchFamily="34" charset="0"/>
                <a:ea typeface="Calibri" pitchFamily="34" charset="-122"/>
                <a:cs typeface="Calibri" pitchFamily="34" charset="-120"/>
              </a:rPr>
              <a:t>Model</a:t>
            </a:r>
            <a:endParaRPr lang="en-US" sz="1150" dirty="0"/>
          </a:p>
        </p:txBody>
      </p:sp>
      <p:sp>
        <p:nvSpPr>
          <p:cNvPr id="12" name="Shape 10"/>
          <p:cNvSpPr/>
          <p:nvPr/>
        </p:nvSpPr>
        <p:spPr>
          <a:xfrm flipV="1">
            <a:off x="5993892" y="3017520"/>
            <a:ext cx="201168" cy="914"/>
          </a:xfrm>
          <a:prstGeom prst="line">
            <a:avLst/>
          </a:prstGeom>
          <a:noFill/>
          <a:ln w="25400">
            <a:solidFill>
              <a:srgbClr val="6B7280"/>
            </a:solidFill>
            <a:prstDash val="solid"/>
            <a:tailEnd type="triangle"/>
          </a:ln>
        </p:spPr>
      </p:sp>
      <p:sp>
        <p:nvSpPr>
          <p:cNvPr id="13" name="Shape 11"/>
          <p:cNvSpPr/>
          <p:nvPr/>
        </p:nvSpPr>
        <p:spPr>
          <a:xfrm>
            <a:off x="6195060" y="2446020"/>
            <a:ext cx="1600200" cy="1143000"/>
          </a:xfrm>
          <a:prstGeom prst="roundRect">
            <a:avLst>
              <a:gd name="adj" fmla="val 6400"/>
            </a:avLst>
          </a:prstGeom>
          <a:solidFill>
            <a:srgbClr val="1C7293"/>
          </a:solidFill>
          <a:ln/>
        </p:spPr>
      </p:sp>
      <p:sp>
        <p:nvSpPr>
          <p:cNvPr id="14" name="Text 12"/>
          <p:cNvSpPr/>
          <p:nvPr/>
        </p:nvSpPr>
        <p:spPr>
          <a:xfrm>
            <a:off x="6286500" y="2446020"/>
            <a:ext cx="1417320" cy="1143000"/>
          </a:xfrm>
          <a:prstGeom prst="rect">
            <a:avLst/>
          </a:prstGeom>
          <a:noFill/>
          <a:ln/>
        </p:spPr>
        <p:txBody>
          <a:bodyPr wrap="square" lIns="0" tIns="0" rIns="0" bIns="0" rtlCol="0" anchor="ctr"/>
          <a:lstStyle/>
          <a:p>
            <a:pPr algn="ctr" indent="0" marL="0">
              <a:lnSpc>
                <a:spcPct val="110000"/>
              </a:lnSpc>
              <a:buNone/>
            </a:pPr>
            <a:r>
              <a:rPr lang="en-US" sz="1150" b="1" dirty="0">
                <a:solidFill>
                  <a:srgbClr val="FFFFFF"/>
                </a:solidFill>
                <a:latin typeface="Calibri" pitchFamily="34" charset="0"/>
                <a:ea typeface="Calibri" pitchFamily="34" charset="-122"/>
                <a:cs typeface="Calibri" pitchFamily="34" charset="-120"/>
              </a:rPr>
              <a:t>Supervised</a:t>
            </a:r>
            <a:endParaRPr lang="en-US" sz="1150" dirty="0"/>
          </a:p>
          <a:p>
            <a:pPr algn="ctr" indent="0" marL="0">
              <a:lnSpc>
                <a:spcPct val="110000"/>
              </a:lnSpc>
              <a:buNone/>
            </a:pPr>
            <a:r>
              <a:rPr lang="en-US" sz="1150" b="1" dirty="0">
                <a:solidFill>
                  <a:srgbClr val="FFFFFF"/>
                </a:solidFill>
                <a:latin typeface="Calibri" pitchFamily="34" charset="0"/>
                <a:ea typeface="Calibri" pitchFamily="34" charset="-122"/>
                <a:cs typeface="Calibri" pitchFamily="34" charset="-120"/>
              </a:rPr>
              <a:t>Fine-Tuning</a:t>
            </a:r>
            <a:endParaRPr lang="en-US" sz="1150" dirty="0"/>
          </a:p>
        </p:txBody>
      </p:sp>
      <p:sp>
        <p:nvSpPr>
          <p:cNvPr id="15" name="Shape 13"/>
          <p:cNvSpPr/>
          <p:nvPr/>
        </p:nvSpPr>
        <p:spPr>
          <a:xfrm flipV="1">
            <a:off x="7795260" y="3017520"/>
            <a:ext cx="201168" cy="914"/>
          </a:xfrm>
          <a:prstGeom prst="line">
            <a:avLst/>
          </a:prstGeom>
          <a:noFill/>
          <a:ln w="25400">
            <a:solidFill>
              <a:srgbClr val="6B7280"/>
            </a:solidFill>
            <a:prstDash val="solid"/>
            <a:tailEnd type="triangle"/>
          </a:ln>
        </p:spPr>
      </p:sp>
      <p:sp>
        <p:nvSpPr>
          <p:cNvPr id="16" name="Shape 14"/>
          <p:cNvSpPr/>
          <p:nvPr/>
        </p:nvSpPr>
        <p:spPr>
          <a:xfrm>
            <a:off x="7996428" y="2446020"/>
            <a:ext cx="1600200" cy="1143000"/>
          </a:xfrm>
          <a:prstGeom prst="roundRect">
            <a:avLst>
              <a:gd name="adj" fmla="val 6400"/>
            </a:avLst>
          </a:prstGeom>
          <a:solidFill>
            <a:srgbClr val="6C4F9E"/>
          </a:solidFill>
          <a:ln/>
        </p:spPr>
      </p:sp>
      <p:sp>
        <p:nvSpPr>
          <p:cNvPr id="17" name="Text 15"/>
          <p:cNvSpPr/>
          <p:nvPr/>
        </p:nvSpPr>
        <p:spPr>
          <a:xfrm>
            <a:off x="8087868" y="2446020"/>
            <a:ext cx="1417320" cy="1143000"/>
          </a:xfrm>
          <a:prstGeom prst="rect">
            <a:avLst/>
          </a:prstGeom>
          <a:noFill/>
          <a:ln/>
        </p:spPr>
        <p:txBody>
          <a:bodyPr wrap="square" lIns="0" tIns="0" rIns="0" bIns="0" rtlCol="0" anchor="ctr"/>
          <a:lstStyle/>
          <a:p>
            <a:pPr algn="ctr" indent="0" marL="0">
              <a:lnSpc>
                <a:spcPct val="110000"/>
              </a:lnSpc>
              <a:buNone/>
            </a:pPr>
            <a:r>
              <a:rPr lang="en-US" sz="1150" b="1" dirty="0">
                <a:solidFill>
                  <a:srgbClr val="FFFFFF"/>
                </a:solidFill>
                <a:latin typeface="Calibri" pitchFamily="34" charset="0"/>
                <a:ea typeface="Calibri" pitchFamily="34" charset="-122"/>
                <a:cs typeface="Calibri" pitchFamily="34" charset="-120"/>
              </a:rPr>
              <a:t>RLHF</a:t>
            </a:r>
            <a:endParaRPr lang="en-US" sz="1150" dirty="0"/>
          </a:p>
        </p:txBody>
      </p:sp>
      <p:sp>
        <p:nvSpPr>
          <p:cNvPr id="18" name="Shape 16"/>
          <p:cNvSpPr/>
          <p:nvPr/>
        </p:nvSpPr>
        <p:spPr>
          <a:xfrm flipV="1">
            <a:off x="9596628" y="3017520"/>
            <a:ext cx="201168" cy="914"/>
          </a:xfrm>
          <a:prstGeom prst="line">
            <a:avLst/>
          </a:prstGeom>
          <a:noFill/>
          <a:ln w="25400">
            <a:solidFill>
              <a:srgbClr val="6B7280"/>
            </a:solidFill>
            <a:prstDash val="solid"/>
            <a:tailEnd type="triangle"/>
          </a:ln>
        </p:spPr>
      </p:sp>
      <p:sp>
        <p:nvSpPr>
          <p:cNvPr id="19" name="Shape 17"/>
          <p:cNvSpPr/>
          <p:nvPr/>
        </p:nvSpPr>
        <p:spPr>
          <a:xfrm>
            <a:off x="9797796" y="2446020"/>
            <a:ext cx="1600200" cy="1143000"/>
          </a:xfrm>
          <a:prstGeom prst="roundRect">
            <a:avLst>
              <a:gd name="adj" fmla="val 6400"/>
            </a:avLst>
          </a:prstGeom>
          <a:solidFill>
            <a:srgbClr val="3E8E5A"/>
          </a:solidFill>
          <a:ln/>
        </p:spPr>
      </p:sp>
      <p:sp>
        <p:nvSpPr>
          <p:cNvPr id="20" name="Text 18"/>
          <p:cNvSpPr/>
          <p:nvPr/>
        </p:nvSpPr>
        <p:spPr>
          <a:xfrm>
            <a:off x="9889236" y="2446020"/>
            <a:ext cx="1417320" cy="1143000"/>
          </a:xfrm>
          <a:prstGeom prst="rect">
            <a:avLst/>
          </a:prstGeom>
          <a:noFill/>
          <a:ln/>
        </p:spPr>
        <p:txBody>
          <a:bodyPr wrap="square" lIns="0" tIns="0" rIns="0" bIns="0" rtlCol="0" anchor="ctr"/>
          <a:lstStyle/>
          <a:p>
            <a:pPr algn="ctr" indent="0" marL="0">
              <a:lnSpc>
                <a:spcPct val="110000"/>
              </a:lnSpc>
              <a:buNone/>
            </a:pPr>
            <a:r>
              <a:rPr lang="en-US" sz="1150" b="1" dirty="0">
                <a:solidFill>
                  <a:srgbClr val="FFFFFF"/>
                </a:solidFill>
                <a:latin typeface="Calibri" pitchFamily="34" charset="0"/>
                <a:ea typeface="Calibri" pitchFamily="34" charset="-122"/>
                <a:cs typeface="Calibri" pitchFamily="34" charset="-120"/>
              </a:rPr>
              <a:t>Helpful</a:t>
            </a:r>
            <a:endParaRPr lang="en-US" sz="1150" dirty="0"/>
          </a:p>
          <a:p>
            <a:pPr algn="ctr" indent="0" marL="0">
              <a:lnSpc>
                <a:spcPct val="110000"/>
              </a:lnSpc>
              <a:buNone/>
            </a:pPr>
            <a:r>
              <a:rPr lang="en-US" sz="1150" b="1" dirty="0">
                <a:solidFill>
                  <a:srgbClr val="FFFFFF"/>
                </a:solidFill>
                <a:latin typeface="Calibri" pitchFamily="34" charset="0"/>
                <a:ea typeface="Calibri" pitchFamily="34" charset="-122"/>
                <a:cs typeface="Calibri" pitchFamily="34" charset="-120"/>
              </a:rPr>
              <a:t>Assistant</a:t>
            </a:r>
            <a:endParaRPr lang="en-US" sz="1150" dirty="0"/>
          </a:p>
        </p:txBody>
      </p:sp>
      <p:sp>
        <p:nvSpPr>
          <p:cNvPr id="21" name="Shape 19"/>
          <p:cNvSpPr/>
          <p:nvPr/>
        </p:nvSpPr>
        <p:spPr>
          <a:xfrm>
            <a:off x="548640" y="3977640"/>
            <a:ext cx="11064240" cy="1417320"/>
          </a:xfrm>
          <a:prstGeom prst="roundRect">
            <a:avLst>
              <a:gd name="adj" fmla="val 5161"/>
            </a:avLst>
          </a:prstGeom>
          <a:solidFill>
            <a:srgbClr val="F4F6F9"/>
          </a:solidFill>
          <a:ln/>
        </p:spPr>
      </p:sp>
      <p:sp>
        <p:nvSpPr>
          <p:cNvPr id="22" name="Text 20"/>
          <p:cNvSpPr/>
          <p:nvPr/>
        </p:nvSpPr>
        <p:spPr>
          <a:xfrm>
            <a:off x="868680" y="4160520"/>
            <a:ext cx="10424160" cy="1097280"/>
          </a:xfrm>
          <a:prstGeom prst="rect">
            <a:avLst/>
          </a:prstGeom>
          <a:noFill/>
          <a:ln/>
        </p:spPr>
        <p:txBody>
          <a:bodyPr wrap="square" lIns="0" tIns="0" rIns="0" bIns="0" rtlCol="0" anchor="t"/>
          <a:lstStyle/>
          <a:p>
            <a:pPr indent="0" marL="0">
              <a:lnSpc>
                <a:spcPct val="130000"/>
              </a:lnSpc>
              <a:buNone/>
            </a:pPr>
            <a:r>
              <a:rPr lang="en-US" sz="1350" b="1" dirty="0">
                <a:solidFill>
                  <a:srgbClr val="306998"/>
                </a:solidFill>
                <a:latin typeface="Calibri" pitchFamily="34" charset="0"/>
                <a:ea typeface="Calibri" pitchFamily="34" charset="-122"/>
                <a:cs typeface="Calibri" pitchFamily="34" charset="-120"/>
              </a:rPr>
              <a:t>Three very different training stages, one goal each:  </a:t>
            </a:r>
            <a:pPr indent="0" marL="0">
              <a:lnSpc>
                <a:spcPct val="130000"/>
              </a:lnSpc>
              <a:buNone/>
            </a:pPr>
            <a:endParaRPr lang="en-US" sz="1350" dirty="0"/>
          </a:p>
          <a:p>
            <a:pPr indent="0" marL="0">
              <a:lnSpc>
                <a:spcPct val="130000"/>
              </a:lnSpc>
              <a:buNone/>
            </a:pPr>
            <a:r>
              <a:rPr lang="en-US" sz="1300" dirty="0">
                <a:solidFill>
                  <a:srgbClr val="23282E"/>
                </a:solidFill>
                <a:latin typeface="Calibri" pitchFamily="34" charset="0"/>
                <a:ea typeface="Calibri" pitchFamily="34" charset="-122"/>
                <a:cs typeface="Calibri" pitchFamily="34" charset="-120"/>
              </a:rPr>
              <a:t>Pretraining teaches broad knowledge and language patterns. Fine-tuning teaches the FORMAT of a helpful answer. RLHF teaches the STYLE and safety humans actually prefer.</a:t>
            </a:r>
            <a:endParaRPr lang="en-US" sz="1350" dirty="0"/>
          </a:p>
        </p:txBody>
      </p:sp>
      <p:sp>
        <p:nvSpPr>
          <p:cNvPr id="23" name="Shape 21"/>
          <p:cNvSpPr/>
          <p:nvPr/>
        </p:nvSpPr>
        <p:spPr>
          <a:xfrm>
            <a:off x="548640" y="5577840"/>
            <a:ext cx="11064240" cy="822960"/>
          </a:xfrm>
          <a:prstGeom prst="roundRect">
            <a:avLst>
              <a:gd name="adj" fmla="val 8889"/>
            </a:avLst>
          </a:prstGeom>
          <a:solidFill>
            <a:srgbClr val="16325C"/>
          </a:solidFill>
          <a:ln/>
        </p:spPr>
      </p:sp>
      <p:sp>
        <p:nvSpPr>
          <p:cNvPr id="24" name="Text 22"/>
          <p:cNvSpPr/>
          <p:nvPr/>
        </p:nvSpPr>
        <p:spPr>
          <a:xfrm>
            <a:off x="868680" y="5577840"/>
            <a:ext cx="10424160" cy="822960"/>
          </a:xfrm>
          <a:prstGeom prst="rect">
            <a:avLst/>
          </a:prstGeom>
          <a:noFill/>
          <a:ln/>
        </p:spPr>
        <p:txBody>
          <a:bodyPr wrap="square" lIns="0" tIns="0" rIns="0" bIns="0" rtlCol="0" anchor="ctr"/>
          <a:lstStyle/>
          <a:p>
            <a:pPr indent="0" marL="0">
              <a:lnSpc>
                <a:spcPct val="120000"/>
              </a:lnSpc>
              <a:buNone/>
            </a:pPr>
            <a:r>
              <a:rPr lang="en-US" sz="1200" i="1" dirty="0">
                <a:solidFill>
                  <a:srgbClr val="FFFFFF"/>
                </a:solidFill>
                <a:latin typeface="Calibri" pitchFamily="34" charset="0"/>
                <a:ea typeface="Calibri" pitchFamily="34" charset="-122"/>
                <a:cs typeface="Calibri" pitchFamily="34" charset="-120"/>
              </a:rPr>
              <a:t>ChatGPT, Claude, Gemini — every well-known assistant follows some version of this exact three-stage pipeline.</a:t>
            </a:r>
            <a:endParaRPr lang="en-US" sz="1200" dirty="0"/>
          </a:p>
        </p:txBody>
      </p:sp>
      <p:sp>
        <p:nvSpPr>
          <p:cNvPr id="25" name="Text 23"/>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26" name="Text 24"/>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AF3FB"/>
        </a:solidFill>
      </p:bgPr>
    </p:bg>
    <p:spTree>
      <p:nvGrpSpPr>
        <p:cNvPr id="1" name=""/>
        <p:cNvGrpSpPr/>
        <p:nvPr/>
      </p:nvGrpSpPr>
      <p:grpSpPr>
        <a:xfrm>
          <a:off x="0" y="0"/>
          <a:ext cx="0" cy="0"/>
          <a:chOff x="0" y="0"/>
          <a:chExt cx="0" cy="0"/>
        </a:xfrm>
      </p:grpSpPr>
      <p:sp>
        <p:nvSpPr>
          <p:cNvPr id="2" name="Shape 0"/>
          <p:cNvSpPr/>
          <p:nvPr/>
        </p:nvSpPr>
        <p:spPr>
          <a:xfrm>
            <a:off x="548640" y="457200"/>
            <a:ext cx="822960" cy="822960"/>
          </a:xfrm>
          <a:prstGeom prst="ellipse">
            <a:avLst/>
          </a:prstGeom>
          <a:solidFill>
            <a:srgbClr val="E8B923"/>
          </a:solidFill>
          <a:ln/>
        </p:spPr>
      </p:sp>
      <p:sp>
        <p:nvSpPr>
          <p:cNvPr id="3" name="Text 1"/>
          <p:cNvSpPr/>
          <p:nvPr/>
        </p:nvSpPr>
        <p:spPr>
          <a:xfrm>
            <a:off x="548640" y="45720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t>
            </a:r>
            <a:endParaRPr lang="en-US" sz="3200" dirty="0"/>
          </a:p>
        </p:txBody>
      </p:sp>
      <p:sp>
        <p:nvSpPr>
          <p:cNvPr id="4" name="Text 2"/>
          <p:cNvSpPr/>
          <p:nvPr/>
        </p:nvSpPr>
        <p:spPr>
          <a:xfrm>
            <a:off x="1554480" y="457200"/>
            <a:ext cx="5486400" cy="365760"/>
          </a:xfrm>
          <a:prstGeom prst="rect">
            <a:avLst/>
          </a:prstGeom>
          <a:noFill/>
          <a:ln/>
        </p:spPr>
        <p:txBody>
          <a:bodyPr wrap="square" lIns="0" tIns="0" rIns="0" bIns="0" rtlCol="0" anchor="ctr"/>
          <a:lstStyle/>
          <a:p>
            <a:pPr indent="0" marL="0">
              <a:buNone/>
            </a:pPr>
            <a:r>
              <a:rPr lang="en-US" sz="1300" b="1" spc="200" kern="0" dirty="0">
                <a:solidFill>
                  <a:srgbClr val="E8B923"/>
                </a:solidFill>
                <a:latin typeface="Calibri" pitchFamily="34" charset="0"/>
                <a:ea typeface="Calibri" pitchFamily="34" charset="-122"/>
                <a:cs typeface="Calibri" pitchFamily="34" charset="-120"/>
              </a:rPr>
              <a:t>QUICK CHECK 4</a:t>
            </a:r>
            <a:endParaRPr lang="en-US" sz="1300" dirty="0"/>
          </a:p>
        </p:txBody>
      </p:sp>
      <p:sp>
        <p:nvSpPr>
          <p:cNvPr id="5" name="Text 3"/>
          <p:cNvSpPr/>
          <p:nvPr/>
        </p:nvSpPr>
        <p:spPr>
          <a:xfrm>
            <a:off x="1554480" y="777240"/>
            <a:ext cx="7315200" cy="548640"/>
          </a:xfrm>
          <a:prstGeom prst="rect">
            <a:avLst/>
          </a:prstGeom>
          <a:noFill/>
          <a:ln/>
        </p:spPr>
        <p:txBody>
          <a:bodyPr wrap="square" lIns="0" tIns="0" rIns="0" bIns="0" rtlCol="0" anchor="ctr"/>
          <a:lstStyle/>
          <a:p>
            <a:pPr indent="0" marL="0">
              <a:buNone/>
            </a:pPr>
            <a:r>
              <a:rPr lang="en-US" sz="2700" b="1" dirty="0">
                <a:solidFill>
                  <a:srgbClr val="23282E"/>
                </a:solidFill>
                <a:latin typeface="Cambria" pitchFamily="34" charset="0"/>
                <a:ea typeface="Cambria" pitchFamily="34" charset="-122"/>
                <a:cs typeface="Cambria" pitchFamily="34" charset="-120"/>
              </a:rPr>
              <a:t>How LLMs Learn Check</a:t>
            </a:r>
            <a:endParaRPr lang="en-US" sz="2700" dirty="0"/>
          </a:p>
        </p:txBody>
      </p:sp>
      <p:sp>
        <p:nvSpPr>
          <p:cNvPr id="6" name="Shape 4"/>
          <p:cNvSpPr/>
          <p:nvPr/>
        </p:nvSpPr>
        <p:spPr>
          <a:xfrm>
            <a:off x="9418320" y="502920"/>
            <a:ext cx="2194560" cy="548640"/>
          </a:xfrm>
          <a:prstGeom prst="roundRect">
            <a:avLst>
              <a:gd name="adj" fmla="val 50000"/>
            </a:avLst>
          </a:prstGeom>
          <a:solidFill>
            <a:srgbClr val="16325C"/>
          </a:solidFill>
          <a:ln/>
        </p:spPr>
      </p:sp>
      <p:sp>
        <p:nvSpPr>
          <p:cNvPr id="7" name="Text 5"/>
          <p:cNvSpPr/>
          <p:nvPr/>
        </p:nvSpPr>
        <p:spPr>
          <a:xfrm>
            <a:off x="9418320" y="502920"/>
            <a:ext cx="219456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DISCUSS AS A CLASS</a:t>
            </a:r>
            <a:endParaRPr lang="en-US" sz="1050" dirty="0"/>
          </a:p>
        </p:txBody>
      </p:sp>
      <p:sp>
        <p:nvSpPr>
          <p:cNvPr id="8" name="Shape 6"/>
          <p:cNvSpPr/>
          <p:nvPr/>
        </p:nvSpPr>
        <p:spPr>
          <a:xfrm>
            <a:off x="548640" y="1600200"/>
            <a:ext cx="7406640" cy="4572000"/>
          </a:xfrm>
          <a:prstGeom prst="roundRect">
            <a:avLst>
              <a:gd name="adj" fmla="val 1600"/>
            </a:avLst>
          </a:prstGeom>
          <a:solidFill>
            <a:srgbClr val="FFFFFF"/>
          </a:solidFill>
          <a:ln w="12700">
            <a:solidFill>
              <a:srgbClr val="C9DCEE"/>
            </a:solidFill>
            <a:prstDash val="solid"/>
          </a:ln>
          <a:effectLst>
            <a:outerShdw sx="100000" sy="100000" kx="0" ky="0" algn="bl" rotWithShape="0" blurRad="101600" dist="25400" dir="5400000">
              <a:srgbClr val="000000">
                <a:alpha val="12000"/>
              </a:srgbClr>
            </a:outerShdw>
          </a:effectLst>
        </p:spPr>
      </p:sp>
      <p:sp>
        <p:nvSpPr>
          <p:cNvPr id="9" name="Text 7"/>
          <p:cNvSpPr/>
          <p:nvPr/>
        </p:nvSpPr>
        <p:spPr>
          <a:xfrm>
            <a:off x="868680" y="1874520"/>
            <a:ext cx="6858000" cy="4023360"/>
          </a:xfrm>
          <a:prstGeom prst="rect">
            <a:avLst/>
          </a:prstGeom>
          <a:noFill/>
          <a:ln/>
        </p:spPr>
        <p:txBody>
          <a:bodyPr wrap="square" lIns="0" tIns="0" rIns="0" bIns="0" rtlCol="0" anchor="t"/>
          <a:lstStyle/>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1.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A freshly pretrained model just lists 5 more similar questions instead of answering one.</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2.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Humans rank 4 different candidate responses to the same prompt from best to worst.</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3.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Someone asks what data pretraining uses as its "correct answer."</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4.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Someone asks what RLHF actually stands for.</a:t>
            </a:r>
            <a:endParaRPr lang="en-US" sz="1500" dirty="0"/>
          </a:p>
        </p:txBody>
      </p:sp>
      <p:sp>
        <p:nvSpPr>
          <p:cNvPr id="10" name="Shape 8"/>
          <p:cNvSpPr/>
          <p:nvPr/>
        </p:nvSpPr>
        <p:spPr>
          <a:xfrm>
            <a:off x="8229600" y="1600200"/>
            <a:ext cx="3383280" cy="4572000"/>
          </a:xfrm>
          <a:prstGeom prst="roundRect">
            <a:avLst>
              <a:gd name="adj" fmla="val 2162"/>
            </a:avLst>
          </a:prstGeom>
          <a:solidFill>
            <a:srgbClr val="16325C"/>
          </a:solidFill>
          <a:ln/>
        </p:spPr>
      </p:sp>
      <p:sp>
        <p:nvSpPr>
          <p:cNvPr id="11" name="Text 9"/>
          <p:cNvSpPr/>
          <p:nvPr/>
        </p:nvSpPr>
        <p:spPr>
          <a:xfrm>
            <a:off x="8549640" y="1828800"/>
            <a:ext cx="2743200" cy="320040"/>
          </a:xfrm>
          <a:prstGeom prst="rect">
            <a:avLst/>
          </a:prstGeom>
          <a:noFill/>
          <a:ln/>
        </p:spPr>
        <p:txBody>
          <a:bodyPr wrap="square" lIns="0" tIns="0" rIns="0" bIns="0" rtlCol="0" anchor="ctr"/>
          <a:lstStyle/>
          <a:p>
            <a:pPr indent="0" marL="0">
              <a:buNone/>
            </a:pPr>
            <a:r>
              <a:rPr lang="en-US" sz="1200" b="1" spc="200" kern="0" dirty="0">
                <a:solidFill>
                  <a:srgbClr val="FFD43B"/>
                </a:solidFill>
                <a:latin typeface="Calibri" pitchFamily="34" charset="0"/>
                <a:ea typeface="Calibri" pitchFamily="34" charset="-122"/>
                <a:cs typeface="Calibri" pitchFamily="34" charset="-120"/>
              </a:rPr>
              <a:t>ANSWER KEY</a:t>
            </a:r>
            <a:endParaRPr lang="en-US" sz="1200" dirty="0"/>
          </a:p>
        </p:txBody>
      </p:sp>
      <p:sp>
        <p:nvSpPr>
          <p:cNvPr id="12" name="Text 10"/>
          <p:cNvSpPr/>
          <p:nvPr/>
        </p:nvSpPr>
        <p:spPr>
          <a:xfrm>
            <a:off x="8549640" y="2194560"/>
            <a:ext cx="2788920" cy="3840480"/>
          </a:xfrm>
          <a:prstGeom prst="rect">
            <a:avLst/>
          </a:prstGeom>
          <a:noFill/>
          <a:ln/>
        </p:spPr>
        <p:txBody>
          <a:bodyPr wrap="square" lIns="0" tIns="0" rIns="0" bIns="0" rtlCol="0" anchor="t"/>
          <a:lstStyle/>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1.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Expected — it hasn't been fine-tuned to follow instructions yet</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2.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This is the human feedback step used to train RLHF's reward model</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3.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Whatever word actually came next in the real training text — no human labeling needed</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4.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Reinforcement Learning from Human Feedback</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6325C"/>
        </a:solidFill>
      </p:bgPr>
    </p:bg>
    <p:spTree>
      <p:nvGrpSpPr>
        <p:cNvPr id="1" name=""/>
        <p:cNvGrpSpPr/>
        <p:nvPr/>
      </p:nvGrpSpPr>
      <p:grpSpPr>
        <a:xfrm>
          <a:off x="0" y="0"/>
          <a:ext cx="0" cy="0"/>
          <a:chOff x="0" y="0"/>
          <a:chExt cx="0" cy="0"/>
        </a:xfrm>
      </p:grpSpPr>
      <p:sp>
        <p:nvSpPr>
          <p:cNvPr id="2" name="Text 0"/>
          <p:cNvSpPr/>
          <p:nvPr/>
        </p:nvSpPr>
        <p:spPr>
          <a:xfrm>
            <a:off x="640080" y="1371600"/>
            <a:ext cx="4572000" cy="2926080"/>
          </a:xfrm>
          <a:prstGeom prst="rect">
            <a:avLst/>
          </a:prstGeom>
          <a:noFill/>
          <a:ln/>
        </p:spPr>
        <p:txBody>
          <a:bodyPr wrap="square" lIns="0" tIns="0" rIns="0" bIns="0" rtlCol="0" anchor="ctr"/>
          <a:lstStyle/>
          <a:p>
            <a:pPr algn="l" indent="0" marL="0">
              <a:buNone/>
            </a:pPr>
            <a:r>
              <a:rPr lang="en-US" sz="22000" b="1" dirty="0">
                <a:solidFill>
                  <a:srgbClr val="1E3A66"/>
                </a:solidFill>
                <a:latin typeface="Cambria" pitchFamily="34" charset="0"/>
                <a:ea typeface="Cambria" pitchFamily="34" charset="-122"/>
                <a:cs typeface="Cambria" pitchFamily="34" charset="-120"/>
              </a:rPr>
              <a:t>05</a:t>
            </a:r>
            <a:endParaRPr lang="en-US" sz="22000" dirty="0"/>
          </a:p>
        </p:txBody>
      </p:sp>
      <p:sp>
        <p:nvSpPr>
          <p:cNvPr id="3" name="Shape 1"/>
          <p:cNvSpPr/>
          <p:nvPr/>
        </p:nvSpPr>
        <p:spPr>
          <a:xfrm>
            <a:off x="5394960" y="2011680"/>
            <a:ext cx="54864" cy="1920240"/>
          </a:xfrm>
          <a:prstGeom prst="rect">
            <a:avLst/>
          </a:prstGeom>
          <a:solidFill>
            <a:srgbClr val="FFD43B"/>
          </a:solidFill>
          <a:ln/>
        </p:spPr>
      </p:sp>
      <p:sp>
        <p:nvSpPr>
          <p:cNvPr id="4" name="Text 2"/>
          <p:cNvSpPr/>
          <p:nvPr/>
        </p:nvSpPr>
        <p:spPr>
          <a:xfrm>
            <a:off x="5715000" y="1965960"/>
            <a:ext cx="6035040" cy="11887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How LLMs Generate Text</a:t>
            </a:r>
            <a:endParaRPr lang="en-US" sz="3200" dirty="0"/>
          </a:p>
        </p:txBody>
      </p:sp>
      <p:sp>
        <p:nvSpPr>
          <p:cNvPr id="5" name="Text 3"/>
          <p:cNvSpPr/>
          <p:nvPr/>
        </p:nvSpPr>
        <p:spPr>
          <a:xfrm>
            <a:off x="5715000" y="3063240"/>
            <a:ext cx="6035040" cy="822960"/>
          </a:xfrm>
          <a:prstGeom prst="rect">
            <a:avLst/>
          </a:prstGeom>
          <a:noFill/>
          <a:ln/>
        </p:spPr>
        <p:txBody>
          <a:bodyPr wrap="square" lIns="0" tIns="0" rIns="0" bIns="0" rtlCol="0" anchor="t"/>
          <a:lstStyle/>
          <a:p>
            <a:pPr algn="l" indent="0" marL="0">
              <a:buNone/>
            </a:pPr>
            <a:r>
              <a:rPr lang="en-US" sz="1700" i="1" dirty="0">
                <a:solidFill>
                  <a:srgbClr val="FFD43B"/>
                </a:solidFill>
                <a:latin typeface="Calibri" pitchFamily="34" charset="0"/>
                <a:ea typeface="Calibri" pitchFamily="34" charset="-122"/>
                <a:cs typeface="Calibri" pitchFamily="34" charset="-120"/>
              </a:rPr>
              <a:t>What's really happening, one word at a time</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5 · THE GENERATION LOOP</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One Word at a Time, Fed Back In</a:t>
            </a:r>
            <a:endParaRPr lang="en-US" sz="2700" dirty="0"/>
          </a:p>
        </p:txBody>
      </p:sp>
      <p:sp>
        <p:nvSpPr>
          <p:cNvPr id="4" name="Text 2"/>
          <p:cNvSpPr/>
          <p:nvPr/>
        </p:nvSpPr>
        <p:spPr>
          <a:xfrm>
            <a:off x="548640" y="1536192"/>
            <a:ext cx="11064240" cy="502920"/>
          </a:xfrm>
          <a:prstGeom prst="rect">
            <a:avLst/>
          </a:prstGeom>
          <a:noFill/>
          <a:ln/>
        </p:spPr>
        <p:txBody>
          <a:bodyPr wrap="square" lIns="0" tIns="0" rIns="0" bIns="0" rtlCol="0" anchor="ctr"/>
          <a:lstStyle/>
          <a:p>
            <a:pPr indent="0" marL="0">
              <a:lnSpc>
                <a:spcPct val="125000"/>
              </a:lnSpc>
              <a:buNone/>
            </a:pPr>
            <a:r>
              <a:rPr lang="en-US" sz="1350" i="1" dirty="0">
                <a:solidFill>
                  <a:srgbClr val="6B7280"/>
                </a:solidFill>
                <a:latin typeface="Calibri" pitchFamily="34" charset="0"/>
                <a:ea typeface="Calibri" pitchFamily="34" charset="-122"/>
                <a:cs typeface="Calibri" pitchFamily="34" charset="-120"/>
              </a:rPr>
              <a:t>A trained model only ever does one thing: predict the next token. Generating a full reply just means doing that over, and over, and over.</a:t>
            </a:r>
            <a:endParaRPr lang="en-US" sz="1350" dirty="0"/>
          </a:p>
        </p:txBody>
      </p:sp>
      <p:sp>
        <p:nvSpPr>
          <p:cNvPr id="5" name="Shape 3"/>
          <p:cNvSpPr/>
          <p:nvPr/>
        </p:nvSpPr>
        <p:spPr>
          <a:xfrm>
            <a:off x="1042416" y="2697480"/>
            <a:ext cx="2148840" cy="1005840"/>
          </a:xfrm>
          <a:prstGeom prst="roundRect">
            <a:avLst>
              <a:gd name="adj" fmla="val 7273"/>
            </a:avLst>
          </a:prstGeom>
          <a:solidFill>
            <a:srgbClr val="306998"/>
          </a:solidFill>
          <a:ln/>
        </p:spPr>
      </p:sp>
      <p:sp>
        <p:nvSpPr>
          <p:cNvPr id="6" name="Text 4"/>
          <p:cNvSpPr/>
          <p:nvPr/>
        </p:nvSpPr>
        <p:spPr>
          <a:xfrm>
            <a:off x="1133856" y="2697480"/>
            <a:ext cx="1965960" cy="1005840"/>
          </a:xfrm>
          <a:prstGeom prst="rect">
            <a:avLst/>
          </a:prstGeom>
          <a:noFill/>
          <a:ln/>
        </p:spPr>
        <p:txBody>
          <a:bodyPr wrap="square" lIns="0" tIns="0" rIns="0" bIns="0" rtlCol="0" anchor="ctr"/>
          <a:lstStyle/>
          <a:p>
            <a:pPr algn="ctr" indent="0" marL="0">
              <a:lnSpc>
                <a:spcPct val="110000"/>
              </a:lnSpc>
              <a:buNone/>
            </a:pPr>
            <a:r>
              <a:rPr lang="en-US" sz="1200" b="1" dirty="0">
                <a:solidFill>
                  <a:srgbClr val="FFFFFF"/>
                </a:solidFill>
                <a:latin typeface="Calibri" pitchFamily="34" charset="0"/>
                <a:ea typeface="Calibri" pitchFamily="34" charset="-122"/>
                <a:cs typeface="Calibri" pitchFamily="34" charset="-120"/>
              </a:rPr>
              <a:t>"The sky</a:t>
            </a:r>
            <a:endParaRPr lang="en-US" sz="1200" dirty="0"/>
          </a:p>
          <a:p>
            <a:pPr algn="ctr" indent="0" marL="0">
              <a:lnSpc>
                <a:spcPct val="110000"/>
              </a:lnSpc>
              <a:buNone/>
            </a:pPr>
            <a:r>
              <a:rPr lang="en-US" sz="1200" b="1" dirty="0">
                <a:solidFill>
                  <a:srgbClr val="FFFFFF"/>
                </a:solidFill>
                <a:latin typeface="Calibri" pitchFamily="34" charset="0"/>
                <a:ea typeface="Calibri" pitchFamily="34" charset="-122"/>
                <a:cs typeface="Calibri" pitchFamily="34" charset="-120"/>
              </a:rPr>
              <a:t>is"</a:t>
            </a:r>
            <a:endParaRPr lang="en-US" sz="1200" dirty="0"/>
          </a:p>
        </p:txBody>
      </p:sp>
      <p:sp>
        <p:nvSpPr>
          <p:cNvPr id="7" name="Shape 5"/>
          <p:cNvSpPr/>
          <p:nvPr/>
        </p:nvSpPr>
        <p:spPr>
          <a:xfrm flipV="1">
            <a:off x="3191256" y="3200400"/>
            <a:ext cx="502920" cy="914"/>
          </a:xfrm>
          <a:prstGeom prst="line">
            <a:avLst/>
          </a:prstGeom>
          <a:noFill/>
          <a:ln w="28575">
            <a:solidFill>
              <a:srgbClr val="1C7293"/>
            </a:solidFill>
            <a:prstDash val="solid"/>
            <a:tailEnd type="triangle"/>
          </a:ln>
        </p:spPr>
      </p:sp>
      <p:sp>
        <p:nvSpPr>
          <p:cNvPr id="8" name="Shape 6"/>
          <p:cNvSpPr/>
          <p:nvPr/>
        </p:nvSpPr>
        <p:spPr>
          <a:xfrm>
            <a:off x="3694176" y="2697480"/>
            <a:ext cx="2148840" cy="1005840"/>
          </a:xfrm>
          <a:prstGeom prst="roundRect">
            <a:avLst>
              <a:gd name="adj" fmla="val 7273"/>
            </a:avLst>
          </a:prstGeom>
          <a:solidFill>
            <a:srgbClr val="306998"/>
          </a:solidFill>
          <a:ln/>
        </p:spPr>
      </p:sp>
      <p:sp>
        <p:nvSpPr>
          <p:cNvPr id="9" name="Text 7"/>
          <p:cNvSpPr/>
          <p:nvPr/>
        </p:nvSpPr>
        <p:spPr>
          <a:xfrm>
            <a:off x="3785616" y="2697480"/>
            <a:ext cx="1965960" cy="1005840"/>
          </a:xfrm>
          <a:prstGeom prst="rect">
            <a:avLst/>
          </a:prstGeom>
          <a:noFill/>
          <a:ln/>
        </p:spPr>
        <p:txBody>
          <a:bodyPr wrap="square" lIns="0" tIns="0" rIns="0" bIns="0" rtlCol="0" anchor="ctr"/>
          <a:lstStyle/>
          <a:p>
            <a:pPr algn="ctr" indent="0" marL="0">
              <a:lnSpc>
                <a:spcPct val="110000"/>
              </a:lnSpc>
              <a:buNone/>
            </a:pPr>
            <a:r>
              <a:rPr lang="en-US" sz="1200" b="1" dirty="0">
                <a:solidFill>
                  <a:srgbClr val="FFFFFF"/>
                </a:solidFill>
                <a:latin typeface="Calibri" pitchFamily="34" charset="0"/>
                <a:ea typeface="Calibri" pitchFamily="34" charset="-122"/>
                <a:cs typeface="Calibri" pitchFamily="34" charset="-120"/>
              </a:rPr>
              <a:t>"The sky</a:t>
            </a:r>
            <a:endParaRPr lang="en-US" sz="1200" dirty="0"/>
          </a:p>
          <a:p>
            <a:pPr algn="ctr" indent="0" marL="0">
              <a:lnSpc>
                <a:spcPct val="110000"/>
              </a:lnSpc>
              <a:buNone/>
            </a:pPr>
            <a:r>
              <a:rPr lang="en-US" sz="1200" b="1" dirty="0">
                <a:solidFill>
                  <a:srgbClr val="FFFFFF"/>
                </a:solidFill>
                <a:latin typeface="Calibri" pitchFamily="34" charset="0"/>
                <a:ea typeface="Calibri" pitchFamily="34" charset="-122"/>
                <a:cs typeface="Calibri" pitchFamily="34" charset="-120"/>
              </a:rPr>
              <a:t>is blue"</a:t>
            </a:r>
            <a:endParaRPr lang="en-US" sz="1200" dirty="0"/>
          </a:p>
        </p:txBody>
      </p:sp>
      <p:sp>
        <p:nvSpPr>
          <p:cNvPr id="10" name="Shape 8"/>
          <p:cNvSpPr/>
          <p:nvPr/>
        </p:nvSpPr>
        <p:spPr>
          <a:xfrm flipV="1">
            <a:off x="5843016" y="3200400"/>
            <a:ext cx="502920" cy="914"/>
          </a:xfrm>
          <a:prstGeom prst="line">
            <a:avLst/>
          </a:prstGeom>
          <a:noFill/>
          <a:ln w="28575">
            <a:solidFill>
              <a:srgbClr val="1C7293"/>
            </a:solidFill>
            <a:prstDash val="solid"/>
            <a:tailEnd type="triangle"/>
          </a:ln>
        </p:spPr>
      </p:sp>
      <p:sp>
        <p:nvSpPr>
          <p:cNvPr id="11" name="Shape 9"/>
          <p:cNvSpPr/>
          <p:nvPr/>
        </p:nvSpPr>
        <p:spPr>
          <a:xfrm>
            <a:off x="6345936" y="2697480"/>
            <a:ext cx="2148840" cy="1005840"/>
          </a:xfrm>
          <a:prstGeom prst="roundRect">
            <a:avLst>
              <a:gd name="adj" fmla="val 7273"/>
            </a:avLst>
          </a:prstGeom>
          <a:solidFill>
            <a:srgbClr val="306998"/>
          </a:solidFill>
          <a:ln/>
        </p:spPr>
      </p:sp>
      <p:sp>
        <p:nvSpPr>
          <p:cNvPr id="12" name="Text 10"/>
          <p:cNvSpPr/>
          <p:nvPr/>
        </p:nvSpPr>
        <p:spPr>
          <a:xfrm>
            <a:off x="6437376" y="2697480"/>
            <a:ext cx="1965960" cy="1005840"/>
          </a:xfrm>
          <a:prstGeom prst="rect">
            <a:avLst/>
          </a:prstGeom>
          <a:noFill/>
          <a:ln/>
        </p:spPr>
        <p:txBody>
          <a:bodyPr wrap="square" lIns="0" tIns="0" rIns="0" bIns="0" rtlCol="0" anchor="ctr"/>
          <a:lstStyle/>
          <a:p>
            <a:pPr algn="ctr" indent="0" marL="0">
              <a:lnSpc>
                <a:spcPct val="110000"/>
              </a:lnSpc>
              <a:buNone/>
            </a:pPr>
            <a:r>
              <a:rPr lang="en-US" sz="1200" b="1" dirty="0">
                <a:solidFill>
                  <a:srgbClr val="FFFFFF"/>
                </a:solidFill>
                <a:latin typeface="Calibri" pitchFamily="34" charset="0"/>
                <a:ea typeface="Calibri" pitchFamily="34" charset="-122"/>
                <a:cs typeface="Calibri" pitchFamily="34" charset="-120"/>
              </a:rPr>
              <a:t>"The sky is</a:t>
            </a:r>
            <a:endParaRPr lang="en-US" sz="1200" dirty="0"/>
          </a:p>
          <a:p>
            <a:pPr algn="ctr" indent="0" marL="0">
              <a:lnSpc>
                <a:spcPct val="110000"/>
              </a:lnSpc>
              <a:buNone/>
            </a:pPr>
            <a:r>
              <a:rPr lang="en-US" sz="1200" b="1" dirty="0">
                <a:solidFill>
                  <a:srgbClr val="FFFFFF"/>
                </a:solidFill>
                <a:latin typeface="Calibri" pitchFamily="34" charset="0"/>
                <a:ea typeface="Calibri" pitchFamily="34" charset="-122"/>
                <a:cs typeface="Calibri" pitchFamily="34" charset="-120"/>
              </a:rPr>
              <a:t>blue and"</a:t>
            </a:r>
            <a:endParaRPr lang="en-US" sz="1200" dirty="0"/>
          </a:p>
        </p:txBody>
      </p:sp>
      <p:sp>
        <p:nvSpPr>
          <p:cNvPr id="13" name="Shape 11"/>
          <p:cNvSpPr/>
          <p:nvPr/>
        </p:nvSpPr>
        <p:spPr>
          <a:xfrm flipV="1">
            <a:off x="8494776" y="3200400"/>
            <a:ext cx="502920" cy="914"/>
          </a:xfrm>
          <a:prstGeom prst="line">
            <a:avLst/>
          </a:prstGeom>
          <a:noFill/>
          <a:ln w="28575">
            <a:solidFill>
              <a:srgbClr val="1C7293"/>
            </a:solidFill>
            <a:prstDash val="solid"/>
            <a:tailEnd type="triangle"/>
          </a:ln>
        </p:spPr>
      </p:sp>
      <p:sp>
        <p:nvSpPr>
          <p:cNvPr id="14" name="Shape 12"/>
          <p:cNvSpPr/>
          <p:nvPr/>
        </p:nvSpPr>
        <p:spPr>
          <a:xfrm>
            <a:off x="8997696" y="2697480"/>
            <a:ext cx="2148840" cy="1005840"/>
          </a:xfrm>
          <a:prstGeom prst="roundRect">
            <a:avLst>
              <a:gd name="adj" fmla="val 7273"/>
            </a:avLst>
          </a:prstGeom>
          <a:solidFill>
            <a:srgbClr val="3E8E5A"/>
          </a:solidFill>
          <a:ln/>
        </p:spPr>
      </p:sp>
      <p:sp>
        <p:nvSpPr>
          <p:cNvPr id="15" name="Text 13"/>
          <p:cNvSpPr/>
          <p:nvPr/>
        </p:nvSpPr>
        <p:spPr>
          <a:xfrm>
            <a:off x="9089136" y="2697480"/>
            <a:ext cx="1965960" cy="1005840"/>
          </a:xfrm>
          <a:prstGeom prst="rect">
            <a:avLst/>
          </a:prstGeom>
          <a:noFill/>
          <a:ln/>
        </p:spPr>
        <p:txBody>
          <a:bodyPr wrap="square" lIns="0" tIns="0" rIns="0" bIns="0" rtlCol="0" anchor="ctr"/>
          <a:lstStyle/>
          <a:p>
            <a:pPr algn="ctr" indent="0" marL="0">
              <a:lnSpc>
                <a:spcPct val="110000"/>
              </a:lnSpc>
              <a:buNone/>
            </a:pPr>
            <a:r>
              <a:rPr lang="en-US" sz="1200" b="1" dirty="0">
                <a:solidFill>
                  <a:srgbClr val="FFFFFF"/>
                </a:solidFill>
                <a:latin typeface="Calibri" pitchFamily="34" charset="0"/>
                <a:ea typeface="Calibri" pitchFamily="34" charset="-122"/>
                <a:cs typeface="Calibri" pitchFamily="34" charset="-120"/>
              </a:rPr>
              <a:t>"The sky is blue</a:t>
            </a:r>
            <a:endParaRPr lang="en-US" sz="1200" dirty="0"/>
          </a:p>
          <a:p>
            <a:pPr algn="ctr" indent="0" marL="0">
              <a:lnSpc>
                <a:spcPct val="110000"/>
              </a:lnSpc>
              <a:buNone/>
            </a:pPr>
            <a:r>
              <a:rPr lang="en-US" sz="1200" b="1" dirty="0">
                <a:solidFill>
                  <a:srgbClr val="FFFFFF"/>
                </a:solidFill>
                <a:latin typeface="Calibri" pitchFamily="34" charset="0"/>
                <a:ea typeface="Calibri" pitchFamily="34" charset="-122"/>
                <a:cs typeface="Calibri" pitchFamily="34" charset="-120"/>
              </a:rPr>
              <a:t>and clear."</a:t>
            </a:r>
            <a:endParaRPr lang="en-US" sz="1200" dirty="0"/>
          </a:p>
        </p:txBody>
      </p:sp>
      <p:sp>
        <p:nvSpPr>
          <p:cNvPr id="16" name="Text 14"/>
          <p:cNvSpPr/>
          <p:nvPr/>
        </p:nvSpPr>
        <p:spPr>
          <a:xfrm>
            <a:off x="548640" y="2240280"/>
            <a:ext cx="11064240" cy="320040"/>
          </a:xfrm>
          <a:prstGeom prst="rect">
            <a:avLst/>
          </a:prstGeom>
          <a:noFill/>
          <a:ln/>
        </p:spPr>
        <p:txBody>
          <a:bodyPr wrap="square" lIns="0" tIns="0" rIns="0" bIns="0" rtlCol="0" anchor="ctr"/>
          <a:lstStyle/>
          <a:p>
            <a:pPr algn="ctr" indent="0" marL="0">
              <a:buNone/>
            </a:pPr>
            <a:r>
              <a:rPr lang="en-US" sz="1100" i="1" dirty="0">
                <a:solidFill>
                  <a:srgbClr val="1C7293"/>
                </a:solidFill>
                <a:latin typeface="Calibri" pitchFamily="34" charset="0"/>
                <a:ea typeface="Calibri" pitchFamily="34" charset="-122"/>
                <a:cs typeface="Calibri" pitchFamily="34" charset="-120"/>
              </a:rPr>
              <a:t>each new word gets appended, and the WHOLE updated text is fed back in to predict the next one</a:t>
            </a:r>
            <a:endParaRPr lang="en-US" sz="1100" dirty="0"/>
          </a:p>
        </p:txBody>
      </p:sp>
      <p:sp>
        <p:nvSpPr>
          <p:cNvPr id="17" name="Shape 15"/>
          <p:cNvSpPr/>
          <p:nvPr/>
        </p:nvSpPr>
        <p:spPr>
          <a:xfrm>
            <a:off x="548640" y="4572000"/>
            <a:ext cx="11064240" cy="1051560"/>
          </a:xfrm>
          <a:prstGeom prst="roundRect">
            <a:avLst>
              <a:gd name="adj" fmla="val 6957"/>
            </a:avLst>
          </a:prstGeom>
          <a:solidFill>
            <a:srgbClr val="FDF1E8"/>
          </a:solidFill>
          <a:ln/>
        </p:spPr>
      </p:sp>
      <p:sp>
        <p:nvSpPr>
          <p:cNvPr id="18" name="Text 16"/>
          <p:cNvSpPr/>
          <p:nvPr/>
        </p:nvSpPr>
        <p:spPr>
          <a:xfrm>
            <a:off x="868680" y="4572000"/>
            <a:ext cx="10424160" cy="1051560"/>
          </a:xfrm>
          <a:prstGeom prst="rect">
            <a:avLst/>
          </a:prstGeom>
          <a:noFill/>
          <a:ln/>
        </p:spPr>
        <p:txBody>
          <a:bodyPr wrap="square" lIns="0" tIns="0" rIns="0" bIns="0" rtlCol="0" anchor="ctr"/>
          <a:lstStyle/>
          <a:p>
            <a:pPr indent="0" marL="0">
              <a:lnSpc>
                <a:spcPct val="128000"/>
              </a:lnSpc>
              <a:buNone/>
            </a:pPr>
            <a:r>
              <a:rPr lang="en-US" sz="1400" b="1" dirty="0">
                <a:solidFill>
                  <a:srgbClr val="C24B4B"/>
                </a:solidFill>
                <a:latin typeface="Calibri" pitchFamily="34" charset="0"/>
                <a:ea typeface="Calibri" pitchFamily="34" charset="-122"/>
                <a:cs typeface="Calibri" pitchFamily="34" charset="-120"/>
              </a:rPr>
              <a:t>This is called autoregressive generation.  </a:t>
            </a:r>
            <a:pPr indent="0" marL="0">
              <a:lnSpc>
                <a:spcPct val="128000"/>
              </a:lnSpc>
              <a:buNone/>
            </a:pPr>
            <a:r>
              <a:rPr lang="en-US" sz="1300" dirty="0">
                <a:solidFill>
                  <a:srgbClr val="23282E"/>
                </a:solidFill>
                <a:latin typeface="Calibri" pitchFamily="34" charset="0"/>
                <a:ea typeface="Calibri" pitchFamily="34" charset="-122"/>
                <a:cs typeface="Calibri" pitchFamily="34" charset="-120"/>
              </a:rPr>
              <a:t>It's the same core loop idea as the RNNs from our last session — carry the sequence forward, one step at a time — just powered underneath by a Transformer instead.</a:t>
            </a:r>
            <a:endParaRPr lang="en-US" sz="1400" dirty="0"/>
          </a:p>
        </p:txBody>
      </p:sp>
      <p:sp>
        <p:nvSpPr>
          <p:cNvPr id="19" name="Text 17"/>
          <p:cNvSpPr/>
          <p:nvPr/>
        </p:nvSpPr>
        <p:spPr>
          <a:xfrm>
            <a:off x="548640" y="5806440"/>
            <a:ext cx="11064240" cy="365760"/>
          </a:xfrm>
          <a:prstGeom prst="rect">
            <a:avLst/>
          </a:prstGeom>
          <a:noFill/>
          <a:ln/>
        </p:spPr>
        <p:txBody>
          <a:bodyPr wrap="square" lIns="0" tIns="0" rIns="0" bIns="0" rtlCol="0" anchor="ctr"/>
          <a:lstStyle/>
          <a:p>
            <a:pPr algn="ctr" indent="0" marL="0">
              <a:buNone/>
            </a:pPr>
            <a:r>
              <a:rPr lang="en-US" sz="1150" i="1" dirty="0">
                <a:solidFill>
                  <a:srgbClr val="6B7280"/>
                </a:solidFill>
                <a:latin typeface="Calibri" pitchFamily="34" charset="0"/>
                <a:ea typeface="Calibri" pitchFamily="34" charset="-122"/>
                <a:cs typeface="Calibri" pitchFamily="34" charset="-120"/>
              </a:rPr>
              <a:t>Generation stops when the model predicts a special "end of message" token, or hits a length limit.</a:t>
            </a:r>
            <a:endParaRPr lang="en-US" sz="1150" dirty="0"/>
          </a:p>
        </p:txBody>
      </p:sp>
      <p:sp>
        <p:nvSpPr>
          <p:cNvPr id="20" name="Text 18"/>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21" name="Text 19"/>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5 · A CONTROLLABLE DIAL</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Sampling &amp; Temperature</a:t>
            </a:r>
            <a:endParaRPr lang="en-US" sz="2700" dirty="0"/>
          </a:p>
        </p:txBody>
      </p:sp>
      <p:sp>
        <p:nvSpPr>
          <p:cNvPr id="4" name="Text 2"/>
          <p:cNvSpPr/>
          <p:nvPr/>
        </p:nvSpPr>
        <p:spPr>
          <a:xfrm>
            <a:off x="548640" y="1536192"/>
            <a:ext cx="11064240" cy="548640"/>
          </a:xfrm>
          <a:prstGeom prst="rect">
            <a:avLst/>
          </a:prstGeom>
          <a:noFill/>
          <a:ln/>
        </p:spPr>
        <p:txBody>
          <a:bodyPr wrap="square" lIns="0" tIns="0" rIns="0" bIns="0" rtlCol="0" anchor="ctr"/>
          <a:lstStyle/>
          <a:p>
            <a:pPr indent="0" marL="0">
              <a:lnSpc>
                <a:spcPct val="125000"/>
              </a:lnSpc>
              <a:buNone/>
            </a:pPr>
            <a:r>
              <a:rPr lang="en-US" sz="1300" i="1" dirty="0">
                <a:solidFill>
                  <a:srgbClr val="6B7280"/>
                </a:solidFill>
                <a:latin typeface="Calibri" pitchFamily="34" charset="0"/>
                <a:ea typeface="Calibri" pitchFamily="34" charset="-122"/>
                <a:cs typeface="Calibri" pitchFamily="34" charset="-120"/>
              </a:rPr>
              <a:t>The model outputs PROBABILITIES for every possible next word. "Temperature" controls how the model turns those probabilities into an actual choice.</a:t>
            </a:r>
            <a:endParaRPr lang="en-US" sz="1300" dirty="0"/>
          </a:p>
        </p:txBody>
      </p:sp>
      <p:sp>
        <p:nvSpPr>
          <p:cNvPr id="5" name="Text 3"/>
          <p:cNvSpPr/>
          <p:nvPr/>
        </p:nvSpPr>
        <p:spPr>
          <a:xfrm>
            <a:off x="548640" y="2240280"/>
            <a:ext cx="5394960" cy="365760"/>
          </a:xfrm>
          <a:prstGeom prst="rect">
            <a:avLst/>
          </a:prstGeom>
          <a:noFill/>
          <a:ln/>
        </p:spPr>
        <p:txBody>
          <a:bodyPr wrap="square" lIns="0" tIns="0" rIns="0" bIns="0" rtlCol="0" anchor="ctr"/>
          <a:lstStyle/>
          <a:p>
            <a:pPr algn="ctr" indent="0" marL="0">
              <a:buNone/>
            </a:pPr>
            <a:r>
              <a:rPr lang="en-US" sz="1400" b="1" dirty="0">
                <a:solidFill>
                  <a:srgbClr val="306998"/>
                </a:solidFill>
                <a:latin typeface="Cambria" pitchFamily="34" charset="0"/>
                <a:ea typeface="Cambria" pitchFamily="34" charset="-122"/>
                <a:cs typeface="Cambria" pitchFamily="34" charset="-120"/>
              </a:rPr>
              <a:t>Low Temperature — Focused &amp; Predictable</a:t>
            </a:r>
            <a:endParaRPr lang="en-US" sz="1400" dirty="0"/>
          </a:p>
        </p:txBody>
      </p:sp>
      <p:sp>
        <p:nvSpPr>
          <p:cNvPr id="6" name="Shape 4"/>
          <p:cNvSpPr/>
          <p:nvPr/>
        </p:nvSpPr>
        <p:spPr>
          <a:xfrm>
            <a:off x="1005840" y="2913278"/>
            <a:ext cx="969264" cy="1247242"/>
          </a:xfrm>
          <a:prstGeom prst="rect">
            <a:avLst/>
          </a:prstGeom>
          <a:solidFill>
            <a:srgbClr val="306998"/>
          </a:solidFill>
          <a:ln/>
        </p:spPr>
      </p:sp>
      <p:sp>
        <p:nvSpPr>
          <p:cNvPr id="7" name="Text 5"/>
          <p:cNvSpPr/>
          <p:nvPr/>
        </p:nvSpPr>
        <p:spPr>
          <a:xfrm>
            <a:off x="914400" y="2620670"/>
            <a:ext cx="1152144"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88%</a:t>
            </a:r>
            <a:endParaRPr lang="en-US" sz="1150" dirty="0"/>
          </a:p>
        </p:txBody>
      </p:sp>
      <p:sp>
        <p:nvSpPr>
          <p:cNvPr id="8" name="Text 6"/>
          <p:cNvSpPr/>
          <p:nvPr/>
        </p:nvSpPr>
        <p:spPr>
          <a:xfrm>
            <a:off x="868680" y="4233672"/>
            <a:ext cx="1243584" cy="365760"/>
          </a:xfrm>
          <a:prstGeom prst="rect">
            <a:avLst/>
          </a:prstGeom>
          <a:noFill/>
          <a:ln/>
        </p:spPr>
        <p:txBody>
          <a:bodyPr wrap="square" lIns="0" tIns="0" rIns="0" bIns="0" rtlCol="0" anchor="ctr"/>
          <a:lstStyle/>
          <a:p>
            <a:pPr algn="ctr" indent="0" marL="0">
              <a:lnSpc>
                <a:spcPct val="110000"/>
              </a:lnSpc>
              <a:buNone/>
            </a:pPr>
            <a:r>
              <a:rPr lang="en-US" sz="1050" dirty="0">
                <a:solidFill>
                  <a:srgbClr val="6B7280"/>
                </a:solidFill>
                <a:latin typeface="Calibri" pitchFamily="34" charset="0"/>
                <a:ea typeface="Calibri" pitchFamily="34" charset="-122"/>
                <a:cs typeface="Calibri" pitchFamily="34" charset="-120"/>
              </a:rPr>
              <a:t>mat</a:t>
            </a:r>
            <a:endParaRPr lang="en-US" sz="1050" dirty="0"/>
          </a:p>
        </p:txBody>
      </p:sp>
      <p:sp>
        <p:nvSpPr>
          <p:cNvPr id="9" name="Shape 7"/>
          <p:cNvSpPr/>
          <p:nvPr/>
        </p:nvSpPr>
        <p:spPr>
          <a:xfrm>
            <a:off x="2176272" y="4047134"/>
            <a:ext cx="969264" cy="113386"/>
          </a:xfrm>
          <a:prstGeom prst="rect">
            <a:avLst/>
          </a:prstGeom>
          <a:solidFill>
            <a:srgbClr val="306998"/>
          </a:solidFill>
          <a:ln/>
        </p:spPr>
      </p:sp>
      <p:sp>
        <p:nvSpPr>
          <p:cNvPr id="10" name="Text 8"/>
          <p:cNvSpPr/>
          <p:nvPr/>
        </p:nvSpPr>
        <p:spPr>
          <a:xfrm>
            <a:off x="2084832" y="3754526"/>
            <a:ext cx="1152144"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8%</a:t>
            </a:r>
            <a:endParaRPr lang="en-US" sz="1150" dirty="0"/>
          </a:p>
        </p:txBody>
      </p:sp>
      <p:sp>
        <p:nvSpPr>
          <p:cNvPr id="11" name="Text 9"/>
          <p:cNvSpPr/>
          <p:nvPr/>
        </p:nvSpPr>
        <p:spPr>
          <a:xfrm>
            <a:off x="2039112" y="4233672"/>
            <a:ext cx="1243584" cy="365760"/>
          </a:xfrm>
          <a:prstGeom prst="rect">
            <a:avLst/>
          </a:prstGeom>
          <a:noFill/>
          <a:ln/>
        </p:spPr>
        <p:txBody>
          <a:bodyPr wrap="square" lIns="0" tIns="0" rIns="0" bIns="0" rtlCol="0" anchor="ctr"/>
          <a:lstStyle/>
          <a:p>
            <a:pPr algn="ctr" indent="0" marL="0">
              <a:lnSpc>
                <a:spcPct val="110000"/>
              </a:lnSpc>
              <a:buNone/>
            </a:pPr>
            <a:r>
              <a:rPr lang="en-US" sz="1050" dirty="0">
                <a:solidFill>
                  <a:srgbClr val="6B7280"/>
                </a:solidFill>
                <a:latin typeface="Calibri" pitchFamily="34" charset="0"/>
                <a:ea typeface="Calibri" pitchFamily="34" charset="-122"/>
                <a:cs typeface="Calibri" pitchFamily="34" charset="-120"/>
              </a:rPr>
              <a:t>chair</a:t>
            </a:r>
            <a:endParaRPr lang="en-US" sz="1050" dirty="0"/>
          </a:p>
        </p:txBody>
      </p:sp>
      <p:sp>
        <p:nvSpPr>
          <p:cNvPr id="12" name="Shape 10"/>
          <p:cNvSpPr/>
          <p:nvPr/>
        </p:nvSpPr>
        <p:spPr>
          <a:xfrm>
            <a:off x="3346704" y="4105656"/>
            <a:ext cx="969264" cy="54864"/>
          </a:xfrm>
          <a:prstGeom prst="rect">
            <a:avLst/>
          </a:prstGeom>
          <a:solidFill>
            <a:srgbClr val="306998"/>
          </a:solidFill>
          <a:ln/>
        </p:spPr>
      </p:sp>
      <p:sp>
        <p:nvSpPr>
          <p:cNvPr id="13" name="Text 11"/>
          <p:cNvSpPr/>
          <p:nvPr/>
        </p:nvSpPr>
        <p:spPr>
          <a:xfrm>
            <a:off x="3255264" y="3813048"/>
            <a:ext cx="1152144"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3209544" y="4233672"/>
            <a:ext cx="1243584" cy="365760"/>
          </a:xfrm>
          <a:prstGeom prst="rect">
            <a:avLst/>
          </a:prstGeom>
          <a:noFill/>
          <a:ln/>
        </p:spPr>
        <p:txBody>
          <a:bodyPr wrap="square" lIns="0" tIns="0" rIns="0" bIns="0" rtlCol="0" anchor="ctr"/>
          <a:lstStyle/>
          <a:p>
            <a:pPr algn="ctr" indent="0" marL="0">
              <a:lnSpc>
                <a:spcPct val="110000"/>
              </a:lnSpc>
              <a:buNone/>
            </a:pPr>
            <a:r>
              <a:rPr lang="en-US" sz="1050" dirty="0">
                <a:solidFill>
                  <a:srgbClr val="6B7280"/>
                </a:solidFill>
                <a:latin typeface="Calibri" pitchFamily="34" charset="0"/>
                <a:ea typeface="Calibri" pitchFamily="34" charset="-122"/>
                <a:cs typeface="Calibri" pitchFamily="34" charset="-120"/>
              </a:rPr>
              <a:t>roof</a:t>
            </a:r>
            <a:endParaRPr lang="en-US" sz="1050" dirty="0"/>
          </a:p>
        </p:txBody>
      </p:sp>
      <p:sp>
        <p:nvSpPr>
          <p:cNvPr id="15" name="Shape 13"/>
          <p:cNvSpPr/>
          <p:nvPr/>
        </p:nvSpPr>
        <p:spPr>
          <a:xfrm>
            <a:off x="4517136" y="4105656"/>
            <a:ext cx="969264" cy="54864"/>
          </a:xfrm>
          <a:prstGeom prst="rect">
            <a:avLst/>
          </a:prstGeom>
          <a:solidFill>
            <a:srgbClr val="306998"/>
          </a:solidFill>
          <a:ln/>
        </p:spPr>
      </p:sp>
      <p:sp>
        <p:nvSpPr>
          <p:cNvPr id="16" name="Text 14"/>
          <p:cNvSpPr/>
          <p:nvPr/>
        </p:nvSpPr>
        <p:spPr>
          <a:xfrm>
            <a:off x="4425696" y="3813048"/>
            <a:ext cx="1152144"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1%</a:t>
            </a:r>
            <a:endParaRPr lang="en-US" sz="1150" dirty="0"/>
          </a:p>
        </p:txBody>
      </p:sp>
      <p:sp>
        <p:nvSpPr>
          <p:cNvPr id="17" name="Text 15"/>
          <p:cNvSpPr/>
          <p:nvPr/>
        </p:nvSpPr>
        <p:spPr>
          <a:xfrm>
            <a:off x="4379976" y="4233672"/>
            <a:ext cx="1243584" cy="365760"/>
          </a:xfrm>
          <a:prstGeom prst="rect">
            <a:avLst/>
          </a:prstGeom>
          <a:noFill/>
          <a:ln/>
        </p:spPr>
        <p:txBody>
          <a:bodyPr wrap="square" lIns="0" tIns="0" rIns="0" bIns="0" rtlCol="0" anchor="ctr"/>
          <a:lstStyle/>
          <a:p>
            <a:pPr algn="ctr" indent="0" marL="0">
              <a:lnSpc>
                <a:spcPct val="110000"/>
              </a:lnSpc>
              <a:buNone/>
            </a:pPr>
            <a:r>
              <a:rPr lang="en-US" sz="1050" dirty="0">
                <a:solidFill>
                  <a:srgbClr val="6B7280"/>
                </a:solidFill>
                <a:latin typeface="Calibri" pitchFamily="34" charset="0"/>
                <a:ea typeface="Calibri" pitchFamily="34" charset="-122"/>
                <a:cs typeface="Calibri" pitchFamily="34" charset="-120"/>
              </a:rPr>
              <a:t>moon</a:t>
            </a:r>
            <a:endParaRPr lang="en-US" sz="1050" dirty="0"/>
          </a:p>
        </p:txBody>
      </p:sp>
      <p:sp>
        <p:nvSpPr>
          <p:cNvPr id="18" name="Text 16"/>
          <p:cNvSpPr/>
          <p:nvPr/>
        </p:nvSpPr>
        <p:spPr>
          <a:xfrm>
            <a:off x="6217920" y="2240280"/>
            <a:ext cx="5394960" cy="365760"/>
          </a:xfrm>
          <a:prstGeom prst="rect">
            <a:avLst/>
          </a:prstGeom>
          <a:noFill/>
          <a:ln/>
        </p:spPr>
        <p:txBody>
          <a:bodyPr wrap="square" lIns="0" tIns="0" rIns="0" bIns="0" rtlCol="0" anchor="ctr"/>
          <a:lstStyle/>
          <a:p>
            <a:pPr algn="ctr" indent="0" marL="0">
              <a:buNone/>
            </a:pPr>
            <a:r>
              <a:rPr lang="en-US" sz="1400" b="1" dirty="0">
                <a:solidFill>
                  <a:srgbClr val="C97A3D"/>
                </a:solidFill>
                <a:latin typeface="Cambria" pitchFamily="34" charset="0"/>
                <a:ea typeface="Cambria" pitchFamily="34" charset="-122"/>
                <a:cs typeface="Cambria" pitchFamily="34" charset="-120"/>
              </a:rPr>
              <a:t>High Temperature — Creative &amp; Varied</a:t>
            </a:r>
            <a:endParaRPr lang="en-US" sz="1400" dirty="0"/>
          </a:p>
        </p:txBody>
      </p:sp>
      <p:sp>
        <p:nvSpPr>
          <p:cNvPr id="19" name="Shape 17"/>
          <p:cNvSpPr/>
          <p:nvPr/>
        </p:nvSpPr>
        <p:spPr>
          <a:xfrm>
            <a:off x="6675120" y="3664458"/>
            <a:ext cx="969264" cy="496062"/>
          </a:xfrm>
          <a:prstGeom prst="rect">
            <a:avLst/>
          </a:prstGeom>
          <a:solidFill>
            <a:srgbClr val="C97A3D"/>
          </a:solidFill>
          <a:ln/>
        </p:spPr>
      </p:sp>
      <p:sp>
        <p:nvSpPr>
          <p:cNvPr id="20" name="Text 18"/>
          <p:cNvSpPr/>
          <p:nvPr/>
        </p:nvSpPr>
        <p:spPr>
          <a:xfrm>
            <a:off x="6583680" y="3371850"/>
            <a:ext cx="1152144"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35%</a:t>
            </a:r>
            <a:endParaRPr lang="en-US" sz="1150" dirty="0"/>
          </a:p>
        </p:txBody>
      </p:sp>
      <p:sp>
        <p:nvSpPr>
          <p:cNvPr id="21" name="Text 19"/>
          <p:cNvSpPr/>
          <p:nvPr/>
        </p:nvSpPr>
        <p:spPr>
          <a:xfrm>
            <a:off x="6537960" y="4233672"/>
            <a:ext cx="1243584" cy="365760"/>
          </a:xfrm>
          <a:prstGeom prst="rect">
            <a:avLst/>
          </a:prstGeom>
          <a:noFill/>
          <a:ln/>
        </p:spPr>
        <p:txBody>
          <a:bodyPr wrap="square" lIns="0" tIns="0" rIns="0" bIns="0" rtlCol="0" anchor="ctr"/>
          <a:lstStyle/>
          <a:p>
            <a:pPr algn="ctr" indent="0" marL="0">
              <a:lnSpc>
                <a:spcPct val="110000"/>
              </a:lnSpc>
              <a:buNone/>
            </a:pPr>
            <a:r>
              <a:rPr lang="en-US" sz="1050" dirty="0">
                <a:solidFill>
                  <a:srgbClr val="6B7280"/>
                </a:solidFill>
                <a:latin typeface="Calibri" pitchFamily="34" charset="0"/>
                <a:ea typeface="Calibri" pitchFamily="34" charset="-122"/>
                <a:cs typeface="Calibri" pitchFamily="34" charset="-120"/>
              </a:rPr>
              <a:t>mat</a:t>
            </a:r>
            <a:endParaRPr lang="en-US" sz="1050" dirty="0"/>
          </a:p>
        </p:txBody>
      </p:sp>
      <p:sp>
        <p:nvSpPr>
          <p:cNvPr id="22" name="Shape 20"/>
          <p:cNvSpPr/>
          <p:nvPr/>
        </p:nvSpPr>
        <p:spPr>
          <a:xfrm>
            <a:off x="7845552" y="3763670"/>
            <a:ext cx="969264" cy="396850"/>
          </a:xfrm>
          <a:prstGeom prst="rect">
            <a:avLst/>
          </a:prstGeom>
          <a:solidFill>
            <a:srgbClr val="C97A3D"/>
          </a:solidFill>
          <a:ln/>
        </p:spPr>
      </p:sp>
      <p:sp>
        <p:nvSpPr>
          <p:cNvPr id="23" name="Text 21"/>
          <p:cNvSpPr/>
          <p:nvPr/>
        </p:nvSpPr>
        <p:spPr>
          <a:xfrm>
            <a:off x="7754112" y="3471062"/>
            <a:ext cx="1152144"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28%</a:t>
            </a:r>
            <a:endParaRPr lang="en-US" sz="1150" dirty="0"/>
          </a:p>
        </p:txBody>
      </p:sp>
      <p:sp>
        <p:nvSpPr>
          <p:cNvPr id="24" name="Text 22"/>
          <p:cNvSpPr/>
          <p:nvPr/>
        </p:nvSpPr>
        <p:spPr>
          <a:xfrm>
            <a:off x="7708392" y="4233672"/>
            <a:ext cx="1243584" cy="365760"/>
          </a:xfrm>
          <a:prstGeom prst="rect">
            <a:avLst/>
          </a:prstGeom>
          <a:noFill/>
          <a:ln/>
        </p:spPr>
        <p:txBody>
          <a:bodyPr wrap="square" lIns="0" tIns="0" rIns="0" bIns="0" rtlCol="0" anchor="ctr"/>
          <a:lstStyle/>
          <a:p>
            <a:pPr algn="ctr" indent="0" marL="0">
              <a:lnSpc>
                <a:spcPct val="110000"/>
              </a:lnSpc>
              <a:buNone/>
            </a:pPr>
            <a:r>
              <a:rPr lang="en-US" sz="1050" dirty="0">
                <a:solidFill>
                  <a:srgbClr val="6B7280"/>
                </a:solidFill>
                <a:latin typeface="Calibri" pitchFamily="34" charset="0"/>
                <a:ea typeface="Calibri" pitchFamily="34" charset="-122"/>
                <a:cs typeface="Calibri" pitchFamily="34" charset="-120"/>
              </a:rPr>
              <a:t>chair</a:t>
            </a:r>
            <a:endParaRPr lang="en-US" sz="1050" dirty="0"/>
          </a:p>
        </p:txBody>
      </p:sp>
      <p:sp>
        <p:nvSpPr>
          <p:cNvPr id="25" name="Shape 23"/>
          <p:cNvSpPr/>
          <p:nvPr/>
        </p:nvSpPr>
        <p:spPr>
          <a:xfrm>
            <a:off x="9015984" y="3848710"/>
            <a:ext cx="969264" cy="311810"/>
          </a:xfrm>
          <a:prstGeom prst="rect">
            <a:avLst/>
          </a:prstGeom>
          <a:solidFill>
            <a:srgbClr val="C97A3D"/>
          </a:solidFill>
          <a:ln/>
        </p:spPr>
      </p:sp>
      <p:sp>
        <p:nvSpPr>
          <p:cNvPr id="26" name="Text 24"/>
          <p:cNvSpPr/>
          <p:nvPr/>
        </p:nvSpPr>
        <p:spPr>
          <a:xfrm>
            <a:off x="8924544" y="3556102"/>
            <a:ext cx="1152144"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22%</a:t>
            </a:r>
            <a:endParaRPr lang="en-US" sz="1150" dirty="0"/>
          </a:p>
        </p:txBody>
      </p:sp>
      <p:sp>
        <p:nvSpPr>
          <p:cNvPr id="27" name="Text 25"/>
          <p:cNvSpPr/>
          <p:nvPr/>
        </p:nvSpPr>
        <p:spPr>
          <a:xfrm>
            <a:off x="8878824" y="4233672"/>
            <a:ext cx="1243584" cy="365760"/>
          </a:xfrm>
          <a:prstGeom prst="rect">
            <a:avLst/>
          </a:prstGeom>
          <a:noFill/>
          <a:ln/>
        </p:spPr>
        <p:txBody>
          <a:bodyPr wrap="square" lIns="0" tIns="0" rIns="0" bIns="0" rtlCol="0" anchor="ctr"/>
          <a:lstStyle/>
          <a:p>
            <a:pPr algn="ctr" indent="0" marL="0">
              <a:lnSpc>
                <a:spcPct val="110000"/>
              </a:lnSpc>
              <a:buNone/>
            </a:pPr>
            <a:r>
              <a:rPr lang="en-US" sz="1050" dirty="0">
                <a:solidFill>
                  <a:srgbClr val="6B7280"/>
                </a:solidFill>
                <a:latin typeface="Calibri" pitchFamily="34" charset="0"/>
                <a:ea typeface="Calibri" pitchFamily="34" charset="-122"/>
                <a:cs typeface="Calibri" pitchFamily="34" charset="-120"/>
              </a:rPr>
              <a:t>roof</a:t>
            </a:r>
            <a:endParaRPr lang="en-US" sz="1050" dirty="0"/>
          </a:p>
        </p:txBody>
      </p:sp>
      <p:sp>
        <p:nvSpPr>
          <p:cNvPr id="28" name="Shape 26"/>
          <p:cNvSpPr/>
          <p:nvPr/>
        </p:nvSpPr>
        <p:spPr>
          <a:xfrm>
            <a:off x="10186416" y="3947922"/>
            <a:ext cx="969264" cy="212598"/>
          </a:xfrm>
          <a:prstGeom prst="rect">
            <a:avLst/>
          </a:prstGeom>
          <a:solidFill>
            <a:srgbClr val="C97A3D"/>
          </a:solidFill>
          <a:ln/>
        </p:spPr>
      </p:sp>
      <p:sp>
        <p:nvSpPr>
          <p:cNvPr id="29" name="Text 27"/>
          <p:cNvSpPr/>
          <p:nvPr/>
        </p:nvSpPr>
        <p:spPr>
          <a:xfrm>
            <a:off x="10094976" y="3655314"/>
            <a:ext cx="1152144" cy="256032"/>
          </a:xfrm>
          <a:prstGeom prst="rect">
            <a:avLst/>
          </a:prstGeom>
          <a:noFill/>
          <a:ln/>
        </p:spPr>
        <p:txBody>
          <a:bodyPr wrap="square" lIns="0" tIns="0" rIns="0" bIns="0" rtlCol="0" anchor="ctr"/>
          <a:lstStyle/>
          <a:p>
            <a:pPr algn="ctr" indent="0" marL="0">
              <a:buNone/>
            </a:pPr>
            <a:r>
              <a:rPr lang="en-US" sz="1150" b="1" dirty="0">
                <a:solidFill>
                  <a:srgbClr val="23282E"/>
                </a:solidFill>
                <a:latin typeface="Calibri" pitchFamily="34" charset="0"/>
                <a:ea typeface="Calibri" pitchFamily="34" charset="-122"/>
                <a:cs typeface="Calibri" pitchFamily="34" charset="-120"/>
              </a:rPr>
              <a:t>15%</a:t>
            </a:r>
            <a:endParaRPr lang="en-US" sz="1150" dirty="0"/>
          </a:p>
        </p:txBody>
      </p:sp>
      <p:sp>
        <p:nvSpPr>
          <p:cNvPr id="30" name="Text 28"/>
          <p:cNvSpPr/>
          <p:nvPr/>
        </p:nvSpPr>
        <p:spPr>
          <a:xfrm>
            <a:off x="10049256" y="4233672"/>
            <a:ext cx="1243584" cy="365760"/>
          </a:xfrm>
          <a:prstGeom prst="rect">
            <a:avLst/>
          </a:prstGeom>
          <a:noFill/>
          <a:ln/>
        </p:spPr>
        <p:txBody>
          <a:bodyPr wrap="square" lIns="0" tIns="0" rIns="0" bIns="0" rtlCol="0" anchor="ctr"/>
          <a:lstStyle/>
          <a:p>
            <a:pPr algn="ctr" indent="0" marL="0">
              <a:lnSpc>
                <a:spcPct val="110000"/>
              </a:lnSpc>
              <a:buNone/>
            </a:pPr>
            <a:r>
              <a:rPr lang="en-US" sz="1050" dirty="0">
                <a:solidFill>
                  <a:srgbClr val="6B7280"/>
                </a:solidFill>
                <a:latin typeface="Calibri" pitchFamily="34" charset="0"/>
                <a:ea typeface="Calibri" pitchFamily="34" charset="-122"/>
                <a:cs typeface="Calibri" pitchFamily="34" charset="-120"/>
              </a:rPr>
              <a:t>moon</a:t>
            </a:r>
            <a:endParaRPr lang="en-US" sz="1050" dirty="0"/>
          </a:p>
        </p:txBody>
      </p:sp>
      <p:sp>
        <p:nvSpPr>
          <p:cNvPr id="31" name="Shape 29"/>
          <p:cNvSpPr/>
          <p:nvPr/>
        </p:nvSpPr>
        <p:spPr>
          <a:xfrm>
            <a:off x="548640" y="4709160"/>
            <a:ext cx="11064240" cy="1325880"/>
          </a:xfrm>
          <a:prstGeom prst="roundRect">
            <a:avLst>
              <a:gd name="adj" fmla="val 5517"/>
            </a:avLst>
          </a:prstGeom>
          <a:solidFill>
            <a:srgbClr val="F4F6F9"/>
          </a:solidFill>
          <a:ln/>
        </p:spPr>
      </p:sp>
      <p:sp>
        <p:nvSpPr>
          <p:cNvPr id="32" name="Text 30"/>
          <p:cNvSpPr/>
          <p:nvPr/>
        </p:nvSpPr>
        <p:spPr>
          <a:xfrm>
            <a:off x="868680" y="4709160"/>
            <a:ext cx="10424160" cy="1325880"/>
          </a:xfrm>
          <a:prstGeom prst="rect">
            <a:avLst/>
          </a:prstGeom>
          <a:noFill/>
          <a:ln/>
        </p:spPr>
        <p:txBody>
          <a:bodyPr wrap="square" lIns="0" tIns="0" rIns="0" bIns="0" rtlCol="0" anchor="ctr"/>
          <a:lstStyle/>
          <a:p>
            <a:pPr indent="0" marL="0">
              <a:lnSpc>
                <a:spcPct val="130000"/>
              </a:lnSpc>
              <a:buNone/>
            </a:pPr>
            <a:r>
              <a:rPr lang="en-US" sz="1300" b="1" dirty="0">
                <a:solidFill>
                  <a:srgbClr val="306998"/>
                </a:solidFill>
                <a:latin typeface="Calibri" pitchFamily="34" charset="0"/>
                <a:ea typeface="Calibri" pitchFamily="34" charset="-122"/>
                <a:cs typeface="Calibri" pitchFamily="34" charset="-120"/>
              </a:rPr>
              <a:t>Low temperature:  </a:t>
            </a:r>
            <a:pPr indent="0" marL="0">
              <a:lnSpc>
                <a:spcPct val="130000"/>
              </a:lnSpc>
              <a:buNone/>
            </a:pPr>
            <a:r>
              <a:rPr lang="en-US" sz="1250" dirty="0">
                <a:solidFill>
                  <a:srgbClr val="23282E"/>
                </a:solidFill>
                <a:latin typeface="Calibri" pitchFamily="34" charset="0"/>
                <a:ea typeface="Calibri" pitchFamily="34" charset="-122"/>
                <a:cs typeface="Calibri" pitchFamily="34" charset="-120"/>
              </a:rPr>
              <a:t>almost always picks the top choice — great for facts, code, and consistency.  </a:t>
            </a:r>
            <a:pPr indent="0" marL="0">
              <a:lnSpc>
                <a:spcPct val="130000"/>
              </a:lnSpc>
              <a:buNone/>
            </a:pPr>
            <a:r>
              <a:rPr lang="en-US" sz="1300" b="1" dirty="0">
                <a:solidFill>
                  <a:srgbClr val="C97A3D"/>
                </a:solidFill>
                <a:latin typeface="Calibri" pitchFamily="34" charset="0"/>
                <a:ea typeface="Calibri" pitchFamily="34" charset="-122"/>
                <a:cs typeface="Calibri" pitchFamily="34" charset="-120"/>
              </a:rPr>
              <a:t>High temperature:  </a:t>
            </a:r>
            <a:pPr indent="0" marL="0">
              <a:lnSpc>
                <a:spcPct val="130000"/>
              </a:lnSpc>
              <a:buNone/>
            </a:pPr>
            <a:r>
              <a:rPr lang="en-US" sz="1250" dirty="0">
                <a:solidFill>
                  <a:srgbClr val="23282E"/>
                </a:solidFill>
                <a:latin typeface="Calibri" pitchFamily="34" charset="0"/>
                <a:ea typeface="Calibri" pitchFamily="34" charset="-122"/>
                <a:cs typeface="Calibri" pitchFamily="34" charset="-120"/>
              </a:rPr>
              <a:t>gives lower-probability words a real chance — better for brainstorming and creative writing, at the cost of consistency.</a:t>
            </a:r>
            <a:endParaRPr lang="en-US" sz="1300" dirty="0"/>
          </a:p>
        </p:txBody>
      </p:sp>
      <p:sp>
        <p:nvSpPr>
          <p:cNvPr id="33" name="Text 31"/>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34" name="Text 32"/>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5 · A HARD LIMIT</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The Context Window</a:t>
            </a:r>
            <a:endParaRPr lang="en-US" sz="2700" dirty="0"/>
          </a:p>
        </p:txBody>
      </p:sp>
      <p:sp>
        <p:nvSpPr>
          <p:cNvPr id="4" name="Text 2"/>
          <p:cNvSpPr/>
          <p:nvPr/>
        </p:nvSpPr>
        <p:spPr>
          <a:xfrm>
            <a:off x="548640" y="1536192"/>
            <a:ext cx="11064240" cy="502920"/>
          </a:xfrm>
          <a:prstGeom prst="rect">
            <a:avLst/>
          </a:prstGeom>
          <a:noFill/>
          <a:ln/>
        </p:spPr>
        <p:txBody>
          <a:bodyPr wrap="square" lIns="0" tIns="0" rIns="0" bIns="0" rtlCol="0" anchor="ctr"/>
          <a:lstStyle/>
          <a:p>
            <a:pPr indent="0" marL="0">
              <a:lnSpc>
                <a:spcPct val="125000"/>
              </a:lnSpc>
              <a:buNone/>
            </a:pPr>
            <a:r>
              <a:rPr lang="en-US" sz="1350" i="1" dirty="0">
                <a:solidFill>
                  <a:srgbClr val="6B7280"/>
                </a:solidFill>
                <a:latin typeface="Calibri" pitchFamily="34" charset="0"/>
                <a:ea typeface="Calibri" pitchFamily="34" charset="-122"/>
                <a:cs typeface="Calibri" pitchFamily="34" charset="-120"/>
              </a:rPr>
              <a:t>A model can only "see" a limited number of tokens at once — its context window. Anything older just falls out of view.</a:t>
            </a:r>
            <a:endParaRPr lang="en-US" sz="1350" dirty="0"/>
          </a:p>
        </p:txBody>
      </p:sp>
      <p:sp>
        <p:nvSpPr>
          <p:cNvPr id="5" name="Shape 3"/>
          <p:cNvSpPr/>
          <p:nvPr/>
        </p:nvSpPr>
        <p:spPr>
          <a:xfrm>
            <a:off x="857250" y="3017520"/>
            <a:ext cx="484632" cy="365760"/>
          </a:xfrm>
          <a:prstGeom prst="roundRect">
            <a:avLst>
              <a:gd name="adj" fmla="val 15000"/>
            </a:avLst>
          </a:prstGeom>
          <a:solidFill>
            <a:srgbClr val="D8DEE6"/>
          </a:solidFill>
          <a:ln/>
        </p:spPr>
      </p:sp>
      <p:sp>
        <p:nvSpPr>
          <p:cNvPr id="6" name="Text 4"/>
          <p:cNvSpPr/>
          <p:nvPr/>
        </p:nvSpPr>
        <p:spPr>
          <a:xfrm>
            <a:off x="85725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7" name="Shape 5"/>
          <p:cNvSpPr/>
          <p:nvPr/>
        </p:nvSpPr>
        <p:spPr>
          <a:xfrm>
            <a:off x="1383030" y="3017520"/>
            <a:ext cx="484632" cy="365760"/>
          </a:xfrm>
          <a:prstGeom prst="roundRect">
            <a:avLst>
              <a:gd name="adj" fmla="val 15000"/>
            </a:avLst>
          </a:prstGeom>
          <a:solidFill>
            <a:srgbClr val="D8DEE6"/>
          </a:solidFill>
          <a:ln/>
        </p:spPr>
      </p:sp>
      <p:sp>
        <p:nvSpPr>
          <p:cNvPr id="8" name="Text 6"/>
          <p:cNvSpPr/>
          <p:nvPr/>
        </p:nvSpPr>
        <p:spPr>
          <a:xfrm>
            <a:off x="138303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9" name="Shape 7"/>
          <p:cNvSpPr/>
          <p:nvPr/>
        </p:nvSpPr>
        <p:spPr>
          <a:xfrm>
            <a:off x="1908810" y="3017520"/>
            <a:ext cx="484632" cy="365760"/>
          </a:xfrm>
          <a:prstGeom prst="roundRect">
            <a:avLst>
              <a:gd name="adj" fmla="val 15000"/>
            </a:avLst>
          </a:prstGeom>
          <a:solidFill>
            <a:srgbClr val="D8DEE6"/>
          </a:solidFill>
          <a:ln/>
        </p:spPr>
      </p:sp>
      <p:sp>
        <p:nvSpPr>
          <p:cNvPr id="10" name="Text 8"/>
          <p:cNvSpPr/>
          <p:nvPr/>
        </p:nvSpPr>
        <p:spPr>
          <a:xfrm>
            <a:off x="190881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11" name="Shape 9"/>
          <p:cNvSpPr/>
          <p:nvPr/>
        </p:nvSpPr>
        <p:spPr>
          <a:xfrm>
            <a:off x="2434590" y="3017520"/>
            <a:ext cx="484632" cy="365760"/>
          </a:xfrm>
          <a:prstGeom prst="roundRect">
            <a:avLst>
              <a:gd name="adj" fmla="val 15000"/>
            </a:avLst>
          </a:prstGeom>
          <a:solidFill>
            <a:srgbClr val="D8DEE6"/>
          </a:solidFill>
          <a:ln/>
        </p:spPr>
      </p:sp>
      <p:sp>
        <p:nvSpPr>
          <p:cNvPr id="12" name="Text 10"/>
          <p:cNvSpPr/>
          <p:nvPr/>
        </p:nvSpPr>
        <p:spPr>
          <a:xfrm>
            <a:off x="243459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13" name="Shape 11"/>
          <p:cNvSpPr/>
          <p:nvPr/>
        </p:nvSpPr>
        <p:spPr>
          <a:xfrm>
            <a:off x="2960370" y="3017520"/>
            <a:ext cx="484632" cy="365760"/>
          </a:xfrm>
          <a:prstGeom prst="roundRect">
            <a:avLst>
              <a:gd name="adj" fmla="val 15000"/>
            </a:avLst>
          </a:prstGeom>
          <a:solidFill>
            <a:srgbClr val="D8DEE6"/>
          </a:solidFill>
          <a:ln/>
        </p:spPr>
      </p:sp>
      <p:sp>
        <p:nvSpPr>
          <p:cNvPr id="14" name="Text 12"/>
          <p:cNvSpPr/>
          <p:nvPr/>
        </p:nvSpPr>
        <p:spPr>
          <a:xfrm>
            <a:off x="296037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15" name="Shape 13"/>
          <p:cNvSpPr/>
          <p:nvPr/>
        </p:nvSpPr>
        <p:spPr>
          <a:xfrm>
            <a:off x="3486150" y="3017520"/>
            <a:ext cx="484632" cy="365760"/>
          </a:xfrm>
          <a:prstGeom prst="roundRect">
            <a:avLst>
              <a:gd name="adj" fmla="val 15000"/>
            </a:avLst>
          </a:prstGeom>
          <a:solidFill>
            <a:srgbClr val="D8DEE6"/>
          </a:solidFill>
          <a:ln/>
        </p:spPr>
      </p:sp>
      <p:sp>
        <p:nvSpPr>
          <p:cNvPr id="16" name="Text 14"/>
          <p:cNvSpPr/>
          <p:nvPr/>
        </p:nvSpPr>
        <p:spPr>
          <a:xfrm>
            <a:off x="348615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17" name="Shape 15"/>
          <p:cNvSpPr/>
          <p:nvPr/>
        </p:nvSpPr>
        <p:spPr>
          <a:xfrm>
            <a:off x="4011930" y="3017520"/>
            <a:ext cx="484632" cy="365760"/>
          </a:xfrm>
          <a:prstGeom prst="roundRect">
            <a:avLst>
              <a:gd name="adj" fmla="val 15000"/>
            </a:avLst>
          </a:prstGeom>
          <a:solidFill>
            <a:srgbClr val="D8DEE6"/>
          </a:solidFill>
          <a:ln/>
        </p:spPr>
      </p:sp>
      <p:sp>
        <p:nvSpPr>
          <p:cNvPr id="18" name="Text 16"/>
          <p:cNvSpPr/>
          <p:nvPr/>
        </p:nvSpPr>
        <p:spPr>
          <a:xfrm>
            <a:off x="401193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19" name="Shape 17"/>
          <p:cNvSpPr/>
          <p:nvPr/>
        </p:nvSpPr>
        <p:spPr>
          <a:xfrm>
            <a:off x="4537710" y="3017520"/>
            <a:ext cx="484632" cy="365760"/>
          </a:xfrm>
          <a:prstGeom prst="roundRect">
            <a:avLst>
              <a:gd name="adj" fmla="val 15000"/>
            </a:avLst>
          </a:prstGeom>
          <a:solidFill>
            <a:srgbClr val="D8DEE6"/>
          </a:solidFill>
          <a:ln/>
        </p:spPr>
      </p:sp>
      <p:sp>
        <p:nvSpPr>
          <p:cNvPr id="20" name="Text 18"/>
          <p:cNvSpPr/>
          <p:nvPr/>
        </p:nvSpPr>
        <p:spPr>
          <a:xfrm>
            <a:off x="453771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21" name="Shape 19"/>
          <p:cNvSpPr/>
          <p:nvPr/>
        </p:nvSpPr>
        <p:spPr>
          <a:xfrm>
            <a:off x="5063490" y="3017520"/>
            <a:ext cx="484632" cy="365760"/>
          </a:xfrm>
          <a:prstGeom prst="roundRect">
            <a:avLst>
              <a:gd name="adj" fmla="val 15000"/>
            </a:avLst>
          </a:prstGeom>
          <a:solidFill>
            <a:srgbClr val="D8DEE6"/>
          </a:solidFill>
          <a:ln/>
        </p:spPr>
      </p:sp>
      <p:sp>
        <p:nvSpPr>
          <p:cNvPr id="22" name="Text 20"/>
          <p:cNvSpPr/>
          <p:nvPr/>
        </p:nvSpPr>
        <p:spPr>
          <a:xfrm>
            <a:off x="506349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23" name="Shape 21"/>
          <p:cNvSpPr/>
          <p:nvPr/>
        </p:nvSpPr>
        <p:spPr>
          <a:xfrm>
            <a:off x="5589270" y="3017520"/>
            <a:ext cx="484632" cy="365760"/>
          </a:xfrm>
          <a:prstGeom prst="roundRect">
            <a:avLst>
              <a:gd name="adj" fmla="val 15000"/>
            </a:avLst>
          </a:prstGeom>
          <a:solidFill>
            <a:srgbClr val="306998"/>
          </a:solidFill>
          <a:ln/>
        </p:spPr>
      </p:sp>
      <p:sp>
        <p:nvSpPr>
          <p:cNvPr id="24" name="Text 22"/>
          <p:cNvSpPr/>
          <p:nvPr/>
        </p:nvSpPr>
        <p:spPr>
          <a:xfrm>
            <a:off x="558927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25" name="Shape 23"/>
          <p:cNvSpPr/>
          <p:nvPr/>
        </p:nvSpPr>
        <p:spPr>
          <a:xfrm>
            <a:off x="6115050" y="3017520"/>
            <a:ext cx="484632" cy="365760"/>
          </a:xfrm>
          <a:prstGeom prst="roundRect">
            <a:avLst>
              <a:gd name="adj" fmla="val 15000"/>
            </a:avLst>
          </a:prstGeom>
          <a:solidFill>
            <a:srgbClr val="306998"/>
          </a:solidFill>
          <a:ln/>
        </p:spPr>
      </p:sp>
      <p:sp>
        <p:nvSpPr>
          <p:cNvPr id="26" name="Text 24"/>
          <p:cNvSpPr/>
          <p:nvPr/>
        </p:nvSpPr>
        <p:spPr>
          <a:xfrm>
            <a:off x="611505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27" name="Shape 25"/>
          <p:cNvSpPr/>
          <p:nvPr/>
        </p:nvSpPr>
        <p:spPr>
          <a:xfrm>
            <a:off x="6640830" y="3017520"/>
            <a:ext cx="484632" cy="365760"/>
          </a:xfrm>
          <a:prstGeom prst="roundRect">
            <a:avLst>
              <a:gd name="adj" fmla="val 15000"/>
            </a:avLst>
          </a:prstGeom>
          <a:solidFill>
            <a:srgbClr val="306998"/>
          </a:solidFill>
          <a:ln/>
        </p:spPr>
      </p:sp>
      <p:sp>
        <p:nvSpPr>
          <p:cNvPr id="28" name="Text 26"/>
          <p:cNvSpPr/>
          <p:nvPr/>
        </p:nvSpPr>
        <p:spPr>
          <a:xfrm>
            <a:off x="664083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29" name="Shape 27"/>
          <p:cNvSpPr/>
          <p:nvPr/>
        </p:nvSpPr>
        <p:spPr>
          <a:xfrm>
            <a:off x="7166610" y="3017520"/>
            <a:ext cx="484632" cy="365760"/>
          </a:xfrm>
          <a:prstGeom prst="roundRect">
            <a:avLst>
              <a:gd name="adj" fmla="val 15000"/>
            </a:avLst>
          </a:prstGeom>
          <a:solidFill>
            <a:srgbClr val="306998"/>
          </a:solidFill>
          <a:ln/>
        </p:spPr>
      </p:sp>
      <p:sp>
        <p:nvSpPr>
          <p:cNvPr id="30" name="Text 28"/>
          <p:cNvSpPr/>
          <p:nvPr/>
        </p:nvSpPr>
        <p:spPr>
          <a:xfrm>
            <a:off x="716661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31" name="Shape 29"/>
          <p:cNvSpPr/>
          <p:nvPr/>
        </p:nvSpPr>
        <p:spPr>
          <a:xfrm>
            <a:off x="7692390" y="3017520"/>
            <a:ext cx="484632" cy="365760"/>
          </a:xfrm>
          <a:prstGeom prst="roundRect">
            <a:avLst>
              <a:gd name="adj" fmla="val 15000"/>
            </a:avLst>
          </a:prstGeom>
          <a:solidFill>
            <a:srgbClr val="306998"/>
          </a:solidFill>
          <a:ln/>
        </p:spPr>
      </p:sp>
      <p:sp>
        <p:nvSpPr>
          <p:cNvPr id="32" name="Text 30"/>
          <p:cNvSpPr/>
          <p:nvPr/>
        </p:nvSpPr>
        <p:spPr>
          <a:xfrm>
            <a:off x="769239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33" name="Shape 31"/>
          <p:cNvSpPr/>
          <p:nvPr/>
        </p:nvSpPr>
        <p:spPr>
          <a:xfrm>
            <a:off x="8218170" y="3017520"/>
            <a:ext cx="484632" cy="365760"/>
          </a:xfrm>
          <a:prstGeom prst="roundRect">
            <a:avLst>
              <a:gd name="adj" fmla="val 15000"/>
            </a:avLst>
          </a:prstGeom>
          <a:solidFill>
            <a:srgbClr val="306998"/>
          </a:solidFill>
          <a:ln/>
        </p:spPr>
      </p:sp>
      <p:sp>
        <p:nvSpPr>
          <p:cNvPr id="34" name="Text 32"/>
          <p:cNvSpPr/>
          <p:nvPr/>
        </p:nvSpPr>
        <p:spPr>
          <a:xfrm>
            <a:off x="821817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35" name="Shape 33"/>
          <p:cNvSpPr/>
          <p:nvPr/>
        </p:nvSpPr>
        <p:spPr>
          <a:xfrm>
            <a:off x="8743950" y="3017520"/>
            <a:ext cx="484632" cy="365760"/>
          </a:xfrm>
          <a:prstGeom prst="roundRect">
            <a:avLst>
              <a:gd name="adj" fmla="val 15000"/>
            </a:avLst>
          </a:prstGeom>
          <a:solidFill>
            <a:srgbClr val="306998"/>
          </a:solidFill>
          <a:ln/>
        </p:spPr>
      </p:sp>
      <p:sp>
        <p:nvSpPr>
          <p:cNvPr id="36" name="Text 34"/>
          <p:cNvSpPr/>
          <p:nvPr/>
        </p:nvSpPr>
        <p:spPr>
          <a:xfrm>
            <a:off x="874395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37" name="Shape 35"/>
          <p:cNvSpPr/>
          <p:nvPr/>
        </p:nvSpPr>
        <p:spPr>
          <a:xfrm>
            <a:off x="9269730" y="3017520"/>
            <a:ext cx="484632" cy="365760"/>
          </a:xfrm>
          <a:prstGeom prst="roundRect">
            <a:avLst>
              <a:gd name="adj" fmla="val 15000"/>
            </a:avLst>
          </a:prstGeom>
          <a:solidFill>
            <a:srgbClr val="306998"/>
          </a:solidFill>
          <a:ln/>
        </p:spPr>
      </p:sp>
      <p:sp>
        <p:nvSpPr>
          <p:cNvPr id="38" name="Text 36"/>
          <p:cNvSpPr/>
          <p:nvPr/>
        </p:nvSpPr>
        <p:spPr>
          <a:xfrm>
            <a:off x="926973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39" name="Shape 37"/>
          <p:cNvSpPr/>
          <p:nvPr/>
        </p:nvSpPr>
        <p:spPr>
          <a:xfrm>
            <a:off x="9795510" y="3017520"/>
            <a:ext cx="484632" cy="365760"/>
          </a:xfrm>
          <a:prstGeom prst="roundRect">
            <a:avLst>
              <a:gd name="adj" fmla="val 15000"/>
            </a:avLst>
          </a:prstGeom>
          <a:solidFill>
            <a:srgbClr val="306998"/>
          </a:solidFill>
          <a:ln/>
        </p:spPr>
      </p:sp>
      <p:sp>
        <p:nvSpPr>
          <p:cNvPr id="40" name="Text 38"/>
          <p:cNvSpPr/>
          <p:nvPr/>
        </p:nvSpPr>
        <p:spPr>
          <a:xfrm>
            <a:off x="979551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41" name="Shape 39"/>
          <p:cNvSpPr/>
          <p:nvPr/>
        </p:nvSpPr>
        <p:spPr>
          <a:xfrm>
            <a:off x="10321290" y="3017520"/>
            <a:ext cx="484632" cy="365760"/>
          </a:xfrm>
          <a:prstGeom prst="roundRect">
            <a:avLst>
              <a:gd name="adj" fmla="val 15000"/>
            </a:avLst>
          </a:prstGeom>
          <a:solidFill>
            <a:srgbClr val="306998"/>
          </a:solidFill>
          <a:ln/>
        </p:spPr>
      </p:sp>
      <p:sp>
        <p:nvSpPr>
          <p:cNvPr id="42" name="Text 40"/>
          <p:cNvSpPr/>
          <p:nvPr/>
        </p:nvSpPr>
        <p:spPr>
          <a:xfrm>
            <a:off x="1032129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43" name="Shape 41"/>
          <p:cNvSpPr/>
          <p:nvPr/>
        </p:nvSpPr>
        <p:spPr>
          <a:xfrm>
            <a:off x="10847070" y="3017520"/>
            <a:ext cx="484632" cy="365760"/>
          </a:xfrm>
          <a:prstGeom prst="roundRect">
            <a:avLst>
              <a:gd name="adj" fmla="val 15000"/>
            </a:avLst>
          </a:prstGeom>
          <a:solidFill>
            <a:srgbClr val="306998"/>
          </a:solidFill>
          <a:ln/>
        </p:spPr>
      </p:sp>
      <p:sp>
        <p:nvSpPr>
          <p:cNvPr id="44" name="Text 42"/>
          <p:cNvSpPr/>
          <p:nvPr/>
        </p:nvSpPr>
        <p:spPr>
          <a:xfrm>
            <a:off x="10847070" y="3017520"/>
            <a:ext cx="484632" cy="365760"/>
          </a:xfrm>
          <a:prstGeom prst="rect">
            <a:avLst/>
          </a:prstGeom>
          <a:noFill/>
          <a:ln/>
        </p:spPr>
        <p:txBody>
          <a:bodyPr wrap="square" lIns="0" tIns="0" rIns="0" bIns="0" rtlCol="0" anchor="ctr"/>
          <a:lstStyle/>
          <a:p>
            <a:pPr algn="ctr" indent="0" marL="0">
              <a:buNone/>
            </a:pPr>
            <a:endParaRPr lang="en-US" sz="800" dirty="0"/>
          </a:p>
        </p:txBody>
      </p:sp>
      <p:sp>
        <p:nvSpPr>
          <p:cNvPr id="45" name="Shape 43"/>
          <p:cNvSpPr/>
          <p:nvPr/>
        </p:nvSpPr>
        <p:spPr>
          <a:xfrm>
            <a:off x="5516118" y="2889504"/>
            <a:ext cx="5888736" cy="621792"/>
          </a:xfrm>
          <a:prstGeom prst="roundRect">
            <a:avLst>
              <a:gd name="adj" fmla="val 8824"/>
            </a:avLst>
          </a:prstGeom>
          <a:ln w="31750">
            <a:solidFill>
              <a:srgbClr val="E8B923"/>
            </a:solidFill>
            <a:prstDash val="solid"/>
          </a:ln>
        </p:spPr>
      </p:sp>
      <p:sp>
        <p:nvSpPr>
          <p:cNvPr id="46" name="Text 44"/>
          <p:cNvSpPr/>
          <p:nvPr/>
        </p:nvSpPr>
        <p:spPr>
          <a:xfrm>
            <a:off x="857250" y="3566160"/>
            <a:ext cx="4732020" cy="502920"/>
          </a:xfrm>
          <a:prstGeom prst="rect">
            <a:avLst/>
          </a:prstGeom>
          <a:noFill/>
          <a:ln/>
        </p:spPr>
        <p:txBody>
          <a:bodyPr wrap="square" lIns="0" tIns="0" rIns="0" bIns="0" rtlCol="0" anchor="ctr"/>
          <a:lstStyle/>
          <a:p>
            <a:pPr indent="0" marL="0">
              <a:lnSpc>
                <a:spcPct val="115000"/>
              </a:lnSpc>
              <a:buNone/>
            </a:pPr>
            <a:r>
              <a:rPr lang="en-US" sz="950" i="1" dirty="0">
                <a:solidFill>
                  <a:srgbClr val="6B7280"/>
                </a:solidFill>
                <a:latin typeface="Calibri" pitchFamily="34" charset="0"/>
                <a:ea typeface="Calibri" pitchFamily="34" charset="-122"/>
                <a:cs typeface="Calibri" pitchFamily="34" charset="-120"/>
              </a:rPr>
              <a:t>older tokens — pushed out of the window, no longer visible to the model</a:t>
            </a:r>
            <a:endParaRPr lang="en-US" sz="950" dirty="0"/>
          </a:p>
        </p:txBody>
      </p:sp>
      <p:sp>
        <p:nvSpPr>
          <p:cNvPr id="47" name="Text 45"/>
          <p:cNvSpPr/>
          <p:nvPr/>
        </p:nvSpPr>
        <p:spPr>
          <a:xfrm>
            <a:off x="5516118" y="2240280"/>
            <a:ext cx="5888736" cy="365760"/>
          </a:xfrm>
          <a:prstGeom prst="rect">
            <a:avLst/>
          </a:prstGeom>
          <a:noFill/>
          <a:ln/>
        </p:spPr>
        <p:txBody>
          <a:bodyPr wrap="square" lIns="0" tIns="0" rIns="0" bIns="0" rtlCol="0" anchor="ctr"/>
          <a:lstStyle/>
          <a:p>
            <a:pPr algn="ctr" indent="0" marL="0">
              <a:buNone/>
            </a:pPr>
            <a:r>
              <a:rPr lang="en-US" sz="1050" b="1" i="1" dirty="0">
                <a:solidFill>
                  <a:srgbClr val="AD8A1D"/>
                </a:solidFill>
                <a:latin typeface="Calibri" pitchFamily="34" charset="0"/>
                <a:ea typeface="Calibri" pitchFamily="34" charset="-122"/>
                <a:cs typeface="Calibri" pitchFamily="34" charset="-120"/>
              </a:rPr>
              <a:t>context window — what the model can currently "see"</a:t>
            </a:r>
            <a:endParaRPr lang="en-US" sz="1050" dirty="0"/>
          </a:p>
        </p:txBody>
      </p:sp>
      <p:sp>
        <p:nvSpPr>
          <p:cNvPr id="48" name="Shape 46"/>
          <p:cNvSpPr/>
          <p:nvPr/>
        </p:nvSpPr>
        <p:spPr>
          <a:xfrm>
            <a:off x="548640" y="4297680"/>
            <a:ext cx="11064240" cy="1417320"/>
          </a:xfrm>
          <a:prstGeom prst="roundRect">
            <a:avLst>
              <a:gd name="adj" fmla="val 5161"/>
            </a:avLst>
          </a:prstGeom>
          <a:solidFill>
            <a:srgbClr val="FDF1E8"/>
          </a:solidFill>
          <a:ln/>
        </p:spPr>
      </p:sp>
      <p:sp>
        <p:nvSpPr>
          <p:cNvPr id="49" name="Text 47"/>
          <p:cNvSpPr/>
          <p:nvPr/>
        </p:nvSpPr>
        <p:spPr>
          <a:xfrm>
            <a:off x="868680" y="4297680"/>
            <a:ext cx="10424160" cy="1417320"/>
          </a:xfrm>
          <a:prstGeom prst="rect">
            <a:avLst/>
          </a:prstGeom>
          <a:noFill/>
          <a:ln/>
        </p:spPr>
        <p:txBody>
          <a:bodyPr wrap="square" lIns="0" tIns="0" rIns="0" bIns="0" rtlCol="0" anchor="ctr"/>
          <a:lstStyle/>
          <a:p>
            <a:pPr indent="0" marL="0">
              <a:lnSpc>
                <a:spcPct val="128000"/>
              </a:lnSpc>
              <a:buNone/>
            </a:pPr>
            <a:r>
              <a:rPr lang="en-US" sz="1400" b="1" dirty="0">
                <a:solidFill>
                  <a:srgbClr val="C24B4B"/>
                </a:solidFill>
                <a:latin typeface="Calibri" pitchFamily="34" charset="0"/>
                <a:ea typeface="Calibri" pitchFamily="34" charset="-122"/>
                <a:cs typeface="Calibri" pitchFamily="34" charset="-120"/>
              </a:rPr>
              <a:t>Why this matters:  </a:t>
            </a:r>
            <a:pPr indent="0" marL="0">
              <a:lnSpc>
                <a:spcPct val="128000"/>
              </a:lnSpc>
              <a:buNone/>
            </a:pPr>
            <a:r>
              <a:rPr lang="en-US" sz="1300" dirty="0">
                <a:solidFill>
                  <a:srgbClr val="23282E"/>
                </a:solidFill>
                <a:latin typeface="Calibri" pitchFamily="34" charset="0"/>
                <a:ea typeface="Calibri" pitchFamily="34" charset="-122"/>
                <a:cs typeface="Calibri" pitchFamily="34" charset="-120"/>
              </a:rPr>
              <a:t>if a conversation gets too long, the model may lose track of something you said earlier — it's not being forgetful on purpose, that information may have simply scrolled outside its window. Context windows range from a few thousand tokens to well over a million, depending on the model.</a:t>
            </a:r>
            <a:endParaRPr lang="en-US" sz="1400" dirty="0"/>
          </a:p>
        </p:txBody>
      </p:sp>
      <p:sp>
        <p:nvSpPr>
          <p:cNvPr id="50" name="Text 48"/>
          <p:cNvSpPr/>
          <p:nvPr/>
        </p:nvSpPr>
        <p:spPr>
          <a:xfrm>
            <a:off x="548640" y="5897880"/>
            <a:ext cx="11064240" cy="457200"/>
          </a:xfrm>
          <a:prstGeom prst="rect">
            <a:avLst/>
          </a:prstGeom>
          <a:noFill/>
          <a:ln/>
        </p:spPr>
        <p:txBody>
          <a:bodyPr wrap="square" lIns="0" tIns="0" rIns="0" bIns="0" rtlCol="0" anchor="ctr"/>
          <a:lstStyle/>
          <a:p>
            <a:pPr algn="ctr" indent="0" marL="0">
              <a:lnSpc>
                <a:spcPct val="120000"/>
              </a:lnSpc>
              <a:buNone/>
            </a:pPr>
            <a:r>
              <a:rPr lang="en-US" sz="1100" i="1" dirty="0">
                <a:solidFill>
                  <a:srgbClr val="6B7280"/>
                </a:solidFill>
                <a:latin typeface="Calibri" pitchFamily="34" charset="0"/>
                <a:ea typeface="Calibri" pitchFamily="34" charset="-122"/>
                <a:cs typeface="Calibri" pitchFamily="34" charset="-120"/>
              </a:rPr>
              <a:t>Every single token in the window — prompt AND the model's own reply so far — gets reprocessed by attention at every single generation step.</a:t>
            </a:r>
            <a:endParaRPr lang="en-US" sz="1100" dirty="0"/>
          </a:p>
        </p:txBody>
      </p:sp>
      <p:sp>
        <p:nvSpPr>
          <p:cNvPr id="51" name="Text 49"/>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52" name="Text 50"/>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AF3FB"/>
        </a:solidFill>
      </p:bgPr>
    </p:bg>
    <p:spTree>
      <p:nvGrpSpPr>
        <p:cNvPr id="1" name=""/>
        <p:cNvGrpSpPr/>
        <p:nvPr/>
      </p:nvGrpSpPr>
      <p:grpSpPr>
        <a:xfrm>
          <a:off x="0" y="0"/>
          <a:ext cx="0" cy="0"/>
          <a:chOff x="0" y="0"/>
          <a:chExt cx="0" cy="0"/>
        </a:xfrm>
      </p:grpSpPr>
      <p:sp>
        <p:nvSpPr>
          <p:cNvPr id="2" name="Shape 0"/>
          <p:cNvSpPr/>
          <p:nvPr/>
        </p:nvSpPr>
        <p:spPr>
          <a:xfrm>
            <a:off x="548640" y="457200"/>
            <a:ext cx="822960" cy="822960"/>
          </a:xfrm>
          <a:prstGeom prst="ellipse">
            <a:avLst/>
          </a:prstGeom>
          <a:solidFill>
            <a:srgbClr val="E8B923"/>
          </a:solidFill>
          <a:ln/>
        </p:spPr>
      </p:sp>
      <p:sp>
        <p:nvSpPr>
          <p:cNvPr id="3" name="Text 1"/>
          <p:cNvSpPr/>
          <p:nvPr/>
        </p:nvSpPr>
        <p:spPr>
          <a:xfrm>
            <a:off x="548640" y="45720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t>
            </a:r>
            <a:endParaRPr lang="en-US" sz="3200" dirty="0"/>
          </a:p>
        </p:txBody>
      </p:sp>
      <p:sp>
        <p:nvSpPr>
          <p:cNvPr id="4" name="Text 2"/>
          <p:cNvSpPr/>
          <p:nvPr/>
        </p:nvSpPr>
        <p:spPr>
          <a:xfrm>
            <a:off x="1554480" y="457200"/>
            <a:ext cx="5486400" cy="365760"/>
          </a:xfrm>
          <a:prstGeom prst="rect">
            <a:avLst/>
          </a:prstGeom>
          <a:noFill/>
          <a:ln/>
        </p:spPr>
        <p:txBody>
          <a:bodyPr wrap="square" lIns="0" tIns="0" rIns="0" bIns="0" rtlCol="0" anchor="ctr"/>
          <a:lstStyle/>
          <a:p>
            <a:pPr indent="0" marL="0">
              <a:buNone/>
            </a:pPr>
            <a:r>
              <a:rPr lang="en-US" sz="1300" b="1" spc="200" kern="0" dirty="0">
                <a:solidFill>
                  <a:srgbClr val="E8B923"/>
                </a:solidFill>
                <a:latin typeface="Calibri" pitchFamily="34" charset="0"/>
                <a:ea typeface="Calibri" pitchFamily="34" charset="-122"/>
                <a:cs typeface="Calibri" pitchFamily="34" charset="-120"/>
              </a:rPr>
              <a:t>QUICK CHECK 5</a:t>
            </a:r>
            <a:endParaRPr lang="en-US" sz="1300" dirty="0"/>
          </a:p>
        </p:txBody>
      </p:sp>
      <p:sp>
        <p:nvSpPr>
          <p:cNvPr id="5" name="Text 3"/>
          <p:cNvSpPr/>
          <p:nvPr/>
        </p:nvSpPr>
        <p:spPr>
          <a:xfrm>
            <a:off x="1554480" y="777240"/>
            <a:ext cx="7315200" cy="548640"/>
          </a:xfrm>
          <a:prstGeom prst="rect">
            <a:avLst/>
          </a:prstGeom>
          <a:noFill/>
          <a:ln/>
        </p:spPr>
        <p:txBody>
          <a:bodyPr wrap="square" lIns="0" tIns="0" rIns="0" bIns="0" rtlCol="0" anchor="ctr"/>
          <a:lstStyle/>
          <a:p>
            <a:pPr indent="0" marL="0">
              <a:buNone/>
            </a:pPr>
            <a:r>
              <a:rPr lang="en-US" sz="2700" b="1" dirty="0">
                <a:solidFill>
                  <a:srgbClr val="23282E"/>
                </a:solidFill>
                <a:latin typeface="Cambria" pitchFamily="34" charset="0"/>
                <a:ea typeface="Cambria" pitchFamily="34" charset="-122"/>
                <a:cs typeface="Cambria" pitchFamily="34" charset="-120"/>
              </a:rPr>
              <a:t>Generation Check</a:t>
            </a:r>
            <a:endParaRPr lang="en-US" sz="2700" dirty="0"/>
          </a:p>
        </p:txBody>
      </p:sp>
      <p:sp>
        <p:nvSpPr>
          <p:cNvPr id="6" name="Shape 4"/>
          <p:cNvSpPr/>
          <p:nvPr/>
        </p:nvSpPr>
        <p:spPr>
          <a:xfrm>
            <a:off x="9418320" y="502920"/>
            <a:ext cx="2194560" cy="548640"/>
          </a:xfrm>
          <a:prstGeom prst="roundRect">
            <a:avLst>
              <a:gd name="adj" fmla="val 50000"/>
            </a:avLst>
          </a:prstGeom>
          <a:solidFill>
            <a:srgbClr val="16325C"/>
          </a:solidFill>
          <a:ln/>
        </p:spPr>
      </p:sp>
      <p:sp>
        <p:nvSpPr>
          <p:cNvPr id="7" name="Text 5"/>
          <p:cNvSpPr/>
          <p:nvPr/>
        </p:nvSpPr>
        <p:spPr>
          <a:xfrm>
            <a:off x="9418320" y="502920"/>
            <a:ext cx="219456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DISCUSS AS A CLASS</a:t>
            </a:r>
            <a:endParaRPr lang="en-US" sz="1050" dirty="0"/>
          </a:p>
        </p:txBody>
      </p:sp>
      <p:sp>
        <p:nvSpPr>
          <p:cNvPr id="8" name="Shape 6"/>
          <p:cNvSpPr/>
          <p:nvPr/>
        </p:nvSpPr>
        <p:spPr>
          <a:xfrm>
            <a:off x="548640" y="1600200"/>
            <a:ext cx="7406640" cy="4572000"/>
          </a:xfrm>
          <a:prstGeom prst="roundRect">
            <a:avLst>
              <a:gd name="adj" fmla="val 1600"/>
            </a:avLst>
          </a:prstGeom>
          <a:solidFill>
            <a:srgbClr val="FFFFFF"/>
          </a:solidFill>
          <a:ln w="12700">
            <a:solidFill>
              <a:srgbClr val="C9DCEE"/>
            </a:solidFill>
            <a:prstDash val="solid"/>
          </a:ln>
          <a:effectLst>
            <a:outerShdw sx="100000" sy="100000" kx="0" ky="0" algn="bl" rotWithShape="0" blurRad="101600" dist="25400" dir="5400000">
              <a:srgbClr val="000000">
                <a:alpha val="12000"/>
              </a:srgbClr>
            </a:outerShdw>
          </a:effectLst>
        </p:spPr>
      </p:sp>
      <p:sp>
        <p:nvSpPr>
          <p:cNvPr id="9" name="Text 7"/>
          <p:cNvSpPr/>
          <p:nvPr/>
        </p:nvSpPr>
        <p:spPr>
          <a:xfrm>
            <a:off x="868680" y="1874520"/>
            <a:ext cx="6858000" cy="4023360"/>
          </a:xfrm>
          <a:prstGeom prst="rect">
            <a:avLst/>
          </a:prstGeom>
          <a:noFill/>
          <a:ln/>
        </p:spPr>
        <p:txBody>
          <a:bodyPr wrap="square" lIns="0" tIns="0" rIns="0" bIns="0" rtlCol="0" anchor="t"/>
          <a:lstStyle/>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1.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A model just generated the word "blue" and needs to pick the next word.</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2.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You want highly consistent, deterministic code generation from a model.</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3.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You want creative, varied brainstorming ideas from a model.</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4.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A very long conversation causes the model to "forget" something said much earlier.</a:t>
            </a:r>
            <a:endParaRPr lang="en-US" sz="1500" dirty="0"/>
          </a:p>
        </p:txBody>
      </p:sp>
      <p:sp>
        <p:nvSpPr>
          <p:cNvPr id="10" name="Shape 8"/>
          <p:cNvSpPr/>
          <p:nvPr/>
        </p:nvSpPr>
        <p:spPr>
          <a:xfrm>
            <a:off x="8229600" y="1600200"/>
            <a:ext cx="3383280" cy="4572000"/>
          </a:xfrm>
          <a:prstGeom prst="roundRect">
            <a:avLst>
              <a:gd name="adj" fmla="val 2162"/>
            </a:avLst>
          </a:prstGeom>
          <a:solidFill>
            <a:srgbClr val="16325C"/>
          </a:solidFill>
          <a:ln/>
        </p:spPr>
      </p:sp>
      <p:sp>
        <p:nvSpPr>
          <p:cNvPr id="11" name="Text 9"/>
          <p:cNvSpPr/>
          <p:nvPr/>
        </p:nvSpPr>
        <p:spPr>
          <a:xfrm>
            <a:off x="8549640" y="1828800"/>
            <a:ext cx="2743200" cy="320040"/>
          </a:xfrm>
          <a:prstGeom prst="rect">
            <a:avLst/>
          </a:prstGeom>
          <a:noFill/>
          <a:ln/>
        </p:spPr>
        <p:txBody>
          <a:bodyPr wrap="square" lIns="0" tIns="0" rIns="0" bIns="0" rtlCol="0" anchor="ctr"/>
          <a:lstStyle/>
          <a:p>
            <a:pPr indent="0" marL="0">
              <a:buNone/>
            </a:pPr>
            <a:r>
              <a:rPr lang="en-US" sz="1200" b="1" spc="200" kern="0" dirty="0">
                <a:solidFill>
                  <a:srgbClr val="FFD43B"/>
                </a:solidFill>
                <a:latin typeface="Calibri" pitchFamily="34" charset="0"/>
                <a:ea typeface="Calibri" pitchFamily="34" charset="-122"/>
                <a:cs typeface="Calibri" pitchFamily="34" charset="-120"/>
              </a:rPr>
              <a:t>ANSWER KEY</a:t>
            </a:r>
            <a:endParaRPr lang="en-US" sz="1200" dirty="0"/>
          </a:p>
        </p:txBody>
      </p:sp>
      <p:sp>
        <p:nvSpPr>
          <p:cNvPr id="12" name="Text 10"/>
          <p:cNvSpPr/>
          <p:nvPr/>
        </p:nvSpPr>
        <p:spPr>
          <a:xfrm>
            <a:off x="8549640" y="2194560"/>
            <a:ext cx="2788920" cy="3840480"/>
          </a:xfrm>
          <a:prstGeom prst="rect">
            <a:avLst/>
          </a:prstGeom>
          <a:noFill/>
          <a:ln/>
        </p:spPr>
        <p:txBody>
          <a:bodyPr wrap="square" lIns="0" tIns="0" rIns="0" bIns="0" rtlCol="0" anchor="t"/>
          <a:lstStyle/>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1.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It feeds the ENTIRE text so far (including "blue") back in to predict the next token</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2.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Use a low temperature — it favors the single most likely token consistently</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3.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Use a higher temperature — it gives less-likely words a real chance of being picked</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4.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That information likely scrolled outside the model's context window</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6325C"/>
        </a:solidFill>
      </p:bgPr>
    </p:bg>
    <p:spTree>
      <p:nvGrpSpPr>
        <p:cNvPr id="1" name=""/>
        <p:cNvGrpSpPr/>
        <p:nvPr/>
      </p:nvGrpSpPr>
      <p:grpSpPr>
        <a:xfrm>
          <a:off x="0" y="0"/>
          <a:ext cx="0" cy="0"/>
          <a:chOff x="0" y="0"/>
          <a:chExt cx="0" cy="0"/>
        </a:xfrm>
      </p:grpSpPr>
      <p:sp>
        <p:nvSpPr>
          <p:cNvPr id="2" name="Text 0"/>
          <p:cNvSpPr/>
          <p:nvPr/>
        </p:nvSpPr>
        <p:spPr>
          <a:xfrm>
            <a:off x="640080" y="1371600"/>
            <a:ext cx="4572000" cy="2926080"/>
          </a:xfrm>
          <a:prstGeom prst="rect">
            <a:avLst/>
          </a:prstGeom>
          <a:noFill/>
          <a:ln/>
        </p:spPr>
        <p:txBody>
          <a:bodyPr wrap="square" lIns="0" tIns="0" rIns="0" bIns="0" rtlCol="0" anchor="ctr"/>
          <a:lstStyle/>
          <a:p>
            <a:pPr algn="l" indent="0" marL="0">
              <a:buNone/>
            </a:pPr>
            <a:r>
              <a:rPr lang="en-US" sz="22000" b="1" dirty="0">
                <a:solidFill>
                  <a:srgbClr val="1E3A66"/>
                </a:solidFill>
                <a:latin typeface="Cambria" pitchFamily="34" charset="0"/>
                <a:ea typeface="Cambria" pitchFamily="34" charset="-122"/>
                <a:cs typeface="Cambria" pitchFamily="34" charset="-120"/>
              </a:rPr>
              <a:t>06</a:t>
            </a:r>
            <a:endParaRPr lang="en-US" sz="22000" dirty="0"/>
          </a:p>
        </p:txBody>
      </p:sp>
      <p:sp>
        <p:nvSpPr>
          <p:cNvPr id="3" name="Shape 1"/>
          <p:cNvSpPr/>
          <p:nvPr/>
        </p:nvSpPr>
        <p:spPr>
          <a:xfrm>
            <a:off x="5394960" y="2011680"/>
            <a:ext cx="54864" cy="1920240"/>
          </a:xfrm>
          <a:prstGeom prst="rect">
            <a:avLst/>
          </a:prstGeom>
          <a:solidFill>
            <a:srgbClr val="FFD43B"/>
          </a:solidFill>
          <a:ln/>
        </p:spPr>
      </p:sp>
      <p:sp>
        <p:nvSpPr>
          <p:cNvPr id="4" name="Text 2"/>
          <p:cNvSpPr/>
          <p:nvPr/>
        </p:nvSpPr>
        <p:spPr>
          <a:xfrm>
            <a:off x="5715000" y="1965960"/>
            <a:ext cx="6035040" cy="1188720"/>
          </a:xfrm>
          <a:prstGeom prst="rect">
            <a:avLst/>
          </a:prstGeom>
          <a:noFill/>
          <a:ln/>
        </p:spPr>
        <p:txBody>
          <a:bodyPr wrap="square" lIns="0" tIns="0" rIns="0" bIns="0" rtlCol="0" anchor="ctr"/>
          <a:lstStyle/>
          <a:p>
            <a:pPr algn="l" indent="0" marL="0">
              <a:buNone/>
            </a:pPr>
            <a:r>
              <a:rPr lang="en-US" sz="3200" b="1" dirty="0">
                <a:solidFill>
                  <a:srgbClr val="FFFFFF"/>
                </a:solidFill>
                <a:latin typeface="Cambria" pitchFamily="34" charset="0"/>
                <a:ea typeface="Cambria" pitchFamily="34" charset="-122"/>
                <a:cs typeface="Cambria" pitchFamily="34" charset="-120"/>
              </a:rPr>
              <a:t>Prompting, Limits &amp; Real-World Use</a:t>
            </a:r>
            <a:endParaRPr lang="en-US" sz="3200" dirty="0"/>
          </a:p>
        </p:txBody>
      </p:sp>
      <p:sp>
        <p:nvSpPr>
          <p:cNvPr id="5" name="Text 3"/>
          <p:cNvSpPr/>
          <p:nvPr/>
        </p:nvSpPr>
        <p:spPr>
          <a:xfrm>
            <a:off x="5715000" y="3063240"/>
            <a:ext cx="6035040" cy="822960"/>
          </a:xfrm>
          <a:prstGeom prst="rect">
            <a:avLst/>
          </a:prstGeom>
          <a:noFill/>
          <a:ln/>
        </p:spPr>
        <p:txBody>
          <a:bodyPr wrap="square" lIns="0" tIns="0" rIns="0" bIns="0" rtlCol="0" anchor="t"/>
          <a:lstStyle/>
          <a:p>
            <a:pPr algn="l" indent="0" marL="0">
              <a:buNone/>
            </a:pPr>
            <a:r>
              <a:rPr lang="en-US" sz="1700" i="1" dirty="0">
                <a:solidFill>
                  <a:srgbClr val="FFD43B"/>
                </a:solidFill>
                <a:latin typeface="Calibri" pitchFamily="34" charset="0"/>
                <a:ea typeface="Calibri" pitchFamily="34" charset="-122"/>
                <a:cs typeface="Calibri" pitchFamily="34" charset="-120"/>
              </a:rPr>
              <a:t>Getting better answers, and knowing where this breaks</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6 · GETTING BETTER ANSWERS</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Prompt Engineering Basics</a:t>
            </a:r>
            <a:endParaRPr lang="en-US" sz="2700" dirty="0"/>
          </a:p>
        </p:txBody>
      </p:sp>
      <p:sp>
        <p:nvSpPr>
          <p:cNvPr id="4" name="Text 2"/>
          <p:cNvSpPr/>
          <p:nvPr/>
        </p:nvSpPr>
        <p:spPr>
          <a:xfrm>
            <a:off x="548640" y="1536192"/>
            <a:ext cx="11064240" cy="502920"/>
          </a:xfrm>
          <a:prstGeom prst="rect">
            <a:avLst/>
          </a:prstGeom>
          <a:noFill/>
          <a:ln/>
        </p:spPr>
        <p:txBody>
          <a:bodyPr wrap="square" lIns="0" tIns="0" rIns="0" bIns="0" rtlCol="0" anchor="ctr"/>
          <a:lstStyle/>
          <a:p>
            <a:pPr indent="0" marL="0">
              <a:lnSpc>
                <a:spcPct val="125000"/>
              </a:lnSpc>
              <a:buNone/>
            </a:pPr>
            <a:r>
              <a:rPr lang="en-US" sz="1350" i="1" dirty="0">
                <a:solidFill>
                  <a:srgbClr val="6B7280"/>
                </a:solidFill>
                <a:latin typeface="Calibri" pitchFamily="34" charset="0"/>
                <a:ea typeface="Calibri" pitchFamily="34" charset="-122"/>
                <a:cs typeface="Calibri" pitchFamily="34" charset="-120"/>
              </a:rPr>
              <a:t>Since the model is just predicting "what comes next," HOW you phrase a prompt directly shapes the pattern it tries to continue.</a:t>
            </a:r>
            <a:endParaRPr lang="en-US" sz="1350" dirty="0"/>
          </a:p>
        </p:txBody>
      </p:sp>
      <p:sp>
        <p:nvSpPr>
          <p:cNvPr id="5" name="Shape 3"/>
          <p:cNvSpPr/>
          <p:nvPr/>
        </p:nvSpPr>
        <p:spPr>
          <a:xfrm>
            <a:off x="548640" y="2194560"/>
            <a:ext cx="5394960" cy="2331720"/>
          </a:xfrm>
          <a:prstGeom prst="roundRect">
            <a:avLst>
              <a:gd name="adj" fmla="val 3137"/>
            </a:avLst>
          </a:prstGeom>
          <a:solidFill>
            <a:srgbClr val="F4F6F9"/>
          </a:solidFill>
          <a:ln w="15875">
            <a:solidFill>
              <a:srgbClr val="C24B4B"/>
            </a:solidFill>
            <a:prstDash val="solid"/>
          </a:ln>
        </p:spPr>
      </p:sp>
      <p:sp>
        <p:nvSpPr>
          <p:cNvPr id="6" name="Text 4"/>
          <p:cNvSpPr/>
          <p:nvPr/>
        </p:nvSpPr>
        <p:spPr>
          <a:xfrm>
            <a:off x="822960" y="2377440"/>
            <a:ext cx="4846320" cy="365760"/>
          </a:xfrm>
          <a:prstGeom prst="rect">
            <a:avLst/>
          </a:prstGeom>
          <a:noFill/>
          <a:ln/>
        </p:spPr>
        <p:txBody>
          <a:bodyPr wrap="square" lIns="0" tIns="0" rIns="0" bIns="0" rtlCol="0" anchor="ctr"/>
          <a:lstStyle/>
          <a:p>
            <a:pPr indent="0" marL="0">
              <a:buNone/>
            </a:pPr>
            <a:r>
              <a:rPr lang="en-US" sz="1450" b="1" dirty="0">
                <a:solidFill>
                  <a:srgbClr val="C24B4B"/>
                </a:solidFill>
                <a:latin typeface="Cambria" pitchFamily="34" charset="0"/>
                <a:ea typeface="Cambria" pitchFamily="34" charset="-122"/>
                <a:cs typeface="Cambria" pitchFamily="34" charset="-120"/>
              </a:rPr>
              <a:t>Vague Prompt</a:t>
            </a:r>
            <a:endParaRPr lang="en-US" sz="1450" dirty="0"/>
          </a:p>
        </p:txBody>
      </p:sp>
      <p:sp>
        <p:nvSpPr>
          <p:cNvPr id="7" name="Text 5"/>
          <p:cNvSpPr/>
          <p:nvPr/>
        </p:nvSpPr>
        <p:spPr>
          <a:xfrm>
            <a:off x="822960" y="2788920"/>
            <a:ext cx="4846320" cy="685800"/>
          </a:xfrm>
          <a:prstGeom prst="rect">
            <a:avLst/>
          </a:prstGeom>
          <a:noFill/>
          <a:ln/>
        </p:spPr>
        <p:txBody>
          <a:bodyPr wrap="square" lIns="0" tIns="0" rIns="0" bIns="0" rtlCol="0" anchor="t"/>
          <a:lstStyle/>
          <a:p>
            <a:pPr indent="0" marL="0">
              <a:lnSpc>
                <a:spcPct val="125000"/>
              </a:lnSpc>
              <a:buNone/>
            </a:pPr>
            <a:r>
              <a:rPr lang="en-US" sz="1250" i="1" dirty="0">
                <a:solidFill>
                  <a:srgbClr val="23282E"/>
                </a:solidFill>
                <a:latin typeface="Calibri" pitchFamily="34" charset="0"/>
                <a:ea typeface="Calibri" pitchFamily="34" charset="-122"/>
                <a:cs typeface="Calibri" pitchFamily="34" charset="-120"/>
              </a:rPr>
              <a:t>"Write about dogs."</a:t>
            </a:r>
            <a:endParaRPr lang="en-US" sz="1250" dirty="0"/>
          </a:p>
        </p:txBody>
      </p:sp>
      <p:sp>
        <p:nvSpPr>
          <p:cNvPr id="8" name="Text 6"/>
          <p:cNvSpPr/>
          <p:nvPr/>
        </p:nvSpPr>
        <p:spPr>
          <a:xfrm>
            <a:off x="822960" y="3520440"/>
            <a:ext cx="4846320" cy="868680"/>
          </a:xfrm>
          <a:prstGeom prst="rect">
            <a:avLst/>
          </a:prstGeom>
          <a:noFill/>
          <a:ln/>
        </p:spPr>
        <p:txBody>
          <a:bodyPr wrap="square" lIns="0" tIns="0" rIns="0" bIns="0" rtlCol="0" anchor="t"/>
          <a:lstStyle/>
          <a:p>
            <a:pPr indent="0" marL="0">
              <a:lnSpc>
                <a:spcPct val="125000"/>
              </a:lnSpc>
              <a:buNone/>
            </a:pPr>
            <a:r>
              <a:rPr lang="en-US" sz="1100" dirty="0">
                <a:solidFill>
                  <a:srgbClr val="6B7280"/>
                </a:solidFill>
                <a:latin typeface="Calibri" pitchFamily="34" charset="0"/>
                <a:ea typeface="Calibri" pitchFamily="34" charset="-122"/>
                <a:cs typeface="Calibri" pitchFamily="34" charset="-120"/>
              </a:rPr>
              <a:t>Unclear length, tone, audience, or goal — the model has to guess everything.</a:t>
            </a:r>
            <a:endParaRPr lang="en-US" sz="1100" dirty="0"/>
          </a:p>
        </p:txBody>
      </p:sp>
      <p:sp>
        <p:nvSpPr>
          <p:cNvPr id="9" name="Shape 7"/>
          <p:cNvSpPr/>
          <p:nvPr/>
        </p:nvSpPr>
        <p:spPr>
          <a:xfrm>
            <a:off x="6172200" y="2194560"/>
            <a:ext cx="5394960" cy="2331720"/>
          </a:xfrm>
          <a:prstGeom prst="roundRect">
            <a:avLst>
              <a:gd name="adj" fmla="val 3137"/>
            </a:avLst>
          </a:prstGeom>
          <a:solidFill>
            <a:srgbClr val="F4F6F9"/>
          </a:solidFill>
          <a:ln w="15875">
            <a:solidFill>
              <a:srgbClr val="3E8E5A"/>
            </a:solidFill>
            <a:prstDash val="solid"/>
          </a:ln>
        </p:spPr>
      </p:sp>
      <p:sp>
        <p:nvSpPr>
          <p:cNvPr id="10" name="Text 8"/>
          <p:cNvSpPr/>
          <p:nvPr/>
        </p:nvSpPr>
        <p:spPr>
          <a:xfrm>
            <a:off x="6446520" y="2377440"/>
            <a:ext cx="4846320" cy="365760"/>
          </a:xfrm>
          <a:prstGeom prst="rect">
            <a:avLst/>
          </a:prstGeom>
          <a:noFill/>
          <a:ln/>
        </p:spPr>
        <p:txBody>
          <a:bodyPr wrap="square" lIns="0" tIns="0" rIns="0" bIns="0" rtlCol="0" anchor="ctr"/>
          <a:lstStyle/>
          <a:p>
            <a:pPr indent="0" marL="0">
              <a:buNone/>
            </a:pPr>
            <a:r>
              <a:rPr lang="en-US" sz="1450" b="1" dirty="0">
                <a:solidFill>
                  <a:srgbClr val="3E8E5A"/>
                </a:solidFill>
                <a:latin typeface="Cambria" pitchFamily="34" charset="0"/>
                <a:ea typeface="Cambria" pitchFamily="34" charset="-122"/>
                <a:cs typeface="Cambria" pitchFamily="34" charset="-120"/>
              </a:rPr>
              <a:t>Well-Structured Prompt</a:t>
            </a:r>
            <a:endParaRPr lang="en-US" sz="1450" dirty="0"/>
          </a:p>
        </p:txBody>
      </p:sp>
      <p:sp>
        <p:nvSpPr>
          <p:cNvPr id="11" name="Text 9"/>
          <p:cNvSpPr/>
          <p:nvPr/>
        </p:nvSpPr>
        <p:spPr>
          <a:xfrm>
            <a:off x="6446520" y="2788920"/>
            <a:ext cx="4846320" cy="685800"/>
          </a:xfrm>
          <a:prstGeom prst="rect">
            <a:avLst/>
          </a:prstGeom>
          <a:noFill/>
          <a:ln/>
        </p:spPr>
        <p:txBody>
          <a:bodyPr wrap="square" lIns="0" tIns="0" rIns="0" bIns="0" rtlCol="0" anchor="t"/>
          <a:lstStyle/>
          <a:p>
            <a:pPr indent="0" marL="0">
              <a:lnSpc>
                <a:spcPct val="125000"/>
              </a:lnSpc>
              <a:buNone/>
            </a:pPr>
            <a:r>
              <a:rPr lang="en-US" sz="1250" i="1" dirty="0">
                <a:solidFill>
                  <a:srgbClr val="23282E"/>
                </a:solidFill>
                <a:latin typeface="Calibri" pitchFamily="34" charset="0"/>
                <a:ea typeface="Calibri" pitchFamily="34" charset="-122"/>
                <a:cs typeface="Calibri" pitchFamily="34" charset="-120"/>
              </a:rPr>
              <a:t>"Write a 100-word, upbeat paragraph for kids explaining why dogs make great pets."</a:t>
            </a:r>
            <a:endParaRPr lang="en-US" sz="1250" dirty="0"/>
          </a:p>
        </p:txBody>
      </p:sp>
      <p:sp>
        <p:nvSpPr>
          <p:cNvPr id="12" name="Text 10"/>
          <p:cNvSpPr/>
          <p:nvPr/>
        </p:nvSpPr>
        <p:spPr>
          <a:xfrm>
            <a:off x="6446520" y="3520440"/>
            <a:ext cx="4846320" cy="868680"/>
          </a:xfrm>
          <a:prstGeom prst="rect">
            <a:avLst/>
          </a:prstGeom>
          <a:noFill/>
          <a:ln/>
        </p:spPr>
        <p:txBody>
          <a:bodyPr wrap="square" lIns="0" tIns="0" rIns="0" bIns="0" rtlCol="0" anchor="t"/>
          <a:lstStyle/>
          <a:p>
            <a:pPr indent="0" marL="0">
              <a:lnSpc>
                <a:spcPct val="125000"/>
              </a:lnSpc>
              <a:buNone/>
            </a:pPr>
            <a:r>
              <a:rPr lang="en-US" sz="1100" dirty="0">
                <a:solidFill>
                  <a:srgbClr val="6B7280"/>
                </a:solidFill>
                <a:latin typeface="Calibri" pitchFamily="34" charset="0"/>
                <a:ea typeface="Calibri" pitchFamily="34" charset="-122"/>
                <a:cs typeface="Calibri" pitchFamily="34" charset="-120"/>
              </a:rPr>
              <a:t>Clear length, tone, audience, and goal — far less left to chance.</a:t>
            </a:r>
            <a:endParaRPr lang="en-US" sz="1100" dirty="0"/>
          </a:p>
        </p:txBody>
      </p:sp>
      <p:sp>
        <p:nvSpPr>
          <p:cNvPr id="13" name="Shape 11"/>
          <p:cNvSpPr/>
          <p:nvPr/>
        </p:nvSpPr>
        <p:spPr>
          <a:xfrm>
            <a:off x="548640" y="4754880"/>
            <a:ext cx="11064240" cy="411480"/>
          </a:xfrm>
          <a:prstGeom prst="roundRect">
            <a:avLst>
              <a:gd name="adj" fmla="val 13333"/>
            </a:avLst>
          </a:prstGeom>
          <a:solidFill>
            <a:srgbClr val="16325C"/>
          </a:solidFill>
          <a:ln/>
        </p:spPr>
      </p:sp>
      <p:sp>
        <p:nvSpPr>
          <p:cNvPr id="14" name="Text 12"/>
          <p:cNvSpPr/>
          <p:nvPr/>
        </p:nvSpPr>
        <p:spPr>
          <a:xfrm>
            <a:off x="731520" y="4754880"/>
            <a:ext cx="521208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Technique</a:t>
            </a:r>
            <a:endParaRPr lang="en-US" sz="1200" dirty="0"/>
          </a:p>
        </p:txBody>
      </p:sp>
      <p:sp>
        <p:nvSpPr>
          <p:cNvPr id="15" name="Text 13"/>
          <p:cNvSpPr/>
          <p:nvPr/>
        </p:nvSpPr>
        <p:spPr>
          <a:xfrm>
            <a:off x="6263640" y="4754880"/>
            <a:ext cx="5212080" cy="41148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p>
        </p:txBody>
      </p:sp>
      <p:sp>
        <p:nvSpPr>
          <p:cNvPr id="16" name="Shape 14"/>
          <p:cNvSpPr/>
          <p:nvPr/>
        </p:nvSpPr>
        <p:spPr>
          <a:xfrm>
            <a:off x="548640" y="5166360"/>
            <a:ext cx="11064240" cy="411480"/>
          </a:xfrm>
          <a:prstGeom prst="rect">
            <a:avLst/>
          </a:prstGeom>
          <a:solidFill>
            <a:srgbClr val="F4F6F9"/>
          </a:solidFill>
          <a:ln/>
        </p:spPr>
      </p:sp>
      <p:sp>
        <p:nvSpPr>
          <p:cNvPr id="17" name="Text 15"/>
          <p:cNvSpPr/>
          <p:nvPr/>
        </p:nvSpPr>
        <p:spPr>
          <a:xfrm>
            <a:off x="731520" y="5166360"/>
            <a:ext cx="5212080" cy="411480"/>
          </a:xfrm>
          <a:prstGeom prst="rect">
            <a:avLst/>
          </a:prstGeom>
          <a:noFill/>
          <a:ln/>
        </p:spPr>
        <p:txBody>
          <a:bodyPr wrap="square" lIns="0" tIns="0" rIns="0" bIns="0" rtlCol="0" anchor="ctr"/>
          <a:lstStyle/>
          <a:p>
            <a:pPr indent="0" marL="0">
              <a:lnSpc>
                <a:spcPct val="105000"/>
              </a:lnSpc>
              <a:buNone/>
            </a:pPr>
            <a:r>
              <a:rPr lang="en-US" sz="1150" b="1" dirty="0">
                <a:solidFill>
                  <a:srgbClr val="23282E"/>
                </a:solidFill>
                <a:latin typeface="Calibri" pitchFamily="34" charset="0"/>
                <a:ea typeface="Calibri" pitchFamily="34" charset="-122"/>
                <a:cs typeface="Calibri" pitchFamily="34" charset="-120"/>
              </a:rPr>
              <a:t>Be specific</a:t>
            </a:r>
            <a:endParaRPr lang="en-US" sz="1150" dirty="0"/>
          </a:p>
        </p:txBody>
      </p:sp>
      <p:sp>
        <p:nvSpPr>
          <p:cNvPr id="18" name="Text 16"/>
          <p:cNvSpPr/>
          <p:nvPr/>
        </p:nvSpPr>
        <p:spPr>
          <a:xfrm>
            <a:off x="6263640" y="5166360"/>
            <a:ext cx="5212080" cy="411480"/>
          </a:xfrm>
          <a:prstGeom prst="rect">
            <a:avLst/>
          </a:prstGeom>
          <a:noFill/>
          <a:ln/>
        </p:spPr>
        <p:txBody>
          <a:bodyPr wrap="square" lIns="0" tIns="0" rIns="0" bIns="0" rtlCol="0" anchor="ctr"/>
          <a:lstStyle/>
          <a:p>
            <a:pPr indent="0" marL="0">
              <a:lnSpc>
                <a:spcPct val="105000"/>
              </a:lnSpc>
              <a:buNone/>
            </a:pPr>
            <a:r>
              <a:rPr lang="en-US" sz="1150" dirty="0">
                <a:solidFill>
                  <a:srgbClr val="23282E"/>
                </a:solidFill>
                <a:latin typeface="Calibri" pitchFamily="34" charset="0"/>
                <a:ea typeface="Calibri" pitchFamily="34" charset="-122"/>
                <a:cs typeface="Calibri" pitchFamily="34" charset="-120"/>
              </a:rPr>
              <a:t>State length, format, tone, and audience explicitly</a:t>
            </a:r>
            <a:endParaRPr lang="en-US" sz="1150" dirty="0"/>
          </a:p>
        </p:txBody>
      </p:sp>
      <p:sp>
        <p:nvSpPr>
          <p:cNvPr id="19" name="Shape 17"/>
          <p:cNvSpPr/>
          <p:nvPr/>
        </p:nvSpPr>
        <p:spPr>
          <a:xfrm>
            <a:off x="548640" y="5577840"/>
            <a:ext cx="11064240" cy="411480"/>
          </a:xfrm>
          <a:prstGeom prst="rect">
            <a:avLst/>
          </a:prstGeom>
          <a:solidFill>
            <a:srgbClr val="FFFFFF"/>
          </a:solidFill>
          <a:ln/>
        </p:spPr>
      </p:sp>
      <p:sp>
        <p:nvSpPr>
          <p:cNvPr id="20" name="Text 18"/>
          <p:cNvSpPr/>
          <p:nvPr/>
        </p:nvSpPr>
        <p:spPr>
          <a:xfrm>
            <a:off x="731520" y="5577840"/>
            <a:ext cx="5212080" cy="411480"/>
          </a:xfrm>
          <a:prstGeom prst="rect">
            <a:avLst/>
          </a:prstGeom>
          <a:noFill/>
          <a:ln/>
        </p:spPr>
        <p:txBody>
          <a:bodyPr wrap="square" lIns="0" tIns="0" rIns="0" bIns="0" rtlCol="0" anchor="ctr"/>
          <a:lstStyle/>
          <a:p>
            <a:pPr indent="0" marL="0">
              <a:lnSpc>
                <a:spcPct val="105000"/>
              </a:lnSpc>
              <a:buNone/>
            </a:pPr>
            <a:r>
              <a:rPr lang="en-US" sz="1150" b="1" dirty="0">
                <a:solidFill>
                  <a:srgbClr val="23282E"/>
                </a:solidFill>
                <a:latin typeface="Calibri" pitchFamily="34" charset="0"/>
                <a:ea typeface="Calibri" pitchFamily="34" charset="-122"/>
                <a:cs typeface="Calibri" pitchFamily="34" charset="-120"/>
              </a:rPr>
              <a:t>Give examples (few-shot)</a:t>
            </a:r>
            <a:endParaRPr lang="en-US" sz="1150" dirty="0"/>
          </a:p>
        </p:txBody>
      </p:sp>
      <p:sp>
        <p:nvSpPr>
          <p:cNvPr id="21" name="Text 19"/>
          <p:cNvSpPr/>
          <p:nvPr/>
        </p:nvSpPr>
        <p:spPr>
          <a:xfrm>
            <a:off x="6263640" y="5577840"/>
            <a:ext cx="5212080" cy="411480"/>
          </a:xfrm>
          <a:prstGeom prst="rect">
            <a:avLst/>
          </a:prstGeom>
          <a:noFill/>
          <a:ln/>
        </p:spPr>
        <p:txBody>
          <a:bodyPr wrap="square" lIns="0" tIns="0" rIns="0" bIns="0" rtlCol="0" anchor="ctr"/>
          <a:lstStyle/>
          <a:p>
            <a:pPr indent="0" marL="0">
              <a:lnSpc>
                <a:spcPct val="105000"/>
              </a:lnSpc>
              <a:buNone/>
            </a:pPr>
            <a:r>
              <a:rPr lang="en-US" sz="1150" dirty="0">
                <a:solidFill>
                  <a:srgbClr val="23282E"/>
                </a:solidFill>
                <a:latin typeface="Calibri" pitchFamily="34" charset="0"/>
                <a:ea typeface="Calibri" pitchFamily="34" charset="-122"/>
                <a:cs typeface="Calibri" pitchFamily="34" charset="-120"/>
              </a:rPr>
              <a:t>Show 1-2 examples of the output style you want</a:t>
            </a:r>
            <a:endParaRPr lang="en-US" sz="1150" dirty="0"/>
          </a:p>
        </p:txBody>
      </p:sp>
      <p:sp>
        <p:nvSpPr>
          <p:cNvPr id="22" name="Shape 20"/>
          <p:cNvSpPr/>
          <p:nvPr/>
        </p:nvSpPr>
        <p:spPr>
          <a:xfrm>
            <a:off x="548640" y="5989320"/>
            <a:ext cx="11064240" cy="411480"/>
          </a:xfrm>
          <a:prstGeom prst="rect">
            <a:avLst/>
          </a:prstGeom>
          <a:solidFill>
            <a:srgbClr val="F4F6F9"/>
          </a:solidFill>
          <a:ln/>
        </p:spPr>
      </p:sp>
      <p:sp>
        <p:nvSpPr>
          <p:cNvPr id="23" name="Text 21"/>
          <p:cNvSpPr/>
          <p:nvPr/>
        </p:nvSpPr>
        <p:spPr>
          <a:xfrm>
            <a:off x="731520" y="5989320"/>
            <a:ext cx="5212080" cy="411480"/>
          </a:xfrm>
          <a:prstGeom prst="rect">
            <a:avLst/>
          </a:prstGeom>
          <a:noFill/>
          <a:ln/>
        </p:spPr>
        <p:txBody>
          <a:bodyPr wrap="square" lIns="0" tIns="0" rIns="0" bIns="0" rtlCol="0" anchor="ctr"/>
          <a:lstStyle/>
          <a:p>
            <a:pPr indent="0" marL="0">
              <a:lnSpc>
                <a:spcPct val="105000"/>
              </a:lnSpc>
              <a:buNone/>
            </a:pPr>
            <a:r>
              <a:rPr lang="en-US" sz="1150" b="1" dirty="0">
                <a:solidFill>
                  <a:srgbClr val="23282E"/>
                </a:solidFill>
                <a:latin typeface="Calibri" pitchFamily="34" charset="0"/>
                <a:ea typeface="Calibri" pitchFamily="34" charset="-122"/>
                <a:cs typeface="Calibri" pitchFamily="34" charset="-120"/>
              </a:rPr>
              <a:t>Ask it to reason step by step</a:t>
            </a:r>
            <a:endParaRPr lang="en-US" sz="1150" dirty="0"/>
          </a:p>
        </p:txBody>
      </p:sp>
      <p:sp>
        <p:nvSpPr>
          <p:cNvPr id="24" name="Text 22"/>
          <p:cNvSpPr/>
          <p:nvPr/>
        </p:nvSpPr>
        <p:spPr>
          <a:xfrm>
            <a:off x="6263640" y="5989320"/>
            <a:ext cx="5212080" cy="411480"/>
          </a:xfrm>
          <a:prstGeom prst="rect">
            <a:avLst/>
          </a:prstGeom>
          <a:noFill/>
          <a:ln/>
        </p:spPr>
        <p:txBody>
          <a:bodyPr wrap="square" lIns="0" tIns="0" rIns="0" bIns="0" rtlCol="0" anchor="ctr"/>
          <a:lstStyle/>
          <a:p>
            <a:pPr indent="0" marL="0">
              <a:lnSpc>
                <a:spcPct val="105000"/>
              </a:lnSpc>
              <a:buNone/>
            </a:pPr>
            <a:r>
              <a:rPr lang="en-US" sz="1150" dirty="0">
                <a:solidFill>
                  <a:srgbClr val="23282E"/>
                </a:solidFill>
                <a:latin typeface="Calibri" pitchFamily="34" charset="0"/>
                <a:ea typeface="Calibri" pitchFamily="34" charset="-122"/>
                <a:cs typeface="Calibri" pitchFamily="34" charset="-120"/>
              </a:rPr>
              <a:t>Often improves accuracy on multi-step problems</a:t>
            </a:r>
            <a:endParaRPr lang="en-US" sz="1150" dirty="0"/>
          </a:p>
        </p:txBody>
      </p:sp>
      <p:sp>
        <p:nvSpPr>
          <p:cNvPr id="25" name="Text 23"/>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26" name="Text 24"/>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6 · A REAL LIMITATION</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Why LLMs Hallucinate</a:t>
            </a:r>
            <a:endParaRPr lang="en-US" sz="2700" dirty="0"/>
          </a:p>
        </p:txBody>
      </p:sp>
      <p:sp>
        <p:nvSpPr>
          <p:cNvPr id="4" name="Shape 2"/>
          <p:cNvSpPr/>
          <p:nvPr/>
        </p:nvSpPr>
        <p:spPr>
          <a:xfrm>
            <a:off x="548640" y="1600200"/>
            <a:ext cx="11064240" cy="1783080"/>
          </a:xfrm>
          <a:prstGeom prst="roundRect">
            <a:avLst>
              <a:gd name="adj" fmla="val 4103"/>
            </a:avLst>
          </a:prstGeom>
          <a:solidFill>
            <a:srgbClr val="F4F6F9"/>
          </a:solidFill>
          <a:ln/>
        </p:spPr>
      </p:sp>
      <p:sp>
        <p:nvSpPr>
          <p:cNvPr id="5" name="Text 3"/>
          <p:cNvSpPr/>
          <p:nvPr/>
        </p:nvSpPr>
        <p:spPr>
          <a:xfrm>
            <a:off x="868680" y="1783080"/>
            <a:ext cx="10424160" cy="1554480"/>
          </a:xfrm>
          <a:prstGeom prst="rect">
            <a:avLst/>
          </a:prstGeom>
          <a:noFill/>
          <a:ln/>
        </p:spPr>
        <p:txBody>
          <a:bodyPr wrap="square" lIns="0" tIns="0" rIns="0" bIns="0" rtlCol="0" anchor="t"/>
          <a:lstStyle/>
          <a:p>
            <a:pPr indent="0" marL="0">
              <a:lnSpc>
                <a:spcPct val="130000"/>
              </a:lnSpc>
              <a:buNone/>
            </a:pPr>
            <a:r>
              <a:rPr lang="en-US" sz="1450" b="1" dirty="0">
                <a:solidFill>
                  <a:srgbClr val="306998"/>
                </a:solidFill>
                <a:latin typeface="Calibri" pitchFamily="34" charset="0"/>
                <a:ea typeface="Calibri" pitchFamily="34" charset="-122"/>
                <a:cs typeface="Calibri" pitchFamily="34" charset="-120"/>
              </a:rPr>
              <a:t>Remember: the model was never trained to be "correct" — it was trained to be PLAUSIBLE.  </a:t>
            </a:r>
            <a:pPr indent="0" marL="0">
              <a:lnSpc>
                <a:spcPct val="130000"/>
              </a:lnSpc>
              <a:buNone/>
            </a:pPr>
            <a:r>
              <a:rPr lang="en-US" sz="1400" dirty="0">
                <a:solidFill>
                  <a:srgbClr val="23282E"/>
                </a:solidFill>
                <a:latin typeface="Calibri" pitchFamily="34" charset="0"/>
                <a:ea typeface="Calibri" pitchFamily="34" charset="-122"/>
                <a:cs typeface="Calibri" pitchFamily="34" charset="-120"/>
              </a:rPr>
              <a:t>It generates whatever text pattern-matches best, token by token. When it doesn't actually know something, it can still confidently generate something that SOUNDS right but isn't — a hallucination.</a:t>
            </a:r>
            <a:endParaRPr lang="en-US" sz="1450" dirty="0"/>
          </a:p>
        </p:txBody>
      </p:sp>
      <p:sp>
        <p:nvSpPr>
          <p:cNvPr id="6" name="Shape 4"/>
          <p:cNvSpPr/>
          <p:nvPr/>
        </p:nvSpPr>
        <p:spPr>
          <a:xfrm>
            <a:off x="548640" y="3566160"/>
            <a:ext cx="11064240" cy="1234440"/>
          </a:xfrm>
          <a:prstGeom prst="roundRect">
            <a:avLst>
              <a:gd name="adj" fmla="val 5926"/>
            </a:avLst>
          </a:prstGeom>
          <a:solidFill>
            <a:srgbClr val="FDF1E8"/>
          </a:solidFill>
          <a:ln/>
        </p:spPr>
      </p:sp>
      <p:sp>
        <p:nvSpPr>
          <p:cNvPr id="7" name="Text 5"/>
          <p:cNvSpPr/>
          <p:nvPr/>
        </p:nvSpPr>
        <p:spPr>
          <a:xfrm>
            <a:off x="868680" y="3566160"/>
            <a:ext cx="10424160" cy="1234440"/>
          </a:xfrm>
          <a:prstGeom prst="rect">
            <a:avLst/>
          </a:prstGeom>
          <a:noFill/>
          <a:ln/>
        </p:spPr>
        <p:txBody>
          <a:bodyPr wrap="square" lIns="0" tIns="0" rIns="0" bIns="0" rtlCol="0" anchor="ctr"/>
          <a:lstStyle/>
          <a:p>
            <a:pPr indent="0" marL="0">
              <a:lnSpc>
                <a:spcPct val="128000"/>
              </a:lnSpc>
              <a:buNone/>
            </a:pPr>
            <a:r>
              <a:rPr lang="en-US" sz="1350" b="1" dirty="0">
                <a:solidFill>
                  <a:srgbClr val="C24B4B"/>
                </a:solidFill>
                <a:latin typeface="Calibri" pitchFamily="34" charset="0"/>
                <a:ea typeface="Calibri" pitchFamily="34" charset="-122"/>
                <a:cs typeface="Calibri" pitchFamily="34" charset="-120"/>
              </a:rPr>
              <a:t>Example:  </a:t>
            </a:r>
            <a:pPr indent="0" marL="0">
              <a:lnSpc>
                <a:spcPct val="128000"/>
              </a:lnSpc>
              <a:buNone/>
            </a:pPr>
            <a:r>
              <a:rPr lang="en-US" sz="1300" i="1" dirty="0">
                <a:solidFill>
                  <a:srgbClr val="23282E"/>
                </a:solidFill>
                <a:latin typeface="Calibri" pitchFamily="34" charset="0"/>
                <a:ea typeface="Calibri" pitchFamily="34" charset="-122"/>
                <a:cs typeface="Calibri" pitchFamily="34" charset="-120"/>
              </a:rPr>
              <a:t>"Cite the exact page number where Einstein said this quote" → the model may confidently invent a specific-sounding page number that doesn't exist, because a specific-sounding number is what a real citation PATTERN looks like.</a:t>
            </a:r>
            <a:endParaRPr lang="en-US" sz="1350" dirty="0"/>
          </a:p>
        </p:txBody>
      </p:sp>
      <p:sp>
        <p:nvSpPr>
          <p:cNvPr id="8" name="Shape 6"/>
          <p:cNvSpPr/>
          <p:nvPr/>
        </p:nvSpPr>
        <p:spPr>
          <a:xfrm>
            <a:off x="548640" y="5029200"/>
            <a:ext cx="11064240" cy="457200"/>
          </a:xfrm>
          <a:prstGeom prst="roundRect">
            <a:avLst>
              <a:gd name="adj" fmla="val 12000"/>
            </a:avLst>
          </a:prstGeom>
          <a:solidFill>
            <a:srgbClr val="16325C"/>
          </a:solidFill>
          <a:ln/>
        </p:spPr>
      </p:sp>
      <p:sp>
        <p:nvSpPr>
          <p:cNvPr id="9" name="Text 7"/>
          <p:cNvSpPr/>
          <p:nvPr/>
        </p:nvSpPr>
        <p:spPr>
          <a:xfrm>
            <a:off x="731520" y="5029200"/>
            <a:ext cx="52120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Helps</a:t>
            </a:r>
            <a:endParaRPr lang="en-US" sz="1200" dirty="0"/>
          </a:p>
        </p:txBody>
      </p:sp>
      <p:sp>
        <p:nvSpPr>
          <p:cNvPr id="10" name="Text 8"/>
          <p:cNvSpPr/>
          <p:nvPr/>
        </p:nvSpPr>
        <p:spPr>
          <a:xfrm>
            <a:off x="6263640" y="5029200"/>
            <a:ext cx="5212080" cy="45720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p>
        </p:txBody>
      </p:sp>
      <p:sp>
        <p:nvSpPr>
          <p:cNvPr id="11" name="Shape 9"/>
          <p:cNvSpPr/>
          <p:nvPr/>
        </p:nvSpPr>
        <p:spPr>
          <a:xfrm>
            <a:off x="548640" y="5486400"/>
            <a:ext cx="11064240" cy="457200"/>
          </a:xfrm>
          <a:prstGeom prst="rect">
            <a:avLst/>
          </a:prstGeom>
          <a:solidFill>
            <a:srgbClr val="F4F6F9"/>
          </a:solidFill>
          <a:ln/>
        </p:spPr>
      </p:sp>
      <p:sp>
        <p:nvSpPr>
          <p:cNvPr id="12" name="Text 10"/>
          <p:cNvSpPr/>
          <p:nvPr/>
        </p:nvSpPr>
        <p:spPr>
          <a:xfrm>
            <a:off x="731520" y="5486400"/>
            <a:ext cx="5212080" cy="457200"/>
          </a:xfrm>
          <a:prstGeom prst="rect">
            <a:avLst/>
          </a:prstGeom>
          <a:noFill/>
          <a:ln/>
        </p:spPr>
        <p:txBody>
          <a:bodyPr wrap="square" lIns="0" tIns="0" rIns="0" bIns="0" rtlCol="0" anchor="ctr"/>
          <a:lstStyle/>
          <a:p>
            <a:pPr indent="0" marL="0">
              <a:lnSpc>
                <a:spcPct val="105000"/>
              </a:lnSpc>
              <a:buNone/>
            </a:pPr>
            <a:r>
              <a:rPr lang="en-US" sz="1150" b="1" dirty="0">
                <a:solidFill>
                  <a:srgbClr val="23282E"/>
                </a:solidFill>
                <a:latin typeface="Calibri" pitchFamily="34" charset="0"/>
                <a:ea typeface="Calibri" pitchFamily="34" charset="-122"/>
                <a:cs typeface="Calibri" pitchFamily="34" charset="-120"/>
              </a:rPr>
              <a:t>Ask for sources, then verify them</a:t>
            </a:r>
            <a:endParaRPr lang="en-US" sz="1150" dirty="0"/>
          </a:p>
        </p:txBody>
      </p:sp>
      <p:sp>
        <p:nvSpPr>
          <p:cNvPr id="13" name="Text 11"/>
          <p:cNvSpPr/>
          <p:nvPr/>
        </p:nvSpPr>
        <p:spPr>
          <a:xfrm>
            <a:off x="6263640" y="5486400"/>
            <a:ext cx="5212080" cy="457200"/>
          </a:xfrm>
          <a:prstGeom prst="rect">
            <a:avLst/>
          </a:prstGeom>
          <a:noFill/>
          <a:ln/>
        </p:spPr>
        <p:txBody>
          <a:bodyPr wrap="square" lIns="0" tIns="0" rIns="0" bIns="0" rtlCol="0" anchor="ctr"/>
          <a:lstStyle/>
          <a:p>
            <a:pPr indent="0" marL="0">
              <a:lnSpc>
                <a:spcPct val="105000"/>
              </a:lnSpc>
              <a:buNone/>
            </a:pPr>
            <a:r>
              <a:rPr lang="en-US" sz="1150" dirty="0">
                <a:solidFill>
                  <a:srgbClr val="23282E"/>
                </a:solidFill>
                <a:latin typeface="Calibri" pitchFamily="34" charset="0"/>
                <a:ea typeface="Calibri" pitchFamily="34" charset="-122"/>
                <a:cs typeface="Calibri" pitchFamily="34" charset="-120"/>
              </a:rPr>
              <a:t>Forces a checkable claim instead of a vague one</a:t>
            </a:r>
            <a:endParaRPr lang="en-US" sz="1150" dirty="0"/>
          </a:p>
        </p:txBody>
      </p:sp>
      <p:sp>
        <p:nvSpPr>
          <p:cNvPr id="14" name="Shape 12"/>
          <p:cNvSpPr/>
          <p:nvPr/>
        </p:nvSpPr>
        <p:spPr>
          <a:xfrm>
            <a:off x="548640" y="5943600"/>
            <a:ext cx="11064240" cy="457200"/>
          </a:xfrm>
          <a:prstGeom prst="rect">
            <a:avLst/>
          </a:prstGeom>
          <a:solidFill>
            <a:srgbClr val="FFFFFF"/>
          </a:solidFill>
          <a:ln/>
        </p:spPr>
      </p:sp>
      <p:sp>
        <p:nvSpPr>
          <p:cNvPr id="15" name="Text 13"/>
          <p:cNvSpPr/>
          <p:nvPr/>
        </p:nvSpPr>
        <p:spPr>
          <a:xfrm>
            <a:off x="731520" y="5943600"/>
            <a:ext cx="5212080" cy="457200"/>
          </a:xfrm>
          <a:prstGeom prst="rect">
            <a:avLst/>
          </a:prstGeom>
          <a:noFill/>
          <a:ln/>
        </p:spPr>
        <p:txBody>
          <a:bodyPr wrap="square" lIns="0" tIns="0" rIns="0" bIns="0" rtlCol="0" anchor="ctr"/>
          <a:lstStyle/>
          <a:p>
            <a:pPr indent="0" marL="0">
              <a:lnSpc>
                <a:spcPct val="105000"/>
              </a:lnSpc>
              <a:buNone/>
            </a:pPr>
            <a:r>
              <a:rPr lang="en-US" sz="1150" b="1" dirty="0">
                <a:solidFill>
                  <a:srgbClr val="23282E"/>
                </a:solidFill>
                <a:latin typeface="Calibri" pitchFamily="34" charset="0"/>
                <a:ea typeface="Calibri" pitchFamily="34" charset="-122"/>
                <a:cs typeface="Calibri" pitchFamily="34" charset="-120"/>
              </a:rPr>
              <a:t>Give it the actual reference text</a:t>
            </a:r>
            <a:endParaRPr lang="en-US" sz="1150" dirty="0"/>
          </a:p>
        </p:txBody>
      </p:sp>
      <p:sp>
        <p:nvSpPr>
          <p:cNvPr id="16" name="Text 14"/>
          <p:cNvSpPr/>
          <p:nvPr/>
        </p:nvSpPr>
        <p:spPr>
          <a:xfrm>
            <a:off x="6263640" y="5943600"/>
            <a:ext cx="5212080" cy="457200"/>
          </a:xfrm>
          <a:prstGeom prst="rect">
            <a:avLst/>
          </a:prstGeom>
          <a:noFill/>
          <a:ln/>
        </p:spPr>
        <p:txBody>
          <a:bodyPr wrap="square" lIns="0" tIns="0" rIns="0" bIns="0" rtlCol="0" anchor="ctr"/>
          <a:lstStyle/>
          <a:p>
            <a:pPr indent="0" marL="0">
              <a:lnSpc>
                <a:spcPct val="105000"/>
              </a:lnSpc>
              <a:buNone/>
            </a:pPr>
            <a:r>
              <a:rPr lang="en-US" sz="1150" dirty="0">
                <a:solidFill>
                  <a:srgbClr val="23282E"/>
                </a:solidFill>
                <a:latin typeface="Calibri" pitchFamily="34" charset="0"/>
                <a:ea typeface="Calibri" pitchFamily="34" charset="-122"/>
                <a:cs typeface="Calibri" pitchFamily="34" charset="-120"/>
              </a:rPr>
              <a:t>Grounds the answer in real provided context</a:t>
            </a:r>
            <a:endParaRPr lang="en-US" sz="1150" dirty="0"/>
          </a:p>
        </p:txBody>
      </p:sp>
      <p:sp>
        <p:nvSpPr>
          <p:cNvPr id="17" name="Text 15"/>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18" name="Text 16"/>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PART 6 · WHERE THIS SHOWS UP</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Real-World Applications</a:t>
            </a:r>
            <a:endParaRPr lang="en-US" sz="2700" dirty="0"/>
          </a:p>
        </p:txBody>
      </p:sp>
      <p:sp>
        <p:nvSpPr>
          <p:cNvPr id="4" name="Shape 2"/>
          <p:cNvSpPr/>
          <p:nvPr/>
        </p:nvSpPr>
        <p:spPr>
          <a:xfrm>
            <a:off x="548640" y="1691640"/>
            <a:ext cx="3538728" cy="1691640"/>
          </a:xfrm>
          <a:prstGeom prst="roundRect">
            <a:avLst>
              <a:gd name="adj" fmla="val 4324"/>
            </a:avLst>
          </a:prstGeom>
          <a:solidFill>
            <a:srgbClr val="F4F6F9"/>
          </a:solidFill>
          <a:ln/>
        </p:spPr>
      </p:sp>
      <p:sp>
        <p:nvSpPr>
          <p:cNvPr id="5" name="Text 3"/>
          <p:cNvSpPr/>
          <p:nvPr/>
        </p:nvSpPr>
        <p:spPr>
          <a:xfrm>
            <a:off x="777240" y="1892808"/>
            <a:ext cx="3081528" cy="502920"/>
          </a:xfrm>
          <a:prstGeom prst="rect">
            <a:avLst/>
          </a:prstGeom>
          <a:noFill/>
          <a:ln/>
        </p:spPr>
        <p:txBody>
          <a:bodyPr wrap="square" lIns="0" tIns="0" rIns="0" bIns="0" rtlCol="0" anchor="t"/>
          <a:lstStyle/>
          <a:p>
            <a:pPr indent="0" marL="0">
              <a:buNone/>
            </a:pPr>
            <a:r>
              <a:rPr lang="en-US" sz="1350" b="1" dirty="0">
                <a:solidFill>
                  <a:srgbClr val="23282E"/>
                </a:solidFill>
                <a:latin typeface="Cambria" pitchFamily="34" charset="0"/>
                <a:ea typeface="Cambria" pitchFamily="34" charset="-122"/>
                <a:cs typeface="Cambria" pitchFamily="34" charset="-120"/>
              </a:rPr>
              <a:t>Chatbots &amp; Assistants</a:t>
            </a:r>
            <a:endParaRPr lang="en-US" sz="1350" dirty="0"/>
          </a:p>
        </p:txBody>
      </p:sp>
      <p:sp>
        <p:nvSpPr>
          <p:cNvPr id="6" name="Text 4"/>
          <p:cNvSpPr/>
          <p:nvPr/>
        </p:nvSpPr>
        <p:spPr>
          <a:xfrm>
            <a:off x="777240" y="2468880"/>
            <a:ext cx="3081528" cy="777240"/>
          </a:xfrm>
          <a:prstGeom prst="rect">
            <a:avLst/>
          </a:prstGeom>
          <a:noFill/>
          <a:ln/>
        </p:spPr>
        <p:txBody>
          <a:bodyPr wrap="square" lIns="0" tIns="0" rIns="0" bIns="0" rtlCol="0" anchor="t"/>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Customer support, coding help, tutoring, general Q&amp;A.</a:t>
            </a:r>
            <a:endParaRPr lang="en-US" sz="1100" dirty="0"/>
          </a:p>
        </p:txBody>
      </p:sp>
      <p:sp>
        <p:nvSpPr>
          <p:cNvPr id="7" name="Shape 5"/>
          <p:cNvSpPr/>
          <p:nvPr/>
        </p:nvSpPr>
        <p:spPr>
          <a:xfrm>
            <a:off x="4224528" y="1691640"/>
            <a:ext cx="3538728" cy="1691640"/>
          </a:xfrm>
          <a:prstGeom prst="roundRect">
            <a:avLst>
              <a:gd name="adj" fmla="val 4324"/>
            </a:avLst>
          </a:prstGeom>
          <a:solidFill>
            <a:srgbClr val="F4F6F9"/>
          </a:solidFill>
          <a:ln/>
        </p:spPr>
      </p:sp>
      <p:sp>
        <p:nvSpPr>
          <p:cNvPr id="8" name="Text 6"/>
          <p:cNvSpPr/>
          <p:nvPr/>
        </p:nvSpPr>
        <p:spPr>
          <a:xfrm>
            <a:off x="4453128" y="1892808"/>
            <a:ext cx="3081528" cy="502920"/>
          </a:xfrm>
          <a:prstGeom prst="rect">
            <a:avLst/>
          </a:prstGeom>
          <a:noFill/>
          <a:ln/>
        </p:spPr>
        <p:txBody>
          <a:bodyPr wrap="square" lIns="0" tIns="0" rIns="0" bIns="0" rtlCol="0" anchor="t"/>
          <a:lstStyle/>
          <a:p>
            <a:pPr indent="0" marL="0">
              <a:buNone/>
            </a:pPr>
            <a:r>
              <a:rPr lang="en-US" sz="1350" b="1" dirty="0">
                <a:solidFill>
                  <a:srgbClr val="23282E"/>
                </a:solidFill>
                <a:latin typeface="Cambria" pitchFamily="34" charset="0"/>
                <a:ea typeface="Cambria" pitchFamily="34" charset="-122"/>
                <a:cs typeface="Cambria" pitchFamily="34" charset="-120"/>
              </a:rPr>
              <a:t>Content &amp; Copywriting</a:t>
            </a:r>
            <a:endParaRPr lang="en-US" sz="1350" dirty="0"/>
          </a:p>
        </p:txBody>
      </p:sp>
      <p:sp>
        <p:nvSpPr>
          <p:cNvPr id="9" name="Text 7"/>
          <p:cNvSpPr/>
          <p:nvPr/>
        </p:nvSpPr>
        <p:spPr>
          <a:xfrm>
            <a:off x="4453128" y="2468880"/>
            <a:ext cx="3081528" cy="777240"/>
          </a:xfrm>
          <a:prstGeom prst="rect">
            <a:avLst/>
          </a:prstGeom>
          <a:noFill/>
          <a:ln/>
        </p:spPr>
        <p:txBody>
          <a:bodyPr wrap="square" lIns="0" tIns="0" rIns="0" bIns="0" rtlCol="0" anchor="t"/>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Drafting emails, articles, marketing copy, summaries.</a:t>
            </a:r>
            <a:endParaRPr lang="en-US" sz="1100" dirty="0"/>
          </a:p>
        </p:txBody>
      </p:sp>
      <p:sp>
        <p:nvSpPr>
          <p:cNvPr id="10" name="Shape 8"/>
          <p:cNvSpPr/>
          <p:nvPr/>
        </p:nvSpPr>
        <p:spPr>
          <a:xfrm>
            <a:off x="7900416" y="1691640"/>
            <a:ext cx="3538728" cy="1691640"/>
          </a:xfrm>
          <a:prstGeom prst="roundRect">
            <a:avLst>
              <a:gd name="adj" fmla="val 4324"/>
            </a:avLst>
          </a:prstGeom>
          <a:solidFill>
            <a:srgbClr val="F4F6F9"/>
          </a:solidFill>
          <a:ln/>
        </p:spPr>
      </p:sp>
      <p:sp>
        <p:nvSpPr>
          <p:cNvPr id="11" name="Text 9"/>
          <p:cNvSpPr/>
          <p:nvPr/>
        </p:nvSpPr>
        <p:spPr>
          <a:xfrm>
            <a:off x="8129016" y="1892808"/>
            <a:ext cx="3081528" cy="502920"/>
          </a:xfrm>
          <a:prstGeom prst="rect">
            <a:avLst/>
          </a:prstGeom>
          <a:noFill/>
          <a:ln/>
        </p:spPr>
        <p:txBody>
          <a:bodyPr wrap="square" lIns="0" tIns="0" rIns="0" bIns="0" rtlCol="0" anchor="t"/>
          <a:lstStyle/>
          <a:p>
            <a:pPr indent="0" marL="0">
              <a:buNone/>
            </a:pPr>
            <a:r>
              <a:rPr lang="en-US" sz="1350" b="1" dirty="0">
                <a:solidFill>
                  <a:srgbClr val="23282E"/>
                </a:solidFill>
                <a:latin typeface="Cambria" pitchFamily="34" charset="0"/>
                <a:ea typeface="Cambria" pitchFamily="34" charset="-122"/>
                <a:cs typeface="Cambria" pitchFamily="34" charset="-120"/>
              </a:rPr>
              <a:t>Code Generation</a:t>
            </a:r>
            <a:endParaRPr lang="en-US" sz="1350" dirty="0"/>
          </a:p>
        </p:txBody>
      </p:sp>
      <p:sp>
        <p:nvSpPr>
          <p:cNvPr id="12" name="Text 10"/>
          <p:cNvSpPr/>
          <p:nvPr/>
        </p:nvSpPr>
        <p:spPr>
          <a:xfrm>
            <a:off x="8129016" y="2468880"/>
            <a:ext cx="3081528" cy="777240"/>
          </a:xfrm>
          <a:prstGeom prst="rect">
            <a:avLst/>
          </a:prstGeom>
          <a:noFill/>
          <a:ln/>
        </p:spPr>
        <p:txBody>
          <a:bodyPr wrap="square" lIns="0" tIns="0" rIns="0" bIns="0" rtlCol="0" anchor="t"/>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Writing, explaining, and debugging code from a description.</a:t>
            </a:r>
            <a:endParaRPr lang="en-US" sz="1100" dirty="0"/>
          </a:p>
        </p:txBody>
      </p:sp>
      <p:sp>
        <p:nvSpPr>
          <p:cNvPr id="13" name="Shape 11"/>
          <p:cNvSpPr/>
          <p:nvPr/>
        </p:nvSpPr>
        <p:spPr>
          <a:xfrm>
            <a:off x="548640" y="3566160"/>
            <a:ext cx="3538728" cy="1691640"/>
          </a:xfrm>
          <a:prstGeom prst="roundRect">
            <a:avLst>
              <a:gd name="adj" fmla="val 4324"/>
            </a:avLst>
          </a:prstGeom>
          <a:solidFill>
            <a:srgbClr val="F4F6F9"/>
          </a:solidFill>
          <a:ln/>
        </p:spPr>
      </p:sp>
      <p:sp>
        <p:nvSpPr>
          <p:cNvPr id="14" name="Text 12"/>
          <p:cNvSpPr/>
          <p:nvPr/>
        </p:nvSpPr>
        <p:spPr>
          <a:xfrm>
            <a:off x="777240" y="3767328"/>
            <a:ext cx="3081528" cy="502920"/>
          </a:xfrm>
          <a:prstGeom prst="rect">
            <a:avLst/>
          </a:prstGeom>
          <a:noFill/>
          <a:ln/>
        </p:spPr>
        <p:txBody>
          <a:bodyPr wrap="square" lIns="0" tIns="0" rIns="0" bIns="0" rtlCol="0" anchor="t"/>
          <a:lstStyle/>
          <a:p>
            <a:pPr indent="0" marL="0">
              <a:buNone/>
            </a:pPr>
            <a:r>
              <a:rPr lang="en-US" sz="1350" b="1" dirty="0">
                <a:solidFill>
                  <a:srgbClr val="23282E"/>
                </a:solidFill>
                <a:latin typeface="Cambria" pitchFamily="34" charset="0"/>
                <a:ea typeface="Cambria" pitchFamily="34" charset="-122"/>
                <a:cs typeface="Cambria" pitchFamily="34" charset="-120"/>
              </a:rPr>
              <a:t>Image Generation</a:t>
            </a:r>
            <a:endParaRPr lang="en-US" sz="1350" dirty="0"/>
          </a:p>
        </p:txBody>
      </p:sp>
      <p:sp>
        <p:nvSpPr>
          <p:cNvPr id="15" name="Text 13"/>
          <p:cNvSpPr/>
          <p:nvPr/>
        </p:nvSpPr>
        <p:spPr>
          <a:xfrm>
            <a:off x="777240" y="4343400"/>
            <a:ext cx="3081528" cy="777240"/>
          </a:xfrm>
          <a:prstGeom prst="rect">
            <a:avLst/>
          </a:prstGeom>
          <a:noFill/>
          <a:ln/>
        </p:spPr>
        <p:txBody>
          <a:bodyPr wrap="square" lIns="0" tIns="0" rIns="0" bIns="0" rtlCol="0" anchor="t"/>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Diffusion models like DALL-E and Midjourney create images from text.</a:t>
            </a:r>
            <a:endParaRPr lang="en-US" sz="1100" dirty="0"/>
          </a:p>
        </p:txBody>
      </p:sp>
      <p:sp>
        <p:nvSpPr>
          <p:cNvPr id="16" name="Shape 14"/>
          <p:cNvSpPr/>
          <p:nvPr/>
        </p:nvSpPr>
        <p:spPr>
          <a:xfrm>
            <a:off x="4224528" y="3566160"/>
            <a:ext cx="3538728" cy="1691640"/>
          </a:xfrm>
          <a:prstGeom prst="roundRect">
            <a:avLst>
              <a:gd name="adj" fmla="val 4324"/>
            </a:avLst>
          </a:prstGeom>
          <a:solidFill>
            <a:srgbClr val="F4F6F9"/>
          </a:solidFill>
          <a:ln/>
        </p:spPr>
      </p:sp>
      <p:sp>
        <p:nvSpPr>
          <p:cNvPr id="17" name="Text 15"/>
          <p:cNvSpPr/>
          <p:nvPr/>
        </p:nvSpPr>
        <p:spPr>
          <a:xfrm>
            <a:off x="4453128" y="3767328"/>
            <a:ext cx="3081528" cy="502920"/>
          </a:xfrm>
          <a:prstGeom prst="rect">
            <a:avLst/>
          </a:prstGeom>
          <a:noFill/>
          <a:ln/>
        </p:spPr>
        <p:txBody>
          <a:bodyPr wrap="square" lIns="0" tIns="0" rIns="0" bIns="0" rtlCol="0" anchor="t"/>
          <a:lstStyle/>
          <a:p>
            <a:pPr indent="0" marL="0">
              <a:buNone/>
            </a:pPr>
            <a:r>
              <a:rPr lang="en-US" sz="1350" b="1" dirty="0">
                <a:solidFill>
                  <a:srgbClr val="23282E"/>
                </a:solidFill>
                <a:latin typeface="Cambria" pitchFamily="34" charset="0"/>
                <a:ea typeface="Cambria" pitchFamily="34" charset="-122"/>
                <a:cs typeface="Cambria" pitchFamily="34" charset="-120"/>
              </a:rPr>
              <a:t>Translation</a:t>
            </a:r>
            <a:endParaRPr lang="en-US" sz="1350" dirty="0"/>
          </a:p>
        </p:txBody>
      </p:sp>
      <p:sp>
        <p:nvSpPr>
          <p:cNvPr id="18" name="Text 16"/>
          <p:cNvSpPr/>
          <p:nvPr/>
        </p:nvSpPr>
        <p:spPr>
          <a:xfrm>
            <a:off x="4453128" y="4343400"/>
            <a:ext cx="3081528" cy="777240"/>
          </a:xfrm>
          <a:prstGeom prst="rect">
            <a:avLst/>
          </a:prstGeom>
          <a:noFill/>
          <a:ln/>
        </p:spPr>
        <p:txBody>
          <a:bodyPr wrap="square" lIns="0" tIns="0" rIns="0" bIns="0" rtlCol="0" anchor="t"/>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Fluent, context-aware translation between languages.</a:t>
            </a:r>
            <a:endParaRPr lang="en-US" sz="1100" dirty="0"/>
          </a:p>
        </p:txBody>
      </p:sp>
      <p:sp>
        <p:nvSpPr>
          <p:cNvPr id="19" name="Shape 17"/>
          <p:cNvSpPr/>
          <p:nvPr/>
        </p:nvSpPr>
        <p:spPr>
          <a:xfrm>
            <a:off x="7900416" y="3566160"/>
            <a:ext cx="3538728" cy="1691640"/>
          </a:xfrm>
          <a:prstGeom prst="roundRect">
            <a:avLst>
              <a:gd name="adj" fmla="val 4324"/>
            </a:avLst>
          </a:prstGeom>
          <a:solidFill>
            <a:srgbClr val="F4F6F9"/>
          </a:solidFill>
          <a:ln/>
        </p:spPr>
      </p:sp>
      <p:sp>
        <p:nvSpPr>
          <p:cNvPr id="20" name="Text 18"/>
          <p:cNvSpPr/>
          <p:nvPr/>
        </p:nvSpPr>
        <p:spPr>
          <a:xfrm>
            <a:off x="8129016" y="3767328"/>
            <a:ext cx="3081528" cy="502920"/>
          </a:xfrm>
          <a:prstGeom prst="rect">
            <a:avLst/>
          </a:prstGeom>
          <a:noFill/>
          <a:ln/>
        </p:spPr>
        <p:txBody>
          <a:bodyPr wrap="square" lIns="0" tIns="0" rIns="0" bIns="0" rtlCol="0" anchor="t"/>
          <a:lstStyle/>
          <a:p>
            <a:pPr indent="0" marL="0">
              <a:buNone/>
            </a:pPr>
            <a:r>
              <a:rPr lang="en-US" sz="1350" b="1" dirty="0">
                <a:solidFill>
                  <a:srgbClr val="23282E"/>
                </a:solidFill>
                <a:latin typeface="Cambria" pitchFamily="34" charset="0"/>
                <a:ea typeface="Cambria" pitchFamily="34" charset="-122"/>
                <a:cs typeface="Cambria" pitchFamily="34" charset="-120"/>
              </a:rPr>
              <a:t>Agents</a:t>
            </a:r>
            <a:endParaRPr lang="en-US" sz="1350" dirty="0"/>
          </a:p>
        </p:txBody>
      </p:sp>
      <p:sp>
        <p:nvSpPr>
          <p:cNvPr id="21" name="Text 19"/>
          <p:cNvSpPr/>
          <p:nvPr/>
        </p:nvSpPr>
        <p:spPr>
          <a:xfrm>
            <a:off x="8129016" y="4343400"/>
            <a:ext cx="3081528" cy="777240"/>
          </a:xfrm>
          <a:prstGeom prst="rect">
            <a:avLst/>
          </a:prstGeom>
          <a:noFill/>
          <a:ln/>
        </p:spPr>
        <p:txBody>
          <a:bodyPr wrap="square" lIns="0" tIns="0" rIns="0" bIns="0" rtlCol="0" anchor="t"/>
          <a:lstStyle/>
          <a:p>
            <a:pPr indent="0" marL="0">
              <a:lnSpc>
                <a:spcPct val="120000"/>
              </a:lnSpc>
              <a:buNone/>
            </a:pPr>
            <a:r>
              <a:rPr lang="en-US" sz="1100" dirty="0">
                <a:solidFill>
                  <a:srgbClr val="6B7280"/>
                </a:solidFill>
                <a:latin typeface="Calibri" pitchFamily="34" charset="0"/>
                <a:ea typeface="Calibri" pitchFamily="34" charset="-122"/>
                <a:cs typeface="Calibri" pitchFamily="34" charset="-120"/>
              </a:rPr>
              <a:t>Models that plan, use tools, and take multi-step actions on their own.</a:t>
            </a:r>
            <a:endParaRPr lang="en-US" sz="1100" dirty="0"/>
          </a:p>
        </p:txBody>
      </p:sp>
      <p:sp>
        <p:nvSpPr>
          <p:cNvPr id="22" name="Text 20"/>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23" name="Text 21"/>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AF3FB"/>
        </a:solidFill>
      </p:bgPr>
    </p:bg>
    <p:spTree>
      <p:nvGrpSpPr>
        <p:cNvPr id="1" name=""/>
        <p:cNvGrpSpPr/>
        <p:nvPr/>
      </p:nvGrpSpPr>
      <p:grpSpPr>
        <a:xfrm>
          <a:off x="0" y="0"/>
          <a:ext cx="0" cy="0"/>
          <a:chOff x="0" y="0"/>
          <a:chExt cx="0" cy="0"/>
        </a:xfrm>
      </p:grpSpPr>
      <p:sp>
        <p:nvSpPr>
          <p:cNvPr id="2" name="Shape 0"/>
          <p:cNvSpPr/>
          <p:nvPr/>
        </p:nvSpPr>
        <p:spPr>
          <a:xfrm>
            <a:off x="548640" y="457200"/>
            <a:ext cx="822960" cy="822960"/>
          </a:xfrm>
          <a:prstGeom prst="ellipse">
            <a:avLst/>
          </a:prstGeom>
          <a:solidFill>
            <a:srgbClr val="E8B923"/>
          </a:solidFill>
          <a:ln/>
        </p:spPr>
      </p:sp>
      <p:sp>
        <p:nvSpPr>
          <p:cNvPr id="3" name="Text 1"/>
          <p:cNvSpPr/>
          <p:nvPr/>
        </p:nvSpPr>
        <p:spPr>
          <a:xfrm>
            <a:off x="548640" y="45720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a:t>
            </a:r>
            <a:endParaRPr lang="en-US" sz="3200" dirty="0"/>
          </a:p>
        </p:txBody>
      </p:sp>
      <p:sp>
        <p:nvSpPr>
          <p:cNvPr id="4" name="Text 2"/>
          <p:cNvSpPr/>
          <p:nvPr/>
        </p:nvSpPr>
        <p:spPr>
          <a:xfrm>
            <a:off x="1554480" y="457200"/>
            <a:ext cx="5486400" cy="365760"/>
          </a:xfrm>
          <a:prstGeom prst="rect">
            <a:avLst/>
          </a:prstGeom>
          <a:noFill/>
          <a:ln/>
        </p:spPr>
        <p:txBody>
          <a:bodyPr wrap="square" lIns="0" tIns="0" rIns="0" bIns="0" rtlCol="0" anchor="ctr"/>
          <a:lstStyle/>
          <a:p>
            <a:pPr indent="0" marL="0">
              <a:buNone/>
            </a:pPr>
            <a:r>
              <a:rPr lang="en-US" sz="1300" b="1" spc="200" kern="0" dirty="0">
                <a:solidFill>
                  <a:srgbClr val="E8B923"/>
                </a:solidFill>
                <a:latin typeface="Calibri" pitchFamily="34" charset="0"/>
                <a:ea typeface="Calibri" pitchFamily="34" charset="-122"/>
                <a:cs typeface="Calibri" pitchFamily="34" charset="-120"/>
              </a:rPr>
              <a:t>QUICK CHECK 6</a:t>
            </a:r>
            <a:endParaRPr lang="en-US" sz="1300" dirty="0"/>
          </a:p>
        </p:txBody>
      </p:sp>
      <p:sp>
        <p:nvSpPr>
          <p:cNvPr id="5" name="Text 3"/>
          <p:cNvSpPr/>
          <p:nvPr/>
        </p:nvSpPr>
        <p:spPr>
          <a:xfrm>
            <a:off x="1554480" y="777240"/>
            <a:ext cx="7315200" cy="548640"/>
          </a:xfrm>
          <a:prstGeom prst="rect">
            <a:avLst/>
          </a:prstGeom>
          <a:noFill/>
          <a:ln/>
        </p:spPr>
        <p:txBody>
          <a:bodyPr wrap="square" lIns="0" tIns="0" rIns="0" bIns="0" rtlCol="0" anchor="ctr"/>
          <a:lstStyle/>
          <a:p>
            <a:pPr indent="0" marL="0">
              <a:buNone/>
            </a:pPr>
            <a:r>
              <a:rPr lang="en-US" sz="2700" b="1" dirty="0">
                <a:solidFill>
                  <a:srgbClr val="23282E"/>
                </a:solidFill>
                <a:latin typeface="Cambria" pitchFamily="34" charset="0"/>
                <a:ea typeface="Cambria" pitchFamily="34" charset="-122"/>
                <a:cs typeface="Cambria" pitchFamily="34" charset="-120"/>
              </a:rPr>
              <a:t>Prompting &amp; Limits Check</a:t>
            </a:r>
            <a:endParaRPr lang="en-US" sz="2700" dirty="0"/>
          </a:p>
        </p:txBody>
      </p:sp>
      <p:sp>
        <p:nvSpPr>
          <p:cNvPr id="6" name="Shape 4"/>
          <p:cNvSpPr/>
          <p:nvPr/>
        </p:nvSpPr>
        <p:spPr>
          <a:xfrm>
            <a:off x="9418320" y="502920"/>
            <a:ext cx="2194560" cy="548640"/>
          </a:xfrm>
          <a:prstGeom prst="roundRect">
            <a:avLst>
              <a:gd name="adj" fmla="val 50000"/>
            </a:avLst>
          </a:prstGeom>
          <a:solidFill>
            <a:srgbClr val="16325C"/>
          </a:solidFill>
          <a:ln/>
        </p:spPr>
      </p:sp>
      <p:sp>
        <p:nvSpPr>
          <p:cNvPr id="7" name="Text 5"/>
          <p:cNvSpPr/>
          <p:nvPr/>
        </p:nvSpPr>
        <p:spPr>
          <a:xfrm>
            <a:off x="9418320" y="502920"/>
            <a:ext cx="219456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DISCUSS AS A CLASS</a:t>
            </a:r>
            <a:endParaRPr lang="en-US" sz="1050" dirty="0"/>
          </a:p>
        </p:txBody>
      </p:sp>
      <p:sp>
        <p:nvSpPr>
          <p:cNvPr id="8" name="Shape 6"/>
          <p:cNvSpPr/>
          <p:nvPr/>
        </p:nvSpPr>
        <p:spPr>
          <a:xfrm>
            <a:off x="548640" y="1600200"/>
            <a:ext cx="7406640" cy="4572000"/>
          </a:xfrm>
          <a:prstGeom prst="roundRect">
            <a:avLst>
              <a:gd name="adj" fmla="val 1600"/>
            </a:avLst>
          </a:prstGeom>
          <a:solidFill>
            <a:srgbClr val="FFFFFF"/>
          </a:solidFill>
          <a:ln w="12700">
            <a:solidFill>
              <a:srgbClr val="C9DCEE"/>
            </a:solidFill>
            <a:prstDash val="solid"/>
          </a:ln>
          <a:effectLst>
            <a:outerShdw sx="100000" sy="100000" kx="0" ky="0" algn="bl" rotWithShape="0" blurRad="101600" dist="25400" dir="5400000">
              <a:srgbClr val="000000">
                <a:alpha val="12000"/>
              </a:srgbClr>
            </a:outerShdw>
          </a:effectLst>
        </p:spPr>
      </p:sp>
      <p:sp>
        <p:nvSpPr>
          <p:cNvPr id="9" name="Text 7"/>
          <p:cNvSpPr/>
          <p:nvPr/>
        </p:nvSpPr>
        <p:spPr>
          <a:xfrm>
            <a:off x="868680" y="1874520"/>
            <a:ext cx="6858000" cy="4023360"/>
          </a:xfrm>
          <a:prstGeom prst="rect">
            <a:avLst/>
          </a:prstGeom>
          <a:noFill/>
          <a:ln/>
        </p:spPr>
        <p:txBody>
          <a:bodyPr wrap="square" lIns="0" tIns="0" rIns="0" bIns="0" rtlCol="0" anchor="t"/>
          <a:lstStyle/>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1.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A prompt just says "write something about space."</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2.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A model confidently gives a very specific-sounding statistic that turns out to be false.</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3.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You want more reliable answers to a multi-step math word problem.</a:t>
            </a:r>
            <a:endParaRPr lang="en-US" sz="1500" dirty="0"/>
          </a:p>
          <a:p>
            <a:pPr indent="0" marL="0">
              <a:lnSpc>
                <a:spcPct val="125000"/>
              </a:lnSpc>
              <a:spcAft>
                <a:spcPts val="1600"/>
              </a:spcAft>
              <a:buNone/>
            </a:pPr>
            <a:r>
              <a:rPr lang="en-US" sz="1500" b="1" dirty="0">
                <a:solidFill>
                  <a:srgbClr val="306998"/>
                </a:solidFill>
                <a:latin typeface="Calibri" pitchFamily="34" charset="0"/>
                <a:ea typeface="Calibri" pitchFamily="34" charset="-122"/>
                <a:cs typeface="Calibri" pitchFamily="34" charset="-120"/>
              </a:rPr>
              <a:t>4.  </a:t>
            </a:r>
            <a:pPr indent="0" marL="0">
              <a:lnSpc>
                <a:spcPct val="125000"/>
              </a:lnSpc>
              <a:spcAft>
                <a:spcPts val="1600"/>
              </a:spcAft>
              <a:buNone/>
            </a:pPr>
            <a:r>
              <a:rPr lang="en-US" sz="1500" dirty="0">
                <a:solidFill>
                  <a:srgbClr val="23282E"/>
                </a:solidFill>
                <a:latin typeface="Calibri" pitchFamily="34" charset="0"/>
                <a:ea typeface="Calibri" pitchFamily="34" charset="-122"/>
                <a:cs typeface="Calibri" pitchFamily="34" charset="-120"/>
              </a:rPr>
              <a:t>You want the model to translate a paragraph into French.</a:t>
            </a:r>
            <a:endParaRPr lang="en-US" sz="1500" dirty="0"/>
          </a:p>
        </p:txBody>
      </p:sp>
      <p:sp>
        <p:nvSpPr>
          <p:cNvPr id="10" name="Shape 8"/>
          <p:cNvSpPr/>
          <p:nvPr/>
        </p:nvSpPr>
        <p:spPr>
          <a:xfrm>
            <a:off x="8229600" y="1600200"/>
            <a:ext cx="3383280" cy="4572000"/>
          </a:xfrm>
          <a:prstGeom prst="roundRect">
            <a:avLst>
              <a:gd name="adj" fmla="val 2162"/>
            </a:avLst>
          </a:prstGeom>
          <a:solidFill>
            <a:srgbClr val="16325C"/>
          </a:solidFill>
          <a:ln/>
        </p:spPr>
      </p:sp>
      <p:sp>
        <p:nvSpPr>
          <p:cNvPr id="11" name="Text 9"/>
          <p:cNvSpPr/>
          <p:nvPr/>
        </p:nvSpPr>
        <p:spPr>
          <a:xfrm>
            <a:off x="8549640" y="1828800"/>
            <a:ext cx="2743200" cy="320040"/>
          </a:xfrm>
          <a:prstGeom prst="rect">
            <a:avLst/>
          </a:prstGeom>
          <a:noFill/>
          <a:ln/>
        </p:spPr>
        <p:txBody>
          <a:bodyPr wrap="square" lIns="0" tIns="0" rIns="0" bIns="0" rtlCol="0" anchor="ctr"/>
          <a:lstStyle/>
          <a:p>
            <a:pPr indent="0" marL="0">
              <a:buNone/>
            </a:pPr>
            <a:r>
              <a:rPr lang="en-US" sz="1200" b="1" spc="200" kern="0" dirty="0">
                <a:solidFill>
                  <a:srgbClr val="FFD43B"/>
                </a:solidFill>
                <a:latin typeface="Calibri" pitchFamily="34" charset="0"/>
                <a:ea typeface="Calibri" pitchFamily="34" charset="-122"/>
                <a:cs typeface="Calibri" pitchFamily="34" charset="-120"/>
              </a:rPr>
              <a:t>ANSWER KEY</a:t>
            </a:r>
            <a:endParaRPr lang="en-US" sz="1200" dirty="0"/>
          </a:p>
        </p:txBody>
      </p:sp>
      <p:sp>
        <p:nvSpPr>
          <p:cNvPr id="12" name="Text 10"/>
          <p:cNvSpPr/>
          <p:nvPr/>
        </p:nvSpPr>
        <p:spPr>
          <a:xfrm>
            <a:off x="8549640" y="2194560"/>
            <a:ext cx="2788920" cy="3840480"/>
          </a:xfrm>
          <a:prstGeom prst="rect">
            <a:avLst/>
          </a:prstGeom>
          <a:noFill/>
          <a:ln/>
        </p:spPr>
        <p:txBody>
          <a:bodyPr wrap="square" lIns="0" tIns="0" rIns="0" bIns="0" rtlCol="0" anchor="t"/>
          <a:lstStyle/>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1.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Vague — length, tone, and audience are all left to guesswork</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2.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A hallucination — plausible-sounding text generated without real grounding</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3.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Ask it to reason step by step — often improves multi-step accuracy</a:t>
            </a:r>
            <a:endParaRPr lang="en-US" sz="1400" dirty="0"/>
          </a:p>
          <a:p>
            <a:pPr indent="0" marL="0">
              <a:lnSpc>
                <a:spcPct val="120000"/>
              </a:lnSpc>
              <a:spcAft>
                <a:spcPts val="1000"/>
              </a:spcAft>
              <a:buNone/>
            </a:pPr>
            <a:r>
              <a:rPr lang="en-US" sz="1400" b="1" dirty="0">
                <a:solidFill>
                  <a:srgbClr val="FFD43B"/>
                </a:solidFill>
                <a:latin typeface="Calibri" pitchFamily="34" charset="0"/>
                <a:ea typeface="Calibri" pitchFamily="34" charset="-122"/>
                <a:cs typeface="Calibri" pitchFamily="34" charset="-120"/>
              </a:rPr>
              <a:t>4.  </a:t>
            </a:r>
            <a:pPr indent="0" marL="0">
              <a:lnSpc>
                <a:spcPct val="120000"/>
              </a:lnSpc>
              <a:spcAft>
                <a:spcPts val="1000"/>
              </a:spcAft>
              <a:buNone/>
            </a:pPr>
            <a:r>
              <a:rPr lang="en-US" sz="1400" b="1" dirty="0">
                <a:solidFill>
                  <a:srgbClr val="FFFFFF"/>
                </a:solidFill>
                <a:latin typeface="Calibri" pitchFamily="34" charset="0"/>
                <a:ea typeface="Calibri" pitchFamily="34" charset="-122"/>
                <a:cs typeface="Calibri" pitchFamily="34" charset="-120"/>
              </a:rPr>
              <a:t>A well-suited real-world application — fluent, context-aware translation</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48640" y="320040"/>
            <a:ext cx="10515600" cy="320040"/>
          </a:xfrm>
          <a:prstGeom prst="rect">
            <a:avLst/>
          </a:prstGeom>
          <a:noFill/>
          <a:ln/>
        </p:spPr>
        <p:txBody>
          <a:bodyPr wrap="square" lIns="0" tIns="0" rIns="0" bIns="0" rtlCol="0" anchor="ctr"/>
          <a:lstStyle/>
          <a:p>
            <a:pPr algn="l" indent="0" marL="0">
              <a:buNone/>
            </a:pPr>
            <a:r>
              <a:rPr lang="en-US" sz="1300" b="1" spc="200" kern="0" dirty="0">
                <a:solidFill>
                  <a:srgbClr val="306998"/>
                </a:solidFill>
                <a:latin typeface="Calibri" pitchFamily="34" charset="0"/>
                <a:ea typeface="Calibri" pitchFamily="34" charset="-122"/>
                <a:cs typeface="Calibri" pitchFamily="34" charset="-120"/>
              </a:rPr>
              <a:t>PUTTING IT ALL TOGETHER</a:t>
            </a:r>
            <a:endParaRPr lang="en-US" sz="1300" dirty="0"/>
          </a:p>
        </p:txBody>
      </p:sp>
      <p:sp>
        <p:nvSpPr>
          <p:cNvPr id="3" name="Text 1"/>
          <p:cNvSpPr/>
          <p:nvPr/>
        </p:nvSpPr>
        <p:spPr>
          <a:xfrm>
            <a:off x="548640" y="621792"/>
            <a:ext cx="10881360" cy="685800"/>
          </a:xfrm>
          <a:prstGeom prst="rect">
            <a:avLst/>
          </a:prstGeom>
          <a:noFill/>
          <a:ln/>
        </p:spPr>
        <p:txBody>
          <a:bodyPr wrap="square" lIns="0" tIns="0" rIns="0" bIns="0" rtlCol="0" anchor="ctr"/>
          <a:lstStyle/>
          <a:p>
            <a:pPr algn="l" indent="0" marL="0">
              <a:buNone/>
            </a:pPr>
            <a:r>
              <a:rPr lang="en-US" sz="2700" b="1" dirty="0">
                <a:solidFill>
                  <a:srgbClr val="23282E"/>
                </a:solidFill>
                <a:latin typeface="Cambria" pitchFamily="34" charset="0"/>
                <a:ea typeface="Cambria" pitchFamily="34" charset="-122"/>
                <a:cs typeface="Cambria" pitchFamily="34" charset="-120"/>
              </a:rPr>
              <a:t>The Cheat Sheet</a:t>
            </a:r>
            <a:endParaRPr lang="en-US" sz="2700" dirty="0"/>
          </a:p>
        </p:txBody>
      </p:sp>
      <p:sp>
        <p:nvSpPr>
          <p:cNvPr id="4" name="Shape 2"/>
          <p:cNvSpPr/>
          <p:nvPr/>
        </p:nvSpPr>
        <p:spPr>
          <a:xfrm>
            <a:off x="548640" y="1554480"/>
            <a:ext cx="11064240" cy="489204"/>
          </a:xfrm>
          <a:prstGeom prst="roundRect">
            <a:avLst>
              <a:gd name="adj" fmla="val 11215"/>
            </a:avLst>
          </a:prstGeom>
          <a:solidFill>
            <a:srgbClr val="16325C"/>
          </a:solidFill>
          <a:ln/>
        </p:spPr>
      </p:sp>
      <p:sp>
        <p:nvSpPr>
          <p:cNvPr id="5" name="Text 3"/>
          <p:cNvSpPr/>
          <p:nvPr/>
        </p:nvSpPr>
        <p:spPr>
          <a:xfrm>
            <a:off x="731520" y="1554480"/>
            <a:ext cx="5212080" cy="48920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Term</a:t>
            </a:r>
            <a:endParaRPr lang="en-US" sz="1150" dirty="0"/>
          </a:p>
        </p:txBody>
      </p:sp>
      <p:sp>
        <p:nvSpPr>
          <p:cNvPr id="6" name="Text 4"/>
          <p:cNvSpPr/>
          <p:nvPr/>
        </p:nvSpPr>
        <p:spPr>
          <a:xfrm>
            <a:off x="6263640" y="1554480"/>
            <a:ext cx="5212080" cy="48920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It Is</a:t>
            </a:r>
            <a:endParaRPr lang="en-US" sz="1150" dirty="0"/>
          </a:p>
        </p:txBody>
      </p:sp>
      <p:sp>
        <p:nvSpPr>
          <p:cNvPr id="7" name="Shape 5"/>
          <p:cNvSpPr/>
          <p:nvPr/>
        </p:nvSpPr>
        <p:spPr>
          <a:xfrm>
            <a:off x="548640" y="2043684"/>
            <a:ext cx="11064240" cy="489204"/>
          </a:xfrm>
          <a:prstGeom prst="rect">
            <a:avLst/>
          </a:prstGeom>
          <a:solidFill>
            <a:srgbClr val="F4F6F9"/>
          </a:solidFill>
          <a:ln/>
        </p:spPr>
      </p:sp>
      <p:sp>
        <p:nvSpPr>
          <p:cNvPr id="8" name="Text 6"/>
          <p:cNvSpPr/>
          <p:nvPr/>
        </p:nvSpPr>
        <p:spPr>
          <a:xfrm>
            <a:off x="731520" y="2043684"/>
            <a:ext cx="5212080" cy="489204"/>
          </a:xfrm>
          <a:prstGeom prst="rect">
            <a:avLst/>
          </a:prstGeom>
          <a:noFill/>
          <a:ln/>
        </p:spPr>
        <p:txBody>
          <a:bodyPr wrap="square" lIns="0" tIns="0" rIns="0" bIns="0" rtlCol="0" anchor="ctr"/>
          <a:lstStyle/>
          <a:p>
            <a:pPr indent="0" marL="0">
              <a:lnSpc>
                <a:spcPct val="105000"/>
              </a:lnSpc>
              <a:buNone/>
            </a:pPr>
            <a:r>
              <a:rPr lang="en-US" sz="1050" b="1" dirty="0">
                <a:solidFill>
                  <a:srgbClr val="23282E"/>
                </a:solidFill>
                <a:latin typeface="Calibri" pitchFamily="34" charset="0"/>
                <a:ea typeface="Calibri" pitchFamily="34" charset="-122"/>
                <a:cs typeface="Calibri" pitchFamily="34" charset="-120"/>
              </a:rPr>
              <a:t>Token</a:t>
            </a:r>
            <a:endParaRPr lang="en-US" sz="1050" dirty="0"/>
          </a:p>
        </p:txBody>
      </p:sp>
      <p:sp>
        <p:nvSpPr>
          <p:cNvPr id="9" name="Text 7"/>
          <p:cNvSpPr/>
          <p:nvPr/>
        </p:nvSpPr>
        <p:spPr>
          <a:xfrm>
            <a:off x="6263640" y="2043684"/>
            <a:ext cx="5212080" cy="489204"/>
          </a:xfrm>
          <a:prstGeom prst="rect">
            <a:avLst/>
          </a:prstGeom>
          <a:noFill/>
          <a:ln/>
        </p:spPr>
        <p:txBody>
          <a:bodyPr wrap="square" lIns="0" tIns="0" rIns="0" bIns="0" rtlCol="0" anchor="ctr"/>
          <a:lstStyle/>
          <a:p>
            <a:pPr indent="0" marL="0">
              <a:lnSpc>
                <a:spcPct val="105000"/>
              </a:lnSpc>
              <a:buNone/>
            </a:pPr>
            <a:r>
              <a:rPr lang="en-US" sz="1050" dirty="0">
                <a:solidFill>
                  <a:srgbClr val="23282E"/>
                </a:solidFill>
                <a:latin typeface="Calibri" pitchFamily="34" charset="0"/>
                <a:ea typeface="Calibri" pitchFamily="34" charset="-122"/>
                <a:cs typeface="Calibri" pitchFamily="34" charset="-120"/>
              </a:rPr>
              <a:t>A chunk of text (often a word or sub-word) the model actually reads</a:t>
            </a:r>
            <a:endParaRPr lang="en-US" sz="1050" dirty="0"/>
          </a:p>
        </p:txBody>
      </p:sp>
      <p:sp>
        <p:nvSpPr>
          <p:cNvPr id="10" name="Shape 8"/>
          <p:cNvSpPr/>
          <p:nvPr/>
        </p:nvSpPr>
        <p:spPr>
          <a:xfrm>
            <a:off x="548640" y="2532888"/>
            <a:ext cx="11064240" cy="489204"/>
          </a:xfrm>
          <a:prstGeom prst="rect">
            <a:avLst/>
          </a:prstGeom>
          <a:solidFill>
            <a:srgbClr val="FFFFFF"/>
          </a:solidFill>
          <a:ln/>
        </p:spPr>
      </p:sp>
      <p:sp>
        <p:nvSpPr>
          <p:cNvPr id="11" name="Text 9"/>
          <p:cNvSpPr/>
          <p:nvPr/>
        </p:nvSpPr>
        <p:spPr>
          <a:xfrm>
            <a:off x="731520" y="2532888"/>
            <a:ext cx="5212080" cy="489204"/>
          </a:xfrm>
          <a:prstGeom prst="rect">
            <a:avLst/>
          </a:prstGeom>
          <a:noFill/>
          <a:ln/>
        </p:spPr>
        <p:txBody>
          <a:bodyPr wrap="square" lIns="0" tIns="0" rIns="0" bIns="0" rtlCol="0" anchor="ctr"/>
          <a:lstStyle/>
          <a:p>
            <a:pPr indent="0" marL="0">
              <a:lnSpc>
                <a:spcPct val="105000"/>
              </a:lnSpc>
              <a:buNone/>
            </a:pPr>
            <a:r>
              <a:rPr lang="en-US" sz="1050" b="1" dirty="0">
                <a:solidFill>
                  <a:srgbClr val="23282E"/>
                </a:solidFill>
                <a:latin typeface="Calibri" pitchFamily="34" charset="0"/>
                <a:ea typeface="Calibri" pitchFamily="34" charset="-122"/>
                <a:cs typeface="Calibri" pitchFamily="34" charset="-120"/>
              </a:rPr>
              <a:t>Embedding</a:t>
            </a:r>
            <a:endParaRPr lang="en-US" sz="1050" dirty="0"/>
          </a:p>
        </p:txBody>
      </p:sp>
      <p:sp>
        <p:nvSpPr>
          <p:cNvPr id="12" name="Text 10"/>
          <p:cNvSpPr/>
          <p:nvPr/>
        </p:nvSpPr>
        <p:spPr>
          <a:xfrm>
            <a:off x="6263640" y="2532888"/>
            <a:ext cx="5212080" cy="489204"/>
          </a:xfrm>
          <a:prstGeom prst="rect">
            <a:avLst/>
          </a:prstGeom>
          <a:noFill/>
          <a:ln/>
        </p:spPr>
        <p:txBody>
          <a:bodyPr wrap="square" lIns="0" tIns="0" rIns="0" bIns="0" rtlCol="0" anchor="ctr"/>
          <a:lstStyle/>
          <a:p>
            <a:pPr indent="0" marL="0">
              <a:lnSpc>
                <a:spcPct val="105000"/>
              </a:lnSpc>
              <a:buNone/>
            </a:pPr>
            <a:r>
              <a:rPr lang="en-US" sz="1050" dirty="0">
                <a:solidFill>
                  <a:srgbClr val="23282E"/>
                </a:solidFill>
                <a:latin typeface="Calibri" pitchFamily="34" charset="0"/>
                <a:ea typeface="Calibri" pitchFamily="34" charset="-122"/>
                <a:cs typeface="Calibri" pitchFamily="34" charset="-120"/>
              </a:rPr>
              <a:t>A vector of numbers capturing a token's meaning</a:t>
            </a:r>
            <a:endParaRPr lang="en-US" sz="1050" dirty="0"/>
          </a:p>
        </p:txBody>
      </p:sp>
      <p:sp>
        <p:nvSpPr>
          <p:cNvPr id="13" name="Shape 11"/>
          <p:cNvSpPr/>
          <p:nvPr/>
        </p:nvSpPr>
        <p:spPr>
          <a:xfrm>
            <a:off x="548640" y="3022092"/>
            <a:ext cx="11064240" cy="489204"/>
          </a:xfrm>
          <a:prstGeom prst="rect">
            <a:avLst/>
          </a:prstGeom>
          <a:solidFill>
            <a:srgbClr val="F4F6F9"/>
          </a:solidFill>
          <a:ln/>
        </p:spPr>
      </p:sp>
      <p:sp>
        <p:nvSpPr>
          <p:cNvPr id="14" name="Text 12"/>
          <p:cNvSpPr/>
          <p:nvPr/>
        </p:nvSpPr>
        <p:spPr>
          <a:xfrm>
            <a:off x="731520" y="3022092"/>
            <a:ext cx="5212080" cy="489204"/>
          </a:xfrm>
          <a:prstGeom prst="rect">
            <a:avLst/>
          </a:prstGeom>
          <a:noFill/>
          <a:ln/>
        </p:spPr>
        <p:txBody>
          <a:bodyPr wrap="square" lIns="0" tIns="0" rIns="0" bIns="0" rtlCol="0" anchor="ctr"/>
          <a:lstStyle/>
          <a:p>
            <a:pPr indent="0" marL="0">
              <a:lnSpc>
                <a:spcPct val="105000"/>
              </a:lnSpc>
              <a:buNone/>
            </a:pPr>
            <a:r>
              <a:rPr lang="en-US" sz="1050" b="1" dirty="0">
                <a:solidFill>
                  <a:srgbClr val="23282E"/>
                </a:solidFill>
                <a:latin typeface="Calibri" pitchFamily="34" charset="0"/>
                <a:ea typeface="Calibri" pitchFamily="34" charset="-122"/>
                <a:cs typeface="Calibri" pitchFamily="34" charset="-120"/>
              </a:rPr>
              <a:t>Transformer</a:t>
            </a:r>
            <a:endParaRPr lang="en-US" sz="1050" dirty="0"/>
          </a:p>
        </p:txBody>
      </p:sp>
      <p:sp>
        <p:nvSpPr>
          <p:cNvPr id="15" name="Text 13"/>
          <p:cNvSpPr/>
          <p:nvPr/>
        </p:nvSpPr>
        <p:spPr>
          <a:xfrm>
            <a:off x="6263640" y="3022092"/>
            <a:ext cx="5212080" cy="489204"/>
          </a:xfrm>
          <a:prstGeom prst="rect">
            <a:avLst/>
          </a:prstGeom>
          <a:noFill/>
          <a:ln/>
        </p:spPr>
        <p:txBody>
          <a:bodyPr wrap="square" lIns="0" tIns="0" rIns="0" bIns="0" rtlCol="0" anchor="ctr"/>
          <a:lstStyle/>
          <a:p>
            <a:pPr indent="0" marL="0">
              <a:lnSpc>
                <a:spcPct val="105000"/>
              </a:lnSpc>
              <a:buNone/>
            </a:pPr>
            <a:r>
              <a:rPr lang="en-US" sz="1050" dirty="0">
                <a:solidFill>
                  <a:srgbClr val="23282E"/>
                </a:solidFill>
                <a:latin typeface="Calibri" pitchFamily="34" charset="0"/>
                <a:ea typeface="Calibri" pitchFamily="34" charset="-122"/>
                <a:cs typeface="Calibri" pitchFamily="34" charset="-120"/>
              </a:rPr>
              <a:t>The architecture that lets every word attend to every other word, in parallel</a:t>
            </a:r>
            <a:endParaRPr lang="en-US" sz="1050" dirty="0"/>
          </a:p>
        </p:txBody>
      </p:sp>
      <p:sp>
        <p:nvSpPr>
          <p:cNvPr id="16" name="Shape 14"/>
          <p:cNvSpPr/>
          <p:nvPr/>
        </p:nvSpPr>
        <p:spPr>
          <a:xfrm>
            <a:off x="548640" y="3511296"/>
            <a:ext cx="11064240" cy="489204"/>
          </a:xfrm>
          <a:prstGeom prst="rect">
            <a:avLst/>
          </a:prstGeom>
          <a:solidFill>
            <a:srgbClr val="FFFFFF"/>
          </a:solidFill>
          <a:ln/>
        </p:spPr>
      </p:sp>
      <p:sp>
        <p:nvSpPr>
          <p:cNvPr id="17" name="Text 15"/>
          <p:cNvSpPr/>
          <p:nvPr/>
        </p:nvSpPr>
        <p:spPr>
          <a:xfrm>
            <a:off x="731520" y="3511296"/>
            <a:ext cx="5212080" cy="489204"/>
          </a:xfrm>
          <a:prstGeom prst="rect">
            <a:avLst/>
          </a:prstGeom>
          <a:noFill/>
          <a:ln/>
        </p:spPr>
        <p:txBody>
          <a:bodyPr wrap="square" lIns="0" tIns="0" rIns="0" bIns="0" rtlCol="0" anchor="ctr"/>
          <a:lstStyle/>
          <a:p>
            <a:pPr indent="0" marL="0">
              <a:lnSpc>
                <a:spcPct val="105000"/>
              </a:lnSpc>
              <a:buNone/>
            </a:pPr>
            <a:r>
              <a:rPr lang="en-US" sz="1050" b="1" dirty="0">
                <a:solidFill>
                  <a:srgbClr val="23282E"/>
                </a:solidFill>
                <a:latin typeface="Calibri" pitchFamily="34" charset="0"/>
                <a:ea typeface="Calibri" pitchFamily="34" charset="-122"/>
                <a:cs typeface="Calibri" pitchFamily="34" charset="-120"/>
              </a:rPr>
              <a:t>Self-Attention</a:t>
            </a:r>
            <a:endParaRPr lang="en-US" sz="1050" dirty="0"/>
          </a:p>
        </p:txBody>
      </p:sp>
      <p:sp>
        <p:nvSpPr>
          <p:cNvPr id="18" name="Text 16"/>
          <p:cNvSpPr/>
          <p:nvPr/>
        </p:nvSpPr>
        <p:spPr>
          <a:xfrm>
            <a:off x="6263640" y="3511296"/>
            <a:ext cx="5212080" cy="489204"/>
          </a:xfrm>
          <a:prstGeom prst="rect">
            <a:avLst/>
          </a:prstGeom>
          <a:noFill/>
          <a:ln/>
        </p:spPr>
        <p:txBody>
          <a:bodyPr wrap="square" lIns="0" tIns="0" rIns="0" bIns="0" rtlCol="0" anchor="ctr"/>
          <a:lstStyle/>
          <a:p>
            <a:pPr indent="0" marL="0">
              <a:lnSpc>
                <a:spcPct val="105000"/>
              </a:lnSpc>
              <a:buNone/>
            </a:pPr>
            <a:r>
              <a:rPr lang="en-US" sz="1050" dirty="0">
                <a:solidFill>
                  <a:srgbClr val="23282E"/>
                </a:solidFill>
                <a:latin typeface="Calibri" pitchFamily="34" charset="0"/>
                <a:ea typeface="Calibri" pitchFamily="34" charset="-122"/>
                <a:cs typeface="Calibri" pitchFamily="34" charset="-120"/>
              </a:rPr>
              <a:t>The mechanism that weighs which other words matter most right now</a:t>
            </a:r>
            <a:endParaRPr lang="en-US" sz="1050" dirty="0"/>
          </a:p>
        </p:txBody>
      </p:sp>
      <p:sp>
        <p:nvSpPr>
          <p:cNvPr id="19" name="Shape 17"/>
          <p:cNvSpPr/>
          <p:nvPr/>
        </p:nvSpPr>
        <p:spPr>
          <a:xfrm>
            <a:off x="548640" y="4000500"/>
            <a:ext cx="11064240" cy="489204"/>
          </a:xfrm>
          <a:prstGeom prst="rect">
            <a:avLst/>
          </a:prstGeom>
          <a:solidFill>
            <a:srgbClr val="F4F6F9"/>
          </a:solidFill>
          <a:ln/>
        </p:spPr>
      </p:sp>
      <p:sp>
        <p:nvSpPr>
          <p:cNvPr id="20" name="Text 18"/>
          <p:cNvSpPr/>
          <p:nvPr/>
        </p:nvSpPr>
        <p:spPr>
          <a:xfrm>
            <a:off x="731520" y="4000500"/>
            <a:ext cx="5212080" cy="489204"/>
          </a:xfrm>
          <a:prstGeom prst="rect">
            <a:avLst/>
          </a:prstGeom>
          <a:noFill/>
          <a:ln/>
        </p:spPr>
        <p:txBody>
          <a:bodyPr wrap="square" lIns="0" tIns="0" rIns="0" bIns="0" rtlCol="0" anchor="ctr"/>
          <a:lstStyle/>
          <a:p>
            <a:pPr indent="0" marL="0">
              <a:lnSpc>
                <a:spcPct val="105000"/>
              </a:lnSpc>
              <a:buNone/>
            </a:pPr>
            <a:r>
              <a:rPr lang="en-US" sz="1050" b="1" dirty="0">
                <a:solidFill>
                  <a:srgbClr val="23282E"/>
                </a:solidFill>
                <a:latin typeface="Calibri" pitchFamily="34" charset="0"/>
                <a:ea typeface="Calibri" pitchFamily="34" charset="-122"/>
                <a:cs typeface="Calibri" pitchFamily="34" charset="-120"/>
              </a:rPr>
              <a:t>Pretraining</a:t>
            </a:r>
            <a:endParaRPr lang="en-US" sz="1050" dirty="0"/>
          </a:p>
        </p:txBody>
      </p:sp>
      <p:sp>
        <p:nvSpPr>
          <p:cNvPr id="21" name="Text 19"/>
          <p:cNvSpPr/>
          <p:nvPr/>
        </p:nvSpPr>
        <p:spPr>
          <a:xfrm>
            <a:off x="6263640" y="4000500"/>
            <a:ext cx="5212080" cy="489204"/>
          </a:xfrm>
          <a:prstGeom prst="rect">
            <a:avLst/>
          </a:prstGeom>
          <a:noFill/>
          <a:ln/>
        </p:spPr>
        <p:txBody>
          <a:bodyPr wrap="square" lIns="0" tIns="0" rIns="0" bIns="0" rtlCol="0" anchor="ctr"/>
          <a:lstStyle/>
          <a:p>
            <a:pPr indent="0" marL="0">
              <a:lnSpc>
                <a:spcPct val="105000"/>
              </a:lnSpc>
              <a:buNone/>
            </a:pPr>
            <a:r>
              <a:rPr lang="en-US" sz="1050" dirty="0">
                <a:solidFill>
                  <a:srgbClr val="23282E"/>
                </a:solidFill>
                <a:latin typeface="Calibri" pitchFamily="34" charset="0"/>
                <a:ea typeface="Calibri" pitchFamily="34" charset="-122"/>
                <a:cs typeface="Calibri" pitchFamily="34" charset="-120"/>
              </a:rPr>
              <a:t>Learning by predicting the next word across massive amounts of text</a:t>
            </a:r>
            <a:endParaRPr lang="en-US" sz="1050" dirty="0"/>
          </a:p>
        </p:txBody>
      </p:sp>
      <p:sp>
        <p:nvSpPr>
          <p:cNvPr id="22" name="Shape 20"/>
          <p:cNvSpPr/>
          <p:nvPr/>
        </p:nvSpPr>
        <p:spPr>
          <a:xfrm>
            <a:off x="548640" y="4489704"/>
            <a:ext cx="11064240" cy="489204"/>
          </a:xfrm>
          <a:prstGeom prst="rect">
            <a:avLst/>
          </a:prstGeom>
          <a:solidFill>
            <a:srgbClr val="FFFFFF"/>
          </a:solidFill>
          <a:ln/>
        </p:spPr>
      </p:sp>
      <p:sp>
        <p:nvSpPr>
          <p:cNvPr id="23" name="Text 21"/>
          <p:cNvSpPr/>
          <p:nvPr/>
        </p:nvSpPr>
        <p:spPr>
          <a:xfrm>
            <a:off x="731520" y="4489704"/>
            <a:ext cx="5212080" cy="489204"/>
          </a:xfrm>
          <a:prstGeom prst="rect">
            <a:avLst/>
          </a:prstGeom>
          <a:noFill/>
          <a:ln/>
        </p:spPr>
        <p:txBody>
          <a:bodyPr wrap="square" lIns="0" tIns="0" rIns="0" bIns="0" rtlCol="0" anchor="ctr"/>
          <a:lstStyle/>
          <a:p>
            <a:pPr indent="0" marL="0">
              <a:lnSpc>
                <a:spcPct val="105000"/>
              </a:lnSpc>
              <a:buNone/>
            </a:pPr>
            <a:r>
              <a:rPr lang="en-US" sz="1050" b="1" dirty="0">
                <a:solidFill>
                  <a:srgbClr val="23282E"/>
                </a:solidFill>
                <a:latin typeface="Calibri" pitchFamily="34" charset="0"/>
                <a:ea typeface="Calibri" pitchFamily="34" charset="-122"/>
                <a:cs typeface="Calibri" pitchFamily="34" charset="-120"/>
              </a:rPr>
              <a:t>Fine-Tuning / RLHF</a:t>
            </a:r>
            <a:endParaRPr lang="en-US" sz="1050" dirty="0"/>
          </a:p>
        </p:txBody>
      </p:sp>
      <p:sp>
        <p:nvSpPr>
          <p:cNvPr id="24" name="Text 22"/>
          <p:cNvSpPr/>
          <p:nvPr/>
        </p:nvSpPr>
        <p:spPr>
          <a:xfrm>
            <a:off x="6263640" y="4489704"/>
            <a:ext cx="5212080" cy="489204"/>
          </a:xfrm>
          <a:prstGeom prst="rect">
            <a:avLst/>
          </a:prstGeom>
          <a:noFill/>
          <a:ln/>
        </p:spPr>
        <p:txBody>
          <a:bodyPr wrap="square" lIns="0" tIns="0" rIns="0" bIns="0" rtlCol="0" anchor="ctr"/>
          <a:lstStyle/>
          <a:p>
            <a:pPr indent="0" marL="0">
              <a:lnSpc>
                <a:spcPct val="105000"/>
              </a:lnSpc>
              <a:buNone/>
            </a:pPr>
            <a:r>
              <a:rPr lang="en-US" sz="1050" dirty="0">
                <a:solidFill>
                  <a:srgbClr val="23282E"/>
                </a:solidFill>
                <a:latin typeface="Calibri" pitchFamily="34" charset="0"/>
                <a:ea typeface="Calibri" pitchFamily="34" charset="-122"/>
                <a:cs typeface="Calibri" pitchFamily="34" charset="-120"/>
              </a:rPr>
              <a:t>Teaching a base model to be a helpful, well-behaved assistant</a:t>
            </a:r>
            <a:endParaRPr lang="en-US" sz="1050" dirty="0"/>
          </a:p>
        </p:txBody>
      </p:sp>
      <p:sp>
        <p:nvSpPr>
          <p:cNvPr id="25" name="Shape 23"/>
          <p:cNvSpPr/>
          <p:nvPr/>
        </p:nvSpPr>
        <p:spPr>
          <a:xfrm>
            <a:off x="548640" y="4978908"/>
            <a:ext cx="11064240" cy="489204"/>
          </a:xfrm>
          <a:prstGeom prst="rect">
            <a:avLst/>
          </a:prstGeom>
          <a:solidFill>
            <a:srgbClr val="F4F6F9"/>
          </a:solidFill>
          <a:ln/>
        </p:spPr>
      </p:sp>
      <p:sp>
        <p:nvSpPr>
          <p:cNvPr id="26" name="Text 24"/>
          <p:cNvSpPr/>
          <p:nvPr/>
        </p:nvSpPr>
        <p:spPr>
          <a:xfrm>
            <a:off x="731520" y="4978908"/>
            <a:ext cx="5212080" cy="489204"/>
          </a:xfrm>
          <a:prstGeom prst="rect">
            <a:avLst/>
          </a:prstGeom>
          <a:noFill/>
          <a:ln/>
        </p:spPr>
        <p:txBody>
          <a:bodyPr wrap="square" lIns="0" tIns="0" rIns="0" bIns="0" rtlCol="0" anchor="ctr"/>
          <a:lstStyle/>
          <a:p>
            <a:pPr indent="0" marL="0">
              <a:lnSpc>
                <a:spcPct val="105000"/>
              </a:lnSpc>
              <a:buNone/>
            </a:pPr>
            <a:r>
              <a:rPr lang="en-US" sz="1050" b="1" dirty="0">
                <a:solidFill>
                  <a:srgbClr val="23282E"/>
                </a:solidFill>
                <a:latin typeface="Calibri" pitchFamily="34" charset="0"/>
                <a:ea typeface="Calibri" pitchFamily="34" charset="-122"/>
                <a:cs typeface="Calibri" pitchFamily="34" charset="-120"/>
              </a:rPr>
              <a:t>Autoregressive Generation</a:t>
            </a:r>
            <a:endParaRPr lang="en-US" sz="1050" dirty="0"/>
          </a:p>
        </p:txBody>
      </p:sp>
      <p:sp>
        <p:nvSpPr>
          <p:cNvPr id="27" name="Text 25"/>
          <p:cNvSpPr/>
          <p:nvPr/>
        </p:nvSpPr>
        <p:spPr>
          <a:xfrm>
            <a:off x="6263640" y="4978908"/>
            <a:ext cx="5212080" cy="489204"/>
          </a:xfrm>
          <a:prstGeom prst="rect">
            <a:avLst/>
          </a:prstGeom>
          <a:noFill/>
          <a:ln/>
        </p:spPr>
        <p:txBody>
          <a:bodyPr wrap="square" lIns="0" tIns="0" rIns="0" bIns="0" rtlCol="0" anchor="ctr"/>
          <a:lstStyle/>
          <a:p>
            <a:pPr indent="0" marL="0">
              <a:lnSpc>
                <a:spcPct val="105000"/>
              </a:lnSpc>
              <a:buNone/>
            </a:pPr>
            <a:r>
              <a:rPr lang="en-US" sz="1050" dirty="0">
                <a:solidFill>
                  <a:srgbClr val="23282E"/>
                </a:solidFill>
                <a:latin typeface="Calibri" pitchFamily="34" charset="0"/>
                <a:ea typeface="Calibri" pitchFamily="34" charset="-122"/>
                <a:cs typeface="Calibri" pitchFamily="34" charset="-120"/>
              </a:rPr>
              <a:t>Generating one token at a time, feeding each one back in</a:t>
            </a:r>
            <a:endParaRPr lang="en-US" sz="1050" dirty="0"/>
          </a:p>
        </p:txBody>
      </p:sp>
      <p:sp>
        <p:nvSpPr>
          <p:cNvPr id="28" name="Shape 26"/>
          <p:cNvSpPr/>
          <p:nvPr/>
        </p:nvSpPr>
        <p:spPr>
          <a:xfrm>
            <a:off x="548640" y="5468112"/>
            <a:ext cx="11064240" cy="489204"/>
          </a:xfrm>
          <a:prstGeom prst="rect">
            <a:avLst/>
          </a:prstGeom>
          <a:solidFill>
            <a:srgbClr val="FFFFFF"/>
          </a:solidFill>
          <a:ln/>
        </p:spPr>
      </p:sp>
      <p:sp>
        <p:nvSpPr>
          <p:cNvPr id="29" name="Text 27"/>
          <p:cNvSpPr/>
          <p:nvPr/>
        </p:nvSpPr>
        <p:spPr>
          <a:xfrm>
            <a:off x="731520" y="5468112"/>
            <a:ext cx="5212080" cy="489204"/>
          </a:xfrm>
          <a:prstGeom prst="rect">
            <a:avLst/>
          </a:prstGeom>
          <a:noFill/>
          <a:ln/>
        </p:spPr>
        <p:txBody>
          <a:bodyPr wrap="square" lIns="0" tIns="0" rIns="0" bIns="0" rtlCol="0" anchor="ctr"/>
          <a:lstStyle/>
          <a:p>
            <a:pPr indent="0" marL="0">
              <a:lnSpc>
                <a:spcPct val="105000"/>
              </a:lnSpc>
              <a:buNone/>
            </a:pPr>
            <a:r>
              <a:rPr lang="en-US" sz="1050" b="1" dirty="0">
                <a:solidFill>
                  <a:srgbClr val="23282E"/>
                </a:solidFill>
                <a:latin typeface="Calibri" pitchFamily="34" charset="0"/>
                <a:ea typeface="Calibri" pitchFamily="34" charset="-122"/>
                <a:cs typeface="Calibri" pitchFamily="34" charset="-120"/>
              </a:rPr>
              <a:t>Context Window</a:t>
            </a:r>
            <a:endParaRPr lang="en-US" sz="1050" dirty="0"/>
          </a:p>
        </p:txBody>
      </p:sp>
      <p:sp>
        <p:nvSpPr>
          <p:cNvPr id="30" name="Text 28"/>
          <p:cNvSpPr/>
          <p:nvPr/>
        </p:nvSpPr>
        <p:spPr>
          <a:xfrm>
            <a:off x="6263640" y="5468112"/>
            <a:ext cx="5212080" cy="489204"/>
          </a:xfrm>
          <a:prstGeom prst="rect">
            <a:avLst/>
          </a:prstGeom>
          <a:noFill/>
          <a:ln/>
        </p:spPr>
        <p:txBody>
          <a:bodyPr wrap="square" lIns="0" tIns="0" rIns="0" bIns="0" rtlCol="0" anchor="ctr"/>
          <a:lstStyle/>
          <a:p>
            <a:pPr indent="0" marL="0">
              <a:lnSpc>
                <a:spcPct val="105000"/>
              </a:lnSpc>
              <a:buNone/>
            </a:pPr>
            <a:r>
              <a:rPr lang="en-US" sz="1050" dirty="0">
                <a:solidFill>
                  <a:srgbClr val="23282E"/>
                </a:solidFill>
                <a:latin typeface="Calibri" pitchFamily="34" charset="0"/>
                <a:ea typeface="Calibri" pitchFamily="34" charset="-122"/>
                <a:cs typeface="Calibri" pitchFamily="34" charset="-120"/>
              </a:rPr>
              <a:t>The limited amount of recent text a model can currently "see"</a:t>
            </a:r>
            <a:endParaRPr lang="en-US" sz="1050" dirty="0"/>
          </a:p>
        </p:txBody>
      </p:sp>
      <p:sp>
        <p:nvSpPr>
          <p:cNvPr id="31" name="Shape 29"/>
          <p:cNvSpPr/>
          <p:nvPr/>
        </p:nvSpPr>
        <p:spPr>
          <a:xfrm>
            <a:off x="548640" y="5957316"/>
            <a:ext cx="11064240" cy="489204"/>
          </a:xfrm>
          <a:prstGeom prst="rect">
            <a:avLst/>
          </a:prstGeom>
          <a:solidFill>
            <a:srgbClr val="F4F6F9"/>
          </a:solidFill>
          <a:ln/>
        </p:spPr>
      </p:sp>
      <p:sp>
        <p:nvSpPr>
          <p:cNvPr id="32" name="Text 30"/>
          <p:cNvSpPr/>
          <p:nvPr/>
        </p:nvSpPr>
        <p:spPr>
          <a:xfrm>
            <a:off x="731520" y="5957316"/>
            <a:ext cx="5212080" cy="489204"/>
          </a:xfrm>
          <a:prstGeom prst="rect">
            <a:avLst/>
          </a:prstGeom>
          <a:noFill/>
          <a:ln/>
        </p:spPr>
        <p:txBody>
          <a:bodyPr wrap="square" lIns="0" tIns="0" rIns="0" bIns="0" rtlCol="0" anchor="ctr"/>
          <a:lstStyle/>
          <a:p>
            <a:pPr indent="0" marL="0">
              <a:lnSpc>
                <a:spcPct val="105000"/>
              </a:lnSpc>
              <a:buNone/>
            </a:pPr>
            <a:r>
              <a:rPr lang="en-US" sz="1050" b="1" dirty="0">
                <a:solidFill>
                  <a:srgbClr val="23282E"/>
                </a:solidFill>
                <a:latin typeface="Calibri" pitchFamily="34" charset="0"/>
                <a:ea typeface="Calibri" pitchFamily="34" charset="-122"/>
                <a:cs typeface="Calibri" pitchFamily="34" charset="-120"/>
              </a:rPr>
              <a:t>Hallucination</a:t>
            </a:r>
            <a:endParaRPr lang="en-US" sz="1050" dirty="0"/>
          </a:p>
        </p:txBody>
      </p:sp>
      <p:sp>
        <p:nvSpPr>
          <p:cNvPr id="33" name="Text 31"/>
          <p:cNvSpPr/>
          <p:nvPr/>
        </p:nvSpPr>
        <p:spPr>
          <a:xfrm>
            <a:off x="6263640" y="5957316"/>
            <a:ext cx="5212080" cy="489204"/>
          </a:xfrm>
          <a:prstGeom prst="rect">
            <a:avLst/>
          </a:prstGeom>
          <a:noFill/>
          <a:ln/>
        </p:spPr>
        <p:txBody>
          <a:bodyPr wrap="square" lIns="0" tIns="0" rIns="0" bIns="0" rtlCol="0" anchor="ctr"/>
          <a:lstStyle/>
          <a:p>
            <a:pPr indent="0" marL="0">
              <a:lnSpc>
                <a:spcPct val="105000"/>
              </a:lnSpc>
              <a:buNone/>
            </a:pPr>
            <a:r>
              <a:rPr lang="en-US" sz="1050" dirty="0">
                <a:solidFill>
                  <a:srgbClr val="23282E"/>
                </a:solidFill>
                <a:latin typeface="Calibri" pitchFamily="34" charset="0"/>
                <a:ea typeface="Calibri" pitchFamily="34" charset="-122"/>
                <a:cs typeface="Calibri" pitchFamily="34" charset="-120"/>
              </a:rPr>
              <a:t>Confident, plausible-sounding text that isn't actually true</a:t>
            </a:r>
            <a:endParaRPr lang="en-US" sz="1050" dirty="0"/>
          </a:p>
        </p:txBody>
      </p:sp>
      <p:sp>
        <p:nvSpPr>
          <p:cNvPr id="34" name="Shape 32"/>
          <p:cNvSpPr/>
          <p:nvPr/>
        </p:nvSpPr>
        <p:spPr>
          <a:xfrm>
            <a:off x="548640" y="6035040"/>
            <a:ext cx="11064240" cy="365760"/>
          </a:xfrm>
          <a:prstGeom prst="roundRect">
            <a:avLst>
              <a:gd name="adj" fmla="val 15000"/>
            </a:avLst>
          </a:prstGeom>
          <a:solidFill>
            <a:srgbClr val="16325C"/>
          </a:solidFill>
          <a:ln/>
        </p:spPr>
      </p:sp>
      <p:sp>
        <p:nvSpPr>
          <p:cNvPr id="35" name="Text 33"/>
          <p:cNvSpPr/>
          <p:nvPr/>
        </p:nvSpPr>
        <p:spPr>
          <a:xfrm>
            <a:off x="868680" y="6035040"/>
            <a:ext cx="10424160" cy="365760"/>
          </a:xfrm>
          <a:prstGeom prst="rect">
            <a:avLst/>
          </a:prstGeom>
          <a:noFill/>
          <a:ln/>
        </p:spPr>
        <p:txBody>
          <a:bodyPr wrap="square" lIns="0" tIns="0" rIns="0" bIns="0" rtlCol="0" anchor="ctr"/>
          <a:lstStyle/>
          <a:p>
            <a:pPr indent="0" marL="0">
              <a:buNone/>
            </a:pPr>
            <a:r>
              <a:rPr lang="en-US" sz="1000" i="1" dirty="0">
                <a:solidFill>
                  <a:srgbClr val="FFFFFF"/>
                </a:solidFill>
                <a:latin typeface="Calibri" pitchFamily="34" charset="0"/>
                <a:ea typeface="Calibri" pitchFamily="34" charset="-122"/>
                <a:cs typeface="Calibri" pitchFamily="34" charset="-120"/>
              </a:rPr>
              <a:t>Rule of thumb: be specific in prompts, verify anything factual, and remember — it predicts plausible text, not guaranteed truth.</a:t>
            </a:r>
            <a:endParaRPr lang="en-US" sz="1000" dirty="0"/>
          </a:p>
        </p:txBody>
      </p:sp>
      <p:sp>
        <p:nvSpPr>
          <p:cNvPr id="36" name="Text 34"/>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37" name="Text 35"/>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6325C"/>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lIns="0" tIns="0" rIns="0" bIns="0" rtlCol="0" anchor="ctr"/>
          <a:lstStyle/>
          <a:p>
            <a:pPr indent="0" marL="0">
              <a:buNone/>
            </a:pPr>
            <a:r>
              <a:rPr lang="en-US" sz="1300" b="1" spc="200" kern="0" dirty="0">
                <a:solidFill>
                  <a:srgbClr val="E8B923"/>
                </a:solidFill>
                <a:latin typeface="Calibri" pitchFamily="34" charset="0"/>
                <a:ea typeface="Calibri" pitchFamily="34" charset="-122"/>
                <a:cs typeface="Calibri" pitchFamily="34" charset="-120"/>
              </a:rPr>
              <a:t>PUTTING IT ALL TOGETHER</a:t>
            </a:r>
            <a:endParaRPr lang="en-US" sz="1300" dirty="0"/>
          </a:p>
        </p:txBody>
      </p:sp>
      <p:sp>
        <p:nvSpPr>
          <p:cNvPr id="3" name="Text 1"/>
          <p:cNvSpPr/>
          <p:nvPr/>
        </p:nvSpPr>
        <p:spPr>
          <a:xfrm>
            <a:off x="548640" y="685800"/>
            <a:ext cx="914400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Recap: Key Takeaways</a:t>
            </a:r>
            <a:endParaRPr lang="en-US" sz="2700" dirty="0"/>
          </a:p>
        </p:txBody>
      </p:sp>
      <p:sp>
        <p:nvSpPr>
          <p:cNvPr id="4" name="Shape 2"/>
          <p:cNvSpPr/>
          <p:nvPr/>
        </p:nvSpPr>
        <p:spPr>
          <a:xfrm>
            <a:off x="548640" y="1371600"/>
            <a:ext cx="3538728" cy="2331720"/>
          </a:xfrm>
          <a:prstGeom prst="roundRect">
            <a:avLst>
              <a:gd name="adj" fmla="val 3922"/>
            </a:avLst>
          </a:prstGeom>
          <a:solidFill>
            <a:srgbClr val="1E3A66"/>
          </a:solidFill>
          <a:ln w="12700">
            <a:solidFill>
              <a:srgbClr val="FFD43B"/>
            </a:solidFill>
            <a:prstDash val="solid"/>
          </a:ln>
        </p:spPr>
      </p:sp>
      <p:sp>
        <p:nvSpPr>
          <p:cNvPr id="5" name="Shape 3"/>
          <p:cNvSpPr/>
          <p:nvPr/>
        </p:nvSpPr>
        <p:spPr>
          <a:xfrm>
            <a:off x="2043684" y="1508760"/>
            <a:ext cx="548640" cy="548640"/>
          </a:xfrm>
          <a:prstGeom prst="ellipse">
            <a:avLst/>
          </a:prstGeom>
          <a:solidFill>
            <a:srgbClr val="FFD43B"/>
          </a:solidFill>
          <a:ln/>
        </p:spPr>
      </p:sp>
      <p:sp>
        <p:nvSpPr>
          <p:cNvPr id="6" name="Text 4"/>
          <p:cNvSpPr/>
          <p:nvPr/>
        </p:nvSpPr>
        <p:spPr>
          <a:xfrm>
            <a:off x="2043684" y="1508760"/>
            <a:ext cx="548640" cy="548640"/>
          </a:xfrm>
          <a:prstGeom prst="rect">
            <a:avLst/>
          </a:prstGeom>
          <a:noFill/>
          <a:ln/>
        </p:spPr>
        <p:txBody>
          <a:bodyPr wrap="square" lIns="0" tIns="0" rIns="0" bIns="0" rtlCol="0" anchor="ctr"/>
          <a:lstStyle/>
          <a:p>
            <a:pPr algn="ctr" indent="0" marL="0">
              <a:buNone/>
            </a:pPr>
            <a:r>
              <a:rPr lang="en-US" sz="1700" b="1" dirty="0">
                <a:solidFill>
                  <a:srgbClr val="16325C"/>
                </a:solidFill>
                <a:latin typeface="Cambria" pitchFamily="34" charset="0"/>
                <a:ea typeface="Cambria" pitchFamily="34" charset="-122"/>
                <a:cs typeface="Cambria" pitchFamily="34" charset="-120"/>
              </a:rPr>
              <a:t>T</a:t>
            </a:r>
            <a:endParaRPr lang="en-US" sz="1700" dirty="0"/>
          </a:p>
        </p:txBody>
      </p:sp>
      <p:sp>
        <p:nvSpPr>
          <p:cNvPr id="7" name="Text 5"/>
          <p:cNvSpPr/>
          <p:nvPr/>
        </p:nvSpPr>
        <p:spPr>
          <a:xfrm>
            <a:off x="731520" y="2148840"/>
            <a:ext cx="3172968" cy="411480"/>
          </a:xfrm>
          <a:prstGeom prst="rect">
            <a:avLst/>
          </a:prstGeom>
          <a:noFill/>
          <a:ln/>
        </p:spPr>
        <p:txBody>
          <a:bodyPr wrap="square" lIns="0" tIns="0" rIns="0" bIns="0"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Tokens &amp; Embeddings</a:t>
            </a:r>
            <a:endParaRPr lang="en-US" sz="1250" dirty="0"/>
          </a:p>
        </p:txBody>
      </p:sp>
      <p:sp>
        <p:nvSpPr>
          <p:cNvPr id="8" name="Text 6"/>
          <p:cNvSpPr/>
          <p:nvPr/>
        </p:nvSpPr>
        <p:spPr>
          <a:xfrm>
            <a:off x="777240" y="2542032"/>
            <a:ext cx="3081528" cy="1051560"/>
          </a:xfrm>
          <a:prstGeom prst="rect">
            <a:avLst/>
          </a:prstGeom>
          <a:noFill/>
          <a:ln/>
        </p:spPr>
        <p:txBody>
          <a:bodyPr wrap="square" lIns="0" tIns="0" rIns="0" bIns="0" rtlCol="0" anchor="t"/>
          <a:lstStyle/>
          <a:p>
            <a:pPr algn="ctr" indent="0" marL="0">
              <a:lnSpc>
                <a:spcPct val="118000"/>
              </a:lnSpc>
              <a:buNone/>
            </a:pPr>
            <a:r>
              <a:rPr lang="en-US" sz="1000" dirty="0">
                <a:solidFill>
                  <a:srgbClr val="CFE0F2"/>
                </a:solidFill>
                <a:latin typeface="Calibri" pitchFamily="34" charset="0"/>
                <a:ea typeface="Calibri" pitchFamily="34" charset="-122"/>
                <a:cs typeface="Calibri" pitchFamily="34" charset="-120"/>
              </a:rPr>
              <a:t>Text becomes chunks (tokens), then meaning-carrying vectors.</a:t>
            </a:r>
            <a:endParaRPr lang="en-US" sz="1000" dirty="0"/>
          </a:p>
        </p:txBody>
      </p:sp>
      <p:sp>
        <p:nvSpPr>
          <p:cNvPr id="9" name="Shape 7"/>
          <p:cNvSpPr/>
          <p:nvPr/>
        </p:nvSpPr>
        <p:spPr>
          <a:xfrm>
            <a:off x="4224528" y="1371600"/>
            <a:ext cx="3538728" cy="2331720"/>
          </a:xfrm>
          <a:prstGeom prst="roundRect">
            <a:avLst>
              <a:gd name="adj" fmla="val 3922"/>
            </a:avLst>
          </a:prstGeom>
          <a:solidFill>
            <a:srgbClr val="1E3A66"/>
          </a:solidFill>
          <a:ln w="12700">
            <a:solidFill>
              <a:srgbClr val="FFD43B"/>
            </a:solidFill>
            <a:prstDash val="solid"/>
          </a:ln>
        </p:spPr>
      </p:sp>
      <p:sp>
        <p:nvSpPr>
          <p:cNvPr id="10" name="Shape 8"/>
          <p:cNvSpPr/>
          <p:nvPr/>
        </p:nvSpPr>
        <p:spPr>
          <a:xfrm>
            <a:off x="5719572" y="1508760"/>
            <a:ext cx="548640" cy="548640"/>
          </a:xfrm>
          <a:prstGeom prst="ellipse">
            <a:avLst/>
          </a:prstGeom>
          <a:solidFill>
            <a:srgbClr val="FFD43B"/>
          </a:solidFill>
          <a:ln/>
        </p:spPr>
      </p:sp>
      <p:sp>
        <p:nvSpPr>
          <p:cNvPr id="11" name="Text 9"/>
          <p:cNvSpPr/>
          <p:nvPr/>
        </p:nvSpPr>
        <p:spPr>
          <a:xfrm>
            <a:off x="5719572" y="1508760"/>
            <a:ext cx="548640" cy="548640"/>
          </a:xfrm>
          <a:prstGeom prst="rect">
            <a:avLst/>
          </a:prstGeom>
          <a:noFill/>
          <a:ln/>
        </p:spPr>
        <p:txBody>
          <a:bodyPr wrap="square" lIns="0" tIns="0" rIns="0" bIns="0" rtlCol="0" anchor="ctr"/>
          <a:lstStyle/>
          <a:p>
            <a:pPr algn="ctr" indent="0" marL="0">
              <a:buNone/>
            </a:pPr>
            <a:r>
              <a:rPr lang="en-US" sz="1700" b="1" dirty="0">
                <a:solidFill>
                  <a:srgbClr val="16325C"/>
                </a:solidFill>
                <a:latin typeface="Cambria" pitchFamily="34" charset="0"/>
                <a:ea typeface="Cambria" pitchFamily="34" charset="-122"/>
                <a:cs typeface="Cambria" pitchFamily="34" charset="-120"/>
              </a:rPr>
              <a:t>A</a:t>
            </a:r>
            <a:endParaRPr lang="en-US" sz="1700" dirty="0"/>
          </a:p>
        </p:txBody>
      </p:sp>
      <p:sp>
        <p:nvSpPr>
          <p:cNvPr id="12" name="Text 10"/>
          <p:cNvSpPr/>
          <p:nvPr/>
        </p:nvSpPr>
        <p:spPr>
          <a:xfrm>
            <a:off x="4407408" y="2148840"/>
            <a:ext cx="3172968" cy="411480"/>
          </a:xfrm>
          <a:prstGeom prst="rect">
            <a:avLst/>
          </a:prstGeom>
          <a:noFill/>
          <a:ln/>
        </p:spPr>
        <p:txBody>
          <a:bodyPr wrap="square" lIns="0" tIns="0" rIns="0" bIns="0"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Self-Attention</a:t>
            </a:r>
            <a:endParaRPr lang="en-US" sz="1250" dirty="0"/>
          </a:p>
        </p:txBody>
      </p:sp>
      <p:sp>
        <p:nvSpPr>
          <p:cNvPr id="13" name="Text 11"/>
          <p:cNvSpPr/>
          <p:nvPr/>
        </p:nvSpPr>
        <p:spPr>
          <a:xfrm>
            <a:off x="4453128" y="2542032"/>
            <a:ext cx="3081528" cy="1051560"/>
          </a:xfrm>
          <a:prstGeom prst="rect">
            <a:avLst/>
          </a:prstGeom>
          <a:noFill/>
          <a:ln/>
        </p:spPr>
        <p:txBody>
          <a:bodyPr wrap="square" lIns="0" tIns="0" rIns="0" bIns="0" rtlCol="0" anchor="t"/>
          <a:lstStyle/>
          <a:p>
            <a:pPr algn="ctr" indent="0" marL="0">
              <a:lnSpc>
                <a:spcPct val="118000"/>
              </a:lnSpc>
              <a:buNone/>
            </a:pPr>
            <a:r>
              <a:rPr lang="en-US" sz="1000" dirty="0">
                <a:solidFill>
                  <a:srgbClr val="CFE0F2"/>
                </a:solidFill>
                <a:latin typeface="Calibri" pitchFamily="34" charset="0"/>
                <a:ea typeface="Calibri" pitchFamily="34" charset="-122"/>
                <a:cs typeface="Calibri" pitchFamily="34" charset="-120"/>
              </a:rPr>
              <a:t>Every word weighs every other word to build context, in parallel.</a:t>
            </a:r>
            <a:endParaRPr lang="en-US" sz="1000" dirty="0"/>
          </a:p>
        </p:txBody>
      </p:sp>
      <p:sp>
        <p:nvSpPr>
          <p:cNvPr id="14" name="Shape 12"/>
          <p:cNvSpPr/>
          <p:nvPr/>
        </p:nvSpPr>
        <p:spPr>
          <a:xfrm>
            <a:off x="7900416" y="1371600"/>
            <a:ext cx="3538728" cy="2331720"/>
          </a:xfrm>
          <a:prstGeom prst="roundRect">
            <a:avLst>
              <a:gd name="adj" fmla="val 3922"/>
            </a:avLst>
          </a:prstGeom>
          <a:solidFill>
            <a:srgbClr val="1E3A66"/>
          </a:solidFill>
          <a:ln w="12700">
            <a:solidFill>
              <a:srgbClr val="FFD43B"/>
            </a:solidFill>
            <a:prstDash val="solid"/>
          </a:ln>
        </p:spPr>
      </p:sp>
      <p:sp>
        <p:nvSpPr>
          <p:cNvPr id="15" name="Shape 13"/>
          <p:cNvSpPr/>
          <p:nvPr/>
        </p:nvSpPr>
        <p:spPr>
          <a:xfrm>
            <a:off x="9395460" y="1508760"/>
            <a:ext cx="548640" cy="548640"/>
          </a:xfrm>
          <a:prstGeom prst="ellipse">
            <a:avLst/>
          </a:prstGeom>
          <a:solidFill>
            <a:srgbClr val="FFD43B"/>
          </a:solidFill>
          <a:ln/>
        </p:spPr>
      </p:sp>
      <p:sp>
        <p:nvSpPr>
          <p:cNvPr id="16" name="Text 14"/>
          <p:cNvSpPr/>
          <p:nvPr/>
        </p:nvSpPr>
        <p:spPr>
          <a:xfrm>
            <a:off x="9395460" y="1508760"/>
            <a:ext cx="548640" cy="548640"/>
          </a:xfrm>
          <a:prstGeom prst="rect">
            <a:avLst/>
          </a:prstGeom>
          <a:noFill/>
          <a:ln/>
        </p:spPr>
        <p:txBody>
          <a:bodyPr wrap="square" lIns="0" tIns="0" rIns="0" bIns="0" rtlCol="0" anchor="ctr"/>
          <a:lstStyle/>
          <a:p>
            <a:pPr algn="ctr" indent="0" marL="0">
              <a:buNone/>
            </a:pPr>
            <a:r>
              <a:rPr lang="en-US" sz="1700" b="1" dirty="0">
                <a:solidFill>
                  <a:srgbClr val="16325C"/>
                </a:solidFill>
                <a:latin typeface="Cambria" pitchFamily="34" charset="0"/>
                <a:ea typeface="Cambria" pitchFamily="34" charset="-122"/>
                <a:cs typeface="Cambria" pitchFamily="34" charset="-120"/>
              </a:rPr>
              <a:t>P</a:t>
            </a:r>
            <a:endParaRPr lang="en-US" sz="1700" dirty="0"/>
          </a:p>
        </p:txBody>
      </p:sp>
      <p:sp>
        <p:nvSpPr>
          <p:cNvPr id="17" name="Text 15"/>
          <p:cNvSpPr/>
          <p:nvPr/>
        </p:nvSpPr>
        <p:spPr>
          <a:xfrm>
            <a:off x="8083296" y="2148840"/>
            <a:ext cx="3172968" cy="411480"/>
          </a:xfrm>
          <a:prstGeom prst="rect">
            <a:avLst/>
          </a:prstGeom>
          <a:noFill/>
          <a:ln/>
        </p:spPr>
        <p:txBody>
          <a:bodyPr wrap="square" lIns="0" tIns="0" rIns="0" bIns="0"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Pretraining</a:t>
            </a:r>
            <a:endParaRPr lang="en-US" sz="1250" dirty="0"/>
          </a:p>
        </p:txBody>
      </p:sp>
      <p:sp>
        <p:nvSpPr>
          <p:cNvPr id="18" name="Text 16"/>
          <p:cNvSpPr/>
          <p:nvPr/>
        </p:nvSpPr>
        <p:spPr>
          <a:xfrm>
            <a:off x="8129016" y="2542032"/>
            <a:ext cx="3081528" cy="1051560"/>
          </a:xfrm>
          <a:prstGeom prst="rect">
            <a:avLst/>
          </a:prstGeom>
          <a:noFill/>
          <a:ln/>
        </p:spPr>
        <p:txBody>
          <a:bodyPr wrap="square" lIns="0" tIns="0" rIns="0" bIns="0" rtlCol="0" anchor="t"/>
          <a:lstStyle/>
          <a:p>
            <a:pPr algn="ctr" indent="0" marL="0">
              <a:lnSpc>
                <a:spcPct val="118000"/>
              </a:lnSpc>
              <a:buNone/>
            </a:pPr>
            <a:r>
              <a:rPr lang="en-US" sz="1000" dirty="0">
                <a:solidFill>
                  <a:srgbClr val="CFE0F2"/>
                </a:solidFill>
                <a:latin typeface="Calibri" pitchFamily="34" charset="0"/>
                <a:ea typeface="Calibri" pitchFamily="34" charset="-122"/>
                <a:cs typeface="Calibri" pitchFamily="34" charset="-120"/>
              </a:rPr>
              <a:t>Learning by predicting the next word across a massive amount of text.</a:t>
            </a:r>
            <a:endParaRPr lang="en-US" sz="1000" dirty="0"/>
          </a:p>
        </p:txBody>
      </p:sp>
      <p:sp>
        <p:nvSpPr>
          <p:cNvPr id="19" name="Shape 17"/>
          <p:cNvSpPr/>
          <p:nvPr/>
        </p:nvSpPr>
        <p:spPr>
          <a:xfrm>
            <a:off x="548640" y="3840480"/>
            <a:ext cx="3538728" cy="2331720"/>
          </a:xfrm>
          <a:prstGeom prst="roundRect">
            <a:avLst>
              <a:gd name="adj" fmla="val 3922"/>
            </a:avLst>
          </a:prstGeom>
          <a:solidFill>
            <a:srgbClr val="1E3A66"/>
          </a:solidFill>
          <a:ln w="12700">
            <a:solidFill>
              <a:srgbClr val="FFD43B"/>
            </a:solidFill>
            <a:prstDash val="solid"/>
          </a:ln>
        </p:spPr>
      </p:sp>
      <p:sp>
        <p:nvSpPr>
          <p:cNvPr id="20" name="Shape 18"/>
          <p:cNvSpPr/>
          <p:nvPr/>
        </p:nvSpPr>
        <p:spPr>
          <a:xfrm>
            <a:off x="2043684" y="3977640"/>
            <a:ext cx="548640" cy="548640"/>
          </a:xfrm>
          <a:prstGeom prst="ellipse">
            <a:avLst/>
          </a:prstGeom>
          <a:solidFill>
            <a:srgbClr val="FFD43B"/>
          </a:solidFill>
          <a:ln/>
        </p:spPr>
      </p:sp>
      <p:sp>
        <p:nvSpPr>
          <p:cNvPr id="21" name="Text 19"/>
          <p:cNvSpPr/>
          <p:nvPr/>
        </p:nvSpPr>
        <p:spPr>
          <a:xfrm>
            <a:off x="2043684" y="3977640"/>
            <a:ext cx="548640" cy="548640"/>
          </a:xfrm>
          <a:prstGeom prst="rect">
            <a:avLst/>
          </a:prstGeom>
          <a:noFill/>
          <a:ln/>
        </p:spPr>
        <p:txBody>
          <a:bodyPr wrap="square" lIns="0" tIns="0" rIns="0" bIns="0" rtlCol="0" anchor="ctr"/>
          <a:lstStyle/>
          <a:p>
            <a:pPr algn="ctr" indent="0" marL="0">
              <a:buNone/>
            </a:pPr>
            <a:r>
              <a:rPr lang="en-US" sz="1700" b="1" dirty="0">
                <a:solidFill>
                  <a:srgbClr val="16325C"/>
                </a:solidFill>
                <a:latin typeface="Cambria" pitchFamily="34" charset="0"/>
                <a:ea typeface="Cambria" pitchFamily="34" charset="-122"/>
                <a:cs typeface="Cambria" pitchFamily="34" charset="-120"/>
              </a:rPr>
              <a:t>F</a:t>
            </a:r>
            <a:endParaRPr lang="en-US" sz="1700" dirty="0"/>
          </a:p>
        </p:txBody>
      </p:sp>
      <p:sp>
        <p:nvSpPr>
          <p:cNvPr id="22" name="Text 20"/>
          <p:cNvSpPr/>
          <p:nvPr/>
        </p:nvSpPr>
        <p:spPr>
          <a:xfrm>
            <a:off x="731520" y="4617720"/>
            <a:ext cx="3172968" cy="411480"/>
          </a:xfrm>
          <a:prstGeom prst="rect">
            <a:avLst/>
          </a:prstGeom>
          <a:noFill/>
          <a:ln/>
        </p:spPr>
        <p:txBody>
          <a:bodyPr wrap="square" lIns="0" tIns="0" rIns="0" bIns="0"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Fine-Tuning &amp; RLHF</a:t>
            </a:r>
            <a:endParaRPr lang="en-US" sz="1250" dirty="0"/>
          </a:p>
        </p:txBody>
      </p:sp>
      <p:sp>
        <p:nvSpPr>
          <p:cNvPr id="23" name="Text 21"/>
          <p:cNvSpPr/>
          <p:nvPr/>
        </p:nvSpPr>
        <p:spPr>
          <a:xfrm>
            <a:off x="777240" y="5010912"/>
            <a:ext cx="3081528" cy="1051560"/>
          </a:xfrm>
          <a:prstGeom prst="rect">
            <a:avLst/>
          </a:prstGeom>
          <a:noFill/>
          <a:ln/>
        </p:spPr>
        <p:txBody>
          <a:bodyPr wrap="square" lIns="0" tIns="0" rIns="0" bIns="0" rtlCol="0" anchor="t"/>
          <a:lstStyle/>
          <a:p>
            <a:pPr algn="ctr" indent="0" marL="0">
              <a:lnSpc>
                <a:spcPct val="118000"/>
              </a:lnSpc>
              <a:buNone/>
            </a:pPr>
            <a:r>
              <a:rPr lang="en-US" sz="1000" dirty="0">
                <a:solidFill>
                  <a:srgbClr val="CFE0F2"/>
                </a:solidFill>
                <a:latin typeface="Calibri" pitchFamily="34" charset="0"/>
                <a:ea typeface="Calibri" pitchFamily="34" charset="-122"/>
                <a:cs typeface="Calibri" pitchFamily="34" charset="-120"/>
              </a:rPr>
              <a:t>Turning a raw predictor into a helpful, aligned assistant.</a:t>
            </a:r>
            <a:endParaRPr lang="en-US" sz="1000" dirty="0"/>
          </a:p>
        </p:txBody>
      </p:sp>
      <p:sp>
        <p:nvSpPr>
          <p:cNvPr id="24" name="Shape 22"/>
          <p:cNvSpPr/>
          <p:nvPr/>
        </p:nvSpPr>
        <p:spPr>
          <a:xfrm>
            <a:off x="4224528" y="3840480"/>
            <a:ext cx="3538728" cy="2331720"/>
          </a:xfrm>
          <a:prstGeom prst="roundRect">
            <a:avLst>
              <a:gd name="adj" fmla="val 3922"/>
            </a:avLst>
          </a:prstGeom>
          <a:solidFill>
            <a:srgbClr val="1E3A66"/>
          </a:solidFill>
          <a:ln w="12700">
            <a:solidFill>
              <a:srgbClr val="FFD43B"/>
            </a:solidFill>
            <a:prstDash val="solid"/>
          </a:ln>
        </p:spPr>
      </p:sp>
      <p:sp>
        <p:nvSpPr>
          <p:cNvPr id="25" name="Shape 23"/>
          <p:cNvSpPr/>
          <p:nvPr/>
        </p:nvSpPr>
        <p:spPr>
          <a:xfrm>
            <a:off x="5719572" y="3977640"/>
            <a:ext cx="548640" cy="548640"/>
          </a:xfrm>
          <a:prstGeom prst="ellipse">
            <a:avLst/>
          </a:prstGeom>
          <a:solidFill>
            <a:srgbClr val="FFD43B"/>
          </a:solidFill>
          <a:ln/>
        </p:spPr>
      </p:sp>
      <p:sp>
        <p:nvSpPr>
          <p:cNvPr id="26" name="Text 24"/>
          <p:cNvSpPr/>
          <p:nvPr/>
        </p:nvSpPr>
        <p:spPr>
          <a:xfrm>
            <a:off x="5719572" y="3977640"/>
            <a:ext cx="548640" cy="548640"/>
          </a:xfrm>
          <a:prstGeom prst="rect">
            <a:avLst/>
          </a:prstGeom>
          <a:noFill/>
          <a:ln/>
        </p:spPr>
        <p:txBody>
          <a:bodyPr wrap="square" lIns="0" tIns="0" rIns="0" bIns="0" rtlCol="0" anchor="ctr"/>
          <a:lstStyle/>
          <a:p>
            <a:pPr algn="ctr" indent="0" marL="0">
              <a:buNone/>
            </a:pPr>
            <a:r>
              <a:rPr lang="en-US" sz="1700" b="1" dirty="0">
                <a:solidFill>
                  <a:srgbClr val="16325C"/>
                </a:solidFill>
                <a:latin typeface="Cambria" pitchFamily="34" charset="0"/>
                <a:ea typeface="Cambria" pitchFamily="34" charset="-122"/>
                <a:cs typeface="Cambria" pitchFamily="34" charset="-120"/>
              </a:rPr>
              <a:t>G</a:t>
            </a:r>
            <a:endParaRPr lang="en-US" sz="1700" dirty="0"/>
          </a:p>
        </p:txBody>
      </p:sp>
      <p:sp>
        <p:nvSpPr>
          <p:cNvPr id="27" name="Text 25"/>
          <p:cNvSpPr/>
          <p:nvPr/>
        </p:nvSpPr>
        <p:spPr>
          <a:xfrm>
            <a:off x="4407408" y="4617720"/>
            <a:ext cx="3172968" cy="411480"/>
          </a:xfrm>
          <a:prstGeom prst="rect">
            <a:avLst/>
          </a:prstGeom>
          <a:noFill/>
          <a:ln/>
        </p:spPr>
        <p:txBody>
          <a:bodyPr wrap="square" lIns="0" tIns="0" rIns="0" bIns="0"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Autoregressive Generation</a:t>
            </a:r>
            <a:endParaRPr lang="en-US" sz="1250" dirty="0"/>
          </a:p>
        </p:txBody>
      </p:sp>
      <p:sp>
        <p:nvSpPr>
          <p:cNvPr id="28" name="Text 26"/>
          <p:cNvSpPr/>
          <p:nvPr/>
        </p:nvSpPr>
        <p:spPr>
          <a:xfrm>
            <a:off x="4453128" y="5010912"/>
            <a:ext cx="3081528" cy="1051560"/>
          </a:xfrm>
          <a:prstGeom prst="rect">
            <a:avLst/>
          </a:prstGeom>
          <a:noFill/>
          <a:ln/>
        </p:spPr>
        <p:txBody>
          <a:bodyPr wrap="square" lIns="0" tIns="0" rIns="0" bIns="0" rtlCol="0" anchor="t"/>
          <a:lstStyle/>
          <a:p>
            <a:pPr algn="ctr" indent="0" marL="0">
              <a:lnSpc>
                <a:spcPct val="118000"/>
              </a:lnSpc>
              <a:buNone/>
            </a:pPr>
            <a:r>
              <a:rPr lang="en-US" sz="1000" dirty="0">
                <a:solidFill>
                  <a:srgbClr val="CFE0F2"/>
                </a:solidFill>
                <a:latin typeface="Calibri" pitchFamily="34" charset="0"/>
                <a:ea typeface="Calibri" pitchFamily="34" charset="-122"/>
                <a:cs typeface="Calibri" pitchFamily="34" charset="-120"/>
              </a:rPr>
              <a:t>One token at a time, each one fed back in as new context.</a:t>
            </a:r>
            <a:endParaRPr lang="en-US" sz="1000" dirty="0"/>
          </a:p>
        </p:txBody>
      </p:sp>
      <p:sp>
        <p:nvSpPr>
          <p:cNvPr id="29" name="Shape 27"/>
          <p:cNvSpPr/>
          <p:nvPr/>
        </p:nvSpPr>
        <p:spPr>
          <a:xfrm>
            <a:off x="7900416" y="3840480"/>
            <a:ext cx="3538728" cy="2331720"/>
          </a:xfrm>
          <a:prstGeom prst="roundRect">
            <a:avLst>
              <a:gd name="adj" fmla="val 3922"/>
            </a:avLst>
          </a:prstGeom>
          <a:solidFill>
            <a:srgbClr val="1E3A66"/>
          </a:solidFill>
          <a:ln w="12700">
            <a:solidFill>
              <a:srgbClr val="FFD43B"/>
            </a:solidFill>
            <a:prstDash val="solid"/>
          </a:ln>
        </p:spPr>
      </p:sp>
      <p:sp>
        <p:nvSpPr>
          <p:cNvPr id="30" name="Shape 28"/>
          <p:cNvSpPr/>
          <p:nvPr/>
        </p:nvSpPr>
        <p:spPr>
          <a:xfrm>
            <a:off x="9395460" y="3977640"/>
            <a:ext cx="548640" cy="548640"/>
          </a:xfrm>
          <a:prstGeom prst="ellipse">
            <a:avLst/>
          </a:prstGeom>
          <a:solidFill>
            <a:srgbClr val="FFD43B"/>
          </a:solidFill>
          <a:ln/>
        </p:spPr>
      </p:sp>
      <p:sp>
        <p:nvSpPr>
          <p:cNvPr id="31" name="Text 29"/>
          <p:cNvSpPr/>
          <p:nvPr/>
        </p:nvSpPr>
        <p:spPr>
          <a:xfrm>
            <a:off x="9395460" y="3977640"/>
            <a:ext cx="548640" cy="548640"/>
          </a:xfrm>
          <a:prstGeom prst="rect">
            <a:avLst/>
          </a:prstGeom>
          <a:noFill/>
          <a:ln/>
        </p:spPr>
        <p:txBody>
          <a:bodyPr wrap="square" lIns="0" tIns="0" rIns="0" bIns="0" rtlCol="0" anchor="ctr"/>
          <a:lstStyle/>
          <a:p>
            <a:pPr algn="ctr" indent="0" marL="0">
              <a:buNone/>
            </a:pPr>
            <a:r>
              <a:rPr lang="en-US" sz="1700" b="1" dirty="0">
                <a:solidFill>
                  <a:srgbClr val="16325C"/>
                </a:solidFill>
                <a:latin typeface="Cambria" pitchFamily="34" charset="0"/>
                <a:ea typeface="Cambria" pitchFamily="34" charset="-122"/>
                <a:cs typeface="Cambria" pitchFamily="34" charset="-120"/>
              </a:rPr>
              <a:t>L</a:t>
            </a:r>
            <a:endParaRPr lang="en-US" sz="1700" dirty="0"/>
          </a:p>
        </p:txBody>
      </p:sp>
      <p:sp>
        <p:nvSpPr>
          <p:cNvPr id="32" name="Text 30"/>
          <p:cNvSpPr/>
          <p:nvPr/>
        </p:nvSpPr>
        <p:spPr>
          <a:xfrm>
            <a:off x="8083296" y="4617720"/>
            <a:ext cx="3172968" cy="411480"/>
          </a:xfrm>
          <a:prstGeom prst="rect">
            <a:avLst/>
          </a:prstGeom>
          <a:noFill/>
          <a:ln/>
        </p:spPr>
        <p:txBody>
          <a:bodyPr wrap="square" lIns="0" tIns="0" rIns="0" bIns="0"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Limits</a:t>
            </a:r>
            <a:endParaRPr lang="en-US" sz="1250" dirty="0"/>
          </a:p>
        </p:txBody>
      </p:sp>
      <p:sp>
        <p:nvSpPr>
          <p:cNvPr id="33" name="Text 31"/>
          <p:cNvSpPr/>
          <p:nvPr/>
        </p:nvSpPr>
        <p:spPr>
          <a:xfrm>
            <a:off x="8129016" y="5010912"/>
            <a:ext cx="3081528" cy="1051560"/>
          </a:xfrm>
          <a:prstGeom prst="rect">
            <a:avLst/>
          </a:prstGeom>
          <a:noFill/>
          <a:ln/>
        </p:spPr>
        <p:txBody>
          <a:bodyPr wrap="square" lIns="0" tIns="0" rIns="0" bIns="0" rtlCol="0" anchor="t"/>
          <a:lstStyle/>
          <a:p>
            <a:pPr algn="ctr" indent="0" marL="0">
              <a:lnSpc>
                <a:spcPct val="118000"/>
              </a:lnSpc>
              <a:buNone/>
            </a:pPr>
            <a:r>
              <a:rPr lang="en-US" sz="1000" dirty="0">
                <a:solidFill>
                  <a:srgbClr val="CFE0F2"/>
                </a:solidFill>
                <a:latin typeface="Calibri" pitchFamily="34" charset="0"/>
                <a:ea typeface="Calibri" pitchFamily="34" charset="-122"/>
                <a:cs typeface="Calibri" pitchFamily="34" charset="-120"/>
              </a:rPr>
              <a:t>Context windows are finite, and confident answers can still be wrong.</a:t>
            </a:r>
            <a:endParaRPr lang="en-US" sz="1000" dirty="0"/>
          </a:p>
        </p:txBody>
      </p:sp>
      <p:sp>
        <p:nvSpPr>
          <p:cNvPr id="34" name="Text 32"/>
          <p:cNvSpPr/>
          <p:nvPr/>
        </p:nvSpPr>
        <p:spPr>
          <a:xfrm>
            <a:off x="548640" y="653796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Calibri" pitchFamily="34" charset="0"/>
                <a:ea typeface="Calibri" pitchFamily="34" charset="-122"/>
                <a:cs typeface="Calibri" pitchFamily="34" charset="-120"/>
              </a:rPr>
              <a:t>Generative AI &amp; Large Language Models</a:t>
            </a:r>
            <a:endParaRPr lang="en-US" sz="900" dirty="0"/>
          </a:p>
        </p:txBody>
      </p:sp>
      <p:sp>
        <p:nvSpPr>
          <p:cNvPr id="35" name="Text 33"/>
          <p:cNvSpPr/>
          <p:nvPr/>
        </p:nvSpPr>
        <p:spPr>
          <a:xfrm>
            <a:off x="11521440" y="653796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6325C"/>
        </a:solidFill>
      </p:bgPr>
    </p:bg>
    <p:spTree>
      <p:nvGrpSpPr>
        <p:cNvPr id="1" name=""/>
        <p:cNvGrpSpPr/>
        <p:nvPr/>
      </p:nvGrpSpPr>
      <p:grpSpPr>
        <a:xfrm>
          <a:off x="0" y="0"/>
          <a:ext cx="0" cy="0"/>
          <a:chOff x="0" y="0"/>
          <a:chExt cx="0" cy="0"/>
        </a:xfrm>
      </p:grpSpPr>
      <p:sp>
        <p:nvSpPr>
          <p:cNvPr id="2" name="Shape 0"/>
          <p:cNvSpPr/>
          <p:nvPr/>
        </p:nvSpPr>
        <p:spPr>
          <a:xfrm>
            <a:off x="5641848" y="914400"/>
            <a:ext cx="914400" cy="914400"/>
          </a:xfrm>
          <a:prstGeom prst="ellipse">
            <a:avLst/>
          </a:prstGeom>
          <a:solidFill>
            <a:srgbClr val="FFD43B"/>
          </a:solidFill>
          <a:ln/>
        </p:spPr>
      </p:sp>
      <p:sp>
        <p:nvSpPr>
          <p:cNvPr id="3" name="Text 1"/>
          <p:cNvSpPr/>
          <p:nvPr/>
        </p:nvSpPr>
        <p:spPr>
          <a:xfrm>
            <a:off x="5641848" y="914400"/>
            <a:ext cx="914400" cy="914400"/>
          </a:xfrm>
          <a:prstGeom prst="rect">
            <a:avLst/>
          </a:prstGeom>
          <a:noFill/>
          <a:ln/>
        </p:spPr>
        <p:txBody>
          <a:bodyPr wrap="square" lIns="0" tIns="0" rIns="0" bIns="0" rtlCol="0" anchor="ctr"/>
          <a:lstStyle/>
          <a:p>
            <a:pPr algn="ctr" indent="0" marL="0">
              <a:buNone/>
            </a:pPr>
            <a:r>
              <a:rPr lang="en-US" sz="3400" b="1" dirty="0">
                <a:solidFill>
                  <a:srgbClr val="16325C"/>
                </a:solidFill>
                <a:latin typeface="Cambria" pitchFamily="34" charset="0"/>
                <a:ea typeface="Cambria" pitchFamily="34" charset="-122"/>
                <a:cs typeface="Cambria" pitchFamily="34" charset="-120"/>
              </a:rPr>
              <a:t>?</a:t>
            </a:r>
            <a:endParaRPr lang="en-US" sz="3400" dirty="0"/>
          </a:p>
        </p:txBody>
      </p:sp>
      <p:sp>
        <p:nvSpPr>
          <p:cNvPr id="4" name="Text 2"/>
          <p:cNvSpPr/>
          <p:nvPr/>
        </p:nvSpPr>
        <p:spPr>
          <a:xfrm>
            <a:off x="1984248" y="1965960"/>
            <a:ext cx="822960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Questions?</a:t>
            </a:r>
            <a:endParaRPr lang="en-US" sz="4000" dirty="0"/>
          </a:p>
        </p:txBody>
      </p:sp>
      <p:sp>
        <p:nvSpPr>
          <p:cNvPr id="5" name="Text 3"/>
          <p:cNvSpPr/>
          <p:nvPr/>
        </p:nvSpPr>
        <p:spPr>
          <a:xfrm>
            <a:off x="1984248" y="2697480"/>
            <a:ext cx="8229600" cy="411480"/>
          </a:xfrm>
          <a:prstGeom prst="rect">
            <a:avLst/>
          </a:prstGeom>
          <a:noFill/>
          <a:ln/>
        </p:spPr>
        <p:txBody>
          <a:bodyPr wrap="square" lIns="0" tIns="0" rIns="0" bIns="0" rtlCol="0" anchor="ctr"/>
          <a:lstStyle/>
          <a:p>
            <a:pPr algn="ctr" indent="0" marL="0">
              <a:buNone/>
            </a:pPr>
            <a:r>
              <a:rPr lang="en-US" sz="1800" i="1" dirty="0">
                <a:solidFill>
                  <a:srgbClr val="FFD43B"/>
                </a:solidFill>
                <a:latin typeface="Calibri" pitchFamily="34" charset="0"/>
                <a:ea typeface="Calibri" pitchFamily="34" charset="-122"/>
                <a:cs typeface="Calibri" pitchFamily="34" charset="-120"/>
              </a:rPr>
              <a:t>Thank you for joining the session</a:t>
            </a:r>
            <a:endParaRPr lang="en-US" sz="1800" dirty="0"/>
          </a:p>
        </p:txBody>
      </p:sp>
      <p:sp>
        <p:nvSpPr>
          <p:cNvPr id="6" name="Text 4"/>
          <p:cNvSpPr/>
          <p:nvPr/>
        </p:nvSpPr>
        <p:spPr>
          <a:xfrm>
            <a:off x="1463040" y="4206240"/>
            <a:ext cx="9235440" cy="548640"/>
          </a:xfrm>
          <a:prstGeom prst="rect">
            <a:avLst/>
          </a:prstGeom>
          <a:noFill/>
          <a:ln/>
        </p:spPr>
        <p:txBody>
          <a:bodyPr wrap="square" lIns="0" tIns="0" rIns="0" bIns="0" rtlCol="0" anchor="ctr"/>
          <a:lstStyle/>
          <a:p>
            <a:pPr algn="ctr" indent="0" marL="0">
              <a:lnSpc>
                <a:spcPct val="130000"/>
              </a:lnSpc>
              <a:buNone/>
            </a:pPr>
            <a:r>
              <a:rPr lang="en-US" sz="1300" dirty="0">
                <a:solidFill>
                  <a:srgbClr val="CFE0F2"/>
                </a:solidFill>
                <a:latin typeface="Calibri" pitchFamily="34" charset="0"/>
                <a:ea typeface="Calibri" pitchFamily="34" charset="-122"/>
                <a:cs typeface="Calibri" pitchFamily="34" charset="-120"/>
              </a:rPr>
              <a:t>Remember: no magic — just tokens, vectors, attention, and a lot of next-word predictions, stacked and trained at massive scale.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2026-07-29T18:25:38Z</dcterms:created>
  <dcterms:modified xsi:type="dcterms:W3CDTF">2026-07-29T18:25:38Z</dcterms:modified>
</cp:coreProperties>
</file>